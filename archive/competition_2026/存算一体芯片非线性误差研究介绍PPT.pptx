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DREAMERhyh/2026-Inno-CIM-UCAS-competitio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DREAMERhyh/2026-Inno-CIM-UCAS-competi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49602-2"/>
          <p:cNvSpPr/>
          <p:nvPr/>
        </p:nvSpPr>
        <p:spPr>
          <a:xfrm>
            <a:off x="0" y="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25000"/>
                </a:moveTo>
                <a:lnTo>
                  <a:pt x="99640" y="32350"/>
                </a:lnTo>
                <a:lnTo>
                  <a:pt x="98560" y="39633"/>
                </a:lnTo>
                <a:lnTo>
                  <a:pt x="96770" y="46770"/>
                </a:lnTo>
                <a:lnTo>
                  <a:pt x="94290" y="53700"/>
                </a:lnTo>
                <a:lnTo>
                  <a:pt x="91143" y="60353"/>
                </a:lnTo>
                <a:lnTo>
                  <a:pt x="87360" y="66667"/>
                </a:lnTo>
                <a:lnTo>
                  <a:pt x="82977" y="72580"/>
                </a:lnTo>
                <a:lnTo>
                  <a:pt x="78033" y="78033"/>
                </a:lnTo>
                <a:lnTo>
                  <a:pt x="72580" y="82977"/>
                </a:lnTo>
                <a:lnTo>
                  <a:pt x="66667" y="87360"/>
                </a:lnTo>
                <a:lnTo>
                  <a:pt x="60353" y="91143"/>
                </a:lnTo>
                <a:lnTo>
                  <a:pt x="53700" y="94290"/>
                </a:lnTo>
                <a:lnTo>
                  <a:pt x="46770" y="96770"/>
                </a:lnTo>
                <a:lnTo>
                  <a:pt x="39633" y="98560"/>
                </a:lnTo>
                <a:lnTo>
                  <a:pt x="32350" y="99640"/>
                </a:lnTo>
                <a:lnTo>
                  <a:pt x="25000" y="100000"/>
                </a:lnTo>
                <a:lnTo>
                  <a:pt x="17650" y="99640"/>
                </a:lnTo>
                <a:lnTo>
                  <a:pt x="10367" y="98560"/>
                </a:lnTo>
                <a:lnTo>
                  <a:pt x="3230" y="96770"/>
                </a:lnTo>
                <a:lnTo>
                  <a:pt x="0" y="95613"/>
                </a:lnTo>
                <a:lnTo>
                  <a:pt x="0" y="0"/>
                </a:lnTo>
                <a:lnTo>
                  <a:pt x="95613" y="0"/>
                </a:lnTo>
                <a:lnTo>
                  <a:pt x="96770" y="3230"/>
                </a:lnTo>
                <a:lnTo>
                  <a:pt x="98560" y="10367"/>
                </a:lnTo>
                <a:lnTo>
                  <a:pt x="99640" y="17650"/>
                </a:lnTo>
                <a:close/>
              </a:path>
            </a:pathLst>
          </a:custGeom>
          <a:solidFill>
            <a:srgbClr val="B8C5D1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49605-3"/>
          <p:cNvSpPr/>
          <p:nvPr/>
        </p:nvSpPr>
        <p:spPr>
          <a:xfrm>
            <a:off x="5572125" y="1571625"/>
            <a:ext cx="3571875" cy="3571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100000"/>
                </a:moveTo>
                <a:lnTo>
                  <a:pt x="6848" y="100000"/>
                </a:lnTo>
                <a:lnTo>
                  <a:pt x="5328" y="96787"/>
                </a:lnTo>
                <a:lnTo>
                  <a:pt x="3013" y="90320"/>
                </a:lnTo>
                <a:lnTo>
                  <a:pt x="1344" y="83656"/>
                </a:lnTo>
                <a:lnTo>
                  <a:pt x="336" y="76861"/>
                </a:lnTo>
                <a:lnTo>
                  <a:pt x="0" y="70000"/>
                </a:lnTo>
                <a:lnTo>
                  <a:pt x="336" y="63139"/>
                </a:lnTo>
                <a:lnTo>
                  <a:pt x="1344" y="56344"/>
                </a:lnTo>
                <a:lnTo>
                  <a:pt x="3013" y="49680"/>
                </a:lnTo>
                <a:lnTo>
                  <a:pt x="5328" y="43213"/>
                </a:lnTo>
                <a:lnTo>
                  <a:pt x="8267" y="37003"/>
                </a:lnTo>
                <a:lnTo>
                  <a:pt x="11797" y="31109"/>
                </a:lnTo>
                <a:lnTo>
                  <a:pt x="15888" y="25592"/>
                </a:lnTo>
                <a:lnTo>
                  <a:pt x="20501" y="20501"/>
                </a:lnTo>
                <a:lnTo>
                  <a:pt x="25592" y="15888"/>
                </a:lnTo>
                <a:lnTo>
                  <a:pt x="31109" y="11797"/>
                </a:lnTo>
                <a:lnTo>
                  <a:pt x="37003" y="8267"/>
                </a:lnTo>
                <a:lnTo>
                  <a:pt x="43213" y="5328"/>
                </a:lnTo>
                <a:lnTo>
                  <a:pt x="49680" y="3013"/>
                </a:lnTo>
                <a:lnTo>
                  <a:pt x="56344" y="1344"/>
                </a:lnTo>
                <a:lnTo>
                  <a:pt x="63139" y="336"/>
                </a:lnTo>
                <a:lnTo>
                  <a:pt x="70000" y="0"/>
                </a:lnTo>
                <a:lnTo>
                  <a:pt x="76861" y="336"/>
                </a:lnTo>
                <a:lnTo>
                  <a:pt x="83656" y="1344"/>
                </a:lnTo>
                <a:lnTo>
                  <a:pt x="90320" y="3013"/>
                </a:lnTo>
                <a:lnTo>
                  <a:pt x="96787" y="5328"/>
                </a:lnTo>
                <a:lnTo>
                  <a:pt x="100000" y="6848"/>
                </a:lnTo>
                <a:close/>
              </a:path>
            </a:pathLst>
          </a:custGeom>
          <a:solidFill>
            <a:srgbClr val="F0E4E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49607-4"/>
          <p:cNvSpPr/>
          <p:nvPr/>
        </p:nvSpPr>
        <p:spPr>
          <a:xfrm>
            <a:off x="3500438" y="428625"/>
            <a:ext cx="3571875" cy="35718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489349599-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5625" y="41667"/>
                </a:moveTo>
                <a:cubicBezTo>
                  <a:pt x="26042" y="23148"/>
                  <a:pt x="39063" y="27778"/>
                  <a:pt x="54688" y="55556"/>
                </a:cubicBezTo>
                <a:cubicBezTo>
                  <a:pt x="70313" y="83333"/>
                  <a:pt x="80729" y="78704"/>
                  <a:pt x="85938" y="41667"/>
                </a:cubicBezTo>
              </a:path>
            </a:pathLst>
          </a:custGeom>
          <a:noFill/>
          <a:ln w="14288" algn="ctr">
            <a:solidFill>
              <a:srgbClr val="D4C5D9">
                <a:alpha val="3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5489349619-7"/>
          <p:cNvSpPr/>
          <p:nvPr/>
        </p:nvSpPr>
        <p:spPr>
          <a:xfrm>
            <a:off x="4286250" y="2578075"/>
            <a:ext cx="571500" cy="21431"/>
          </a:xfrm>
          <a:prstGeom prst="roundRect">
            <a:avLst>
              <a:gd name="adj" fmla="val 50000"/>
            </a:avLst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489350296-35"/>
          <p:cNvSpPr/>
          <p:nvPr/>
        </p:nvSpPr>
        <p:spPr>
          <a:xfrm>
            <a:off x="1191332" y="345958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7727" y="50000"/>
                </a:moveTo>
                <a:lnTo>
                  <a:pt x="47727" y="50000"/>
                </a:lnTo>
                <a:cubicBezTo>
                  <a:pt x="52697" y="50000"/>
                  <a:pt x="57242" y="48889"/>
                  <a:pt x="61364" y="46667"/>
                </a:cubicBezTo>
                <a:lnTo>
                  <a:pt x="61364" y="46667"/>
                </a:lnTo>
                <a:lnTo>
                  <a:pt x="61364" y="46667"/>
                </a:lnTo>
                <a:cubicBezTo>
                  <a:pt x="65485" y="44444"/>
                  <a:pt x="68818" y="41389"/>
                  <a:pt x="71364" y="37500"/>
                </a:cubicBezTo>
                <a:lnTo>
                  <a:pt x="71364" y="37500"/>
                </a:lnTo>
                <a:cubicBezTo>
                  <a:pt x="73788" y="33611"/>
                  <a:pt x="75000" y="29444"/>
                  <a:pt x="75000" y="25000"/>
                </a:cubicBezTo>
                <a:lnTo>
                  <a:pt x="75000" y="25000"/>
                </a:lnTo>
                <a:cubicBezTo>
                  <a:pt x="75000" y="20556"/>
                  <a:pt x="73788" y="16389"/>
                  <a:pt x="71364" y="12500"/>
                </a:cubicBezTo>
                <a:lnTo>
                  <a:pt x="71364" y="12500"/>
                </a:lnTo>
                <a:cubicBezTo>
                  <a:pt x="68818" y="8611"/>
                  <a:pt x="65485" y="5556"/>
                  <a:pt x="61364" y="3333"/>
                </a:cubicBezTo>
                <a:lnTo>
                  <a:pt x="61364" y="3333"/>
                </a:lnTo>
                <a:cubicBezTo>
                  <a:pt x="57242" y="1111"/>
                  <a:pt x="52697" y="0"/>
                  <a:pt x="47727" y="0"/>
                </a:cubicBezTo>
                <a:lnTo>
                  <a:pt x="47727" y="0"/>
                </a:lnTo>
                <a:cubicBezTo>
                  <a:pt x="42758" y="0"/>
                  <a:pt x="38212" y="1111"/>
                  <a:pt x="34091" y="3333"/>
                </a:cubicBezTo>
                <a:lnTo>
                  <a:pt x="34091" y="3333"/>
                </a:lnTo>
                <a:cubicBezTo>
                  <a:pt x="29970" y="5556"/>
                  <a:pt x="26636" y="8611"/>
                  <a:pt x="24091" y="12500"/>
                </a:cubicBezTo>
                <a:lnTo>
                  <a:pt x="24091" y="12500"/>
                </a:lnTo>
                <a:cubicBezTo>
                  <a:pt x="21667" y="16389"/>
                  <a:pt x="20455" y="20556"/>
                  <a:pt x="20455" y="25000"/>
                </a:cubicBezTo>
                <a:lnTo>
                  <a:pt x="20455" y="25000"/>
                </a:lnTo>
                <a:cubicBezTo>
                  <a:pt x="20455" y="29444"/>
                  <a:pt x="21667" y="33611"/>
                  <a:pt x="24091" y="37500"/>
                </a:cubicBezTo>
                <a:lnTo>
                  <a:pt x="24091" y="37500"/>
                </a:lnTo>
                <a:cubicBezTo>
                  <a:pt x="26636" y="41389"/>
                  <a:pt x="29970" y="44444"/>
                  <a:pt x="34091" y="46667"/>
                </a:cubicBezTo>
                <a:lnTo>
                  <a:pt x="34091" y="46667"/>
                </a:lnTo>
                <a:cubicBezTo>
                  <a:pt x="38212" y="48889"/>
                  <a:pt x="42758" y="50000"/>
                  <a:pt x="47727" y="50000"/>
                </a:cubicBezTo>
                <a:lnTo>
                  <a:pt x="47727" y="50000"/>
                </a:lnTo>
                <a:moveTo>
                  <a:pt x="37909" y="59417"/>
                </a:moveTo>
                <a:lnTo>
                  <a:pt x="37909" y="59417"/>
                </a:lnTo>
                <a:cubicBezTo>
                  <a:pt x="27242" y="59639"/>
                  <a:pt x="18303" y="63000"/>
                  <a:pt x="11091" y="69500"/>
                </a:cubicBezTo>
                <a:lnTo>
                  <a:pt x="11091" y="69500"/>
                </a:lnTo>
                <a:lnTo>
                  <a:pt x="11091" y="69500"/>
                </a:lnTo>
                <a:cubicBezTo>
                  <a:pt x="4000" y="76167"/>
                  <a:pt x="303" y="84389"/>
                  <a:pt x="0" y="94167"/>
                </a:cubicBezTo>
                <a:lnTo>
                  <a:pt x="0" y="94167"/>
                </a:lnTo>
                <a:cubicBezTo>
                  <a:pt x="0" y="95833"/>
                  <a:pt x="636" y="97194"/>
                  <a:pt x="1909" y="98250"/>
                </a:cubicBezTo>
                <a:lnTo>
                  <a:pt x="1909" y="98250"/>
                </a:lnTo>
                <a:cubicBezTo>
                  <a:pt x="3061" y="99417"/>
                  <a:pt x="4545" y="100000"/>
                  <a:pt x="6364" y="100000"/>
                </a:cubicBezTo>
                <a:lnTo>
                  <a:pt x="6364" y="100000"/>
                </a:lnTo>
                <a:lnTo>
                  <a:pt x="89091" y="100000"/>
                </a:lnTo>
                <a:cubicBezTo>
                  <a:pt x="90909" y="100000"/>
                  <a:pt x="92394" y="99417"/>
                  <a:pt x="93545" y="98250"/>
                </a:cubicBezTo>
                <a:lnTo>
                  <a:pt x="93545" y="98250"/>
                </a:lnTo>
                <a:cubicBezTo>
                  <a:pt x="94818" y="97194"/>
                  <a:pt x="95455" y="95833"/>
                  <a:pt x="95455" y="94167"/>
                </a:cubicBezTo>
                <a:lnTo>
                  <a:pt x="95455" y="94167"/>
                </a:lnTo>
                <a:cubicBezTo>
                  <a:pt x="95152" y="84389"/>
                  <a:pt x="91455" y="76167"/>
                  <a:pt x="84364" y="69500"/>
                </a:cubicBezTo>
                <a:lnTo>
                  <a:pt x="84364" y="69500"/>
                </a:lnTo>
                <a:cubicBezTo>
                  <a:pt x="77152" y="63000"/>
                  <a:pt x="68212" y="59639"/>
                  <a:pt x="57545" y="59417"/>
                </a:cubicBezTo>
                <a:lnTo>
                  <a:pt x="57545" y="59417"/>
                </a:lnTo>
                <a:lnTo>
                  <a:pt x="37909" y="59417"/>
                </a:lnTo>
              </a:path>
            </a:pathLst>
          </a:custGeom>
          <a:solidFill>
            <a:srgbClr val="4A7C9B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489350738-46"/>
          <p:cNvSpPr/>
          <p:nvPr/>
        </p:nvSpPr>
        <p:spPr>
          <a:xfrm>
            <a:off x="2072869" y="3459584"/>
            <a:ext cx="114096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7250" y="583"/>
                </a:moveTo>
                <a:lnTo>
                  <a:pt x="47250" y="583"/>
                </a:lnTo>
                <a:lnTo>
                  <a:pt x="3500" y="19333"/>
                </a:lnTo>
                <a:cubicBezTo>
                  <a:pt x="667" y="20778"/>
                  <a:pt x="-500" y="23056"/>
                  <a:pt x="0" y="26167"/>
                </a:cubicBezTo>
                <a:lnTo>
                  <a:pt x="0" y="26167"/>
                </a:lnTo>
                <a:cubicBezTo>
                  <a:pt x="778" y="29278"/>
                  <a:pt x="2806" y="30972"/>
                  <a:pt x="6083" y="31250"/>
                </a:cubicBezTo>
                <a:lnTo>
                  <a:pt x="6083" y="31250"/>
                </a:lnTo>
                <a:lnTo>
                  <a:pt x="6083" y="32833"/>
                </a:lnTo>
                <a:cubicBezTo>
                  <a:pt x="6306" y="35667"/>
                  <a:pt x="7861" y="37222"/>
                  <a:pt x="10750" y="37500"/>
                </a:cubicBezTo>
                <a:lnTo>
                  <a:pt x="10750" y="37500"/>
                </a:lnTo>
                <a:lnTo>
                  <a:pt x="88833" y="37500"/>
                </a:lnTo>
                <a:cubicBezTo>
                  <a:pt x="91722" y="37222"/>
                  <a:pt x="93306" y="35667"/>
                  <a:pt x="93583" y="32833"/>
                </a:cubicBezTo>
                <a:lnTo>
                  <a:pt x="93583" y="32833"/>
                </a:lnTo>
                <a:lnTo>
                  <a:pt x="93583" y="31250"/>
                </a:lnTo>
                <a:cubicBezTo>
                  <a:pt x="96806" y="30972"/>
                  <a:pt x="98806" y="29278"/>
                  <a:pt x="99583" y="26167"/>
                </a:cubicBezTo>
                <a:lnTo>
                  <a:pt x="99583" y="26167"/>
                </a:lnTo>
                <a:cubicBezTo>
                  <a:pt x="100139" y="23056"/>
                  <a:pt x="98972" y="20778"/>
                  <a:pt x="96083" y="19333"/>
                </a:cubicBezTo>
                <a:lnTo>
                  <a:pt x="96083" y="19333"/>
                </a:lnTo>
                <a:lnTo>
                  <a:pt x="52333" y="583"/>
                </a:lnTo>
                <a:cubicBezTo>
                  <a:pt x="50667" y="-194"/>
                  <a:pt x="48972" y="-194"/>
                  <a:pt x="47250" y="583"/>
                </a:cubicBezTo>
                <a:lnTo>
                  <a:pt x="47250" y="583"/>
                </a:lnTo>
                <a:moveTo>
                  <a:pt x="24833" y="43750"/>
                </a:moveTo>
                <a:lnTo>
                  <a:pt x="24833" y="43750"/>
                </a:lnTo>
                <a:lnTo>
                  <a:pt x="12333" y="43750"/>
                </a:lnTo>
                <a:lnTo>
                  <a:pt x="12333" y="82000"/>
                </a:lnTo>
                <a:cubicBezTo>
                  <a:pt x="12167" y="82167"/>
                  <a:pt x="12028" y="82250"/>
                  <a:pt x="11917" y="82250"/>
                </a:cubicBezTo>
                <a:lnTo>
                  <a:pt x="11917" y="82250"/>
                </a:lnTo>
                <a:lnTo>
                  <a:pt x="2500" y="88500"/>
                </a:lnTo>
                <a:cubicBezTo>
                  <a:pt x="167" y="90333"/>
                  <a:pt x="-667" y="92667"/>
                  <a:pt x="0" y="95500"/>
                </a:cubicBezTo>
                <a:lnTo>
                  <a:pt x="0" y="95500"/>
                </a:lnTo>
                <a:cubicBezTo>
                  <a:pt x="1056" y="98389"/>
                  <a:pt x="3083" y="99889"/>
                  <a:pt x="6083" y="100000"/>
                </a:cubicBezTo>
                <a:lnTo>
                  <a:pt x="6083" y="100000"/>
                </a:lnTo>
                <a:lnTo>
                  <a:pt x="93583" y="100000"/>
                </a:lnTo>
                <a:cubicBezTo>
                  <a:pt x="96583" y="99889"/>
                  <a:pt x="98583" y="98389"/>
                  <a:pt x="99583" y="95500"/>
                </a:cubicBezTo>
                <a:lnTo>
                  <a:pt x="99583" y="95500"/>
                </a:lnTo>
                <a:cubicBezTo>
                  <a:pt x="100250" y="92667"/>
                  <a:pt x="99417" y="90333"/>
                  <a:pt x="97083" y="88500"/>
                </a:cubicBezTo>
                <a:lnTo>
                  <a:pt x="97083" y="88500"/>
                </a:lnTo>
                <a:lnTo>
                  <a:pt x="87667" y="82250"/>
                </a:lnTo>
                <a:cubicBezTo>
                  <a:pt x="87556" y="82250"/>
                  <a:pt x="87500" y="82250"/>
                  <a:pt x="87500" y="82250"/>
                </a:cubicBezTo>
                <a:lnTo>
                  <a:pt x="87500" y="82250"/>
                </a:lnTo>
                <a:cubicBezTo>
                  <a:pt x="87389" y="82250"/>
                  <a:pt x="87333" y="82167"/>
                  <a:pt x="87333" y="82000"/>
                </a:cubicBezTo>
                <a:lnTo>
                  <a:pt x="87333" y="82000"/>
                </a:lnTo>
                <a:lnTo>
                  <a:pt x="87333" y="43750"/>
                </a:lnTo>
                <a:lnTo>
                  <a:pt x="74833" y="43750"/>
                </a:lnTo>
                <a:lnTo>
                  <a:pt x="74833" y="81250"/>
                </a:lnTo>
                <a:lnTo>
                  <a:pt x="67000" y="81250"/>
                </a:lnTo>
                <a:lnTo>
                  <a:pt x="67000" y="43750"/>
                </a:lnTo>
                <a:lnTo>
                  <a:pt x="54500" y="43750"/>
                </a:lnTo>
                <a:lnTo>
                  <a:pt x="54500" y="81250"/>
                </a:lnTo>
                <a:lnTo>
                  <a:pt x="45083" y="81250"/>
                </a:lnTo>
                <a:lnTo>
                  <a:pt x="45083" y="43750"/>
                </a:lnTo>
                <a:lnTo>
                  <a:pt x="32583" y="43750"/>
                </a:lnTo>
                <a:lnTo>
                  <a:pt x="32583" y="81250"/>
                </a:lnTo>
                <a:lnTo>
                  <a:pt x="24833" y="81250"/>
                </a:lnTo>
                <a:lnTo>
                  <a:pt x="24833" y="43750"/>
                </a:lnTo>
                <a:moveTo>
                  <a:pt x="49833" y="12500"/>
                </a:moveTo>
                <a:lnTo>
                  <a:pt x="49833" y="12500"/>
                </a:lnTo>
                <a:cubicBezTo>
                  <a:pt x="51611" y="12500"/>
                  <a:pt x="53111" y="13083"/>
                  <a:pt x="54333" y="14250"/>
                </a:cubicBezTo>
                <a:lnTo>
                  <a:pt x="54333" y="14250"/>
                </a:lnTo>
                <a:lnTo>
                  <a:pt x="54333" y="14250"/>
                </a:lnTo>
                <a:cubicBezTo>
                  <a:pt x="55500" y="15417"/>
                  <a:pt x="56083" y="16917"/>
                  <a:pt x="56083" y="18750"/>
                </a:cubicBezTo>
                <a:lnTo>
                  <a:pt x="56083" y="18750"/>
                </a:lnTo>
                <a:cubicBezTo>
                  <a:pt x="56083" y="20583"/>
                  <a:pt x="55500" y="22083"/>
                  <a:pt x="54333" y="23250"/>
                </a:cubicBezTo>
                <a:lnTo>
                  <a:pt x="54333" y="23250"/>
                </a:lnTo>
                <a:cubicBezTo>
                  <a:pt x="53111" y="24417"/>
                  <a:pt x="51611" y="25000"/>
                  <a:pt x="49833" y="25000"/>
                </a:cubicBezTo>
                <a:lnTo>
                  <a:pt x="49833" y="25000"/>
                </a:lnTo>
                <a:cubicBezTo>
                  <a:pt x="48000" y="25000"/>
                  <a:pt x="46500" y="24417"/>
                  <a:pt x="45333" y="23250"/>
                </a:cubicBezTo>
                <a:lnTo>
                  <a:pt x="45333" y="23250"/>
                </a:lnTo>
                <a:cubicBezTo>
                  <a:pt x="44167" y="22083"/>
                  <a:pt x="43583" y="20583"/>
                  <a:pt x="43583" y="18750"/>
                </a:cubicBezTo>
                <a:lnTo>
                  <a:pt x="43583" y="18750"/>
                </a:lnTo>
                <a:cubicBezTo>
                  <a:pt x="43583" y="16917"/>
                  <a:pt x="44167" y="15417"/>
                  <a:pt x="45333" y="14250"/>
                </a:cubicBezTo>
                <a:lnTo>
                  <a:pt x="45333" y="14250"/>
                </a:lnTo>
                <a:cubicBezTo>
                  <a:pt x="46500" y="13083"/>
                  <a:pt x="48000" y="12500"/>
                  <a:pt x="49833" y="12500"/>
                </a:cubicBezTo>
                <a:lnTo>
                  <a:pt x="49833" y="12500"/>
                </a:lnTo>
              </a:path>
            </a:pathLst>
          </a:custGeom>
          <a:solidFill>
            <a:srgbClr val="4A7C9B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489350740-47"/>
          <p:cNvSpPr/>
          <p:nvPr/>
        </p:nvSpPr>
        <p:spPr>
          <a:xfrm>
            <a:off x="3475695" y="345958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2250" y="4917"/>
                </a:moveTo>
                <a:lnTo>
                  <a:pt x="32250" y="4917"/>
                </a:lnTo>
                <a:cubicBezTo>
                  <a:pt x="31472" y="2917"/>
                  <a:pt x="30222" y="1528"/>
                  <a:pt x="28500" y="750"/>
                </a:cubicBezTo>
                <a:lnTo>
                  <a:pt x="28500" y="750"/>
                </a:lnTo>
                <a:lnTo>
                  <a:pt x="28500" y="750"/>
                </a:lnTo>
                <a:cubicBezTo>
                  <a:pt x="26667" y="-28"/>
                  <a:pt x="24778" y="-222"/>
                  <a:pt x="22833" y="167"/>
                </a:cubicBezTo>
                <a:lnTo>
                  <a:pt x="22833" y="167"/>
                </a:lnTo>
                <a:lnTo>
                  <a:pt x="5667" y="4917"/>
                </a:lnTo>
                <a:cubicBezTo>
                  <a:pt x="2167" y="6194"/>
                  <a:pt x="278" y="8722"/>
                  <a:pt x="0" y="12500"/>
                </a:cubicBezTo>
                <a:lnTo>
                  <a:pt x="0" y="12500"/>
                </a:lnTo>
                <a:cubicBezTo>
                  <a:pt x="111" y="28778"/>
                  <a:pt x="4083" y="43500"/>
                  <a:pt x="11917" y="56667"/>
                </a:cubicBezTo>
                <a:lnTo>
                  <a:pt x="11917" y="56667"/>
                </a:lnTo>
                <a:cubicBezTo>
                  <a:pt x="19750" y="69778"/>
                  <a:pt x="30222" y="80250"/>
                  <a:pt x="43333" y="88083"/>
                </a:cubicBezTo>
                <a:lnTo>
                  <a:pt x="43333" y="88083"/>
                </a:lnTo>
                <a:cubicBezTo>
                  <a:pt x="56500" y="95917"/>
                  <a:pt x="71222" y="99889"/>
                  <a:pt x="87500" y="100000"/>
                </a:cubicBezTo>
                <a:lnTo>
                  <a:pt x="87500" y="100000"/>
                </a:lnTo>
                <a:cubicBezTo>
                  <a:pt x="91278" y="99722"/>
                  <a:pt x="93806" y="97833"/>
                  <a:pt x="95083" y="94333"/>
                </a:cubicBezTo>
                <a:lnTo>
                  <a:pt x="95083" y="94333"/>
                </a:lnTo>
                <a:lnTo>
                  <a:pt x="99833" y="77167"/>
                </a:lnTo>
                <a:cubicBezTo>
                  <a:pt x="100222" y="75222"/>
                  <a:pt x="100028" y="73333"/>
                  <a:pt x="99250" y="71500"/>
                </a:cubicBezTo>
                <a:lnTo>
                  <a:pt x="99250" y="71500"/>
                </a:lnTo>
                <a:cubicBezTo>
                  <a:pt x="98472" y="69778"/>
                  <a:pt x="97083" y="68528"/>
                  <a:pt x="95083" y="67750"/>
                </a:cubicBezTo>
                <a:lnTo>
                  <a:pt x="95083" y="67750"/>
                </a:lnTo>
                <a:lnTo>
                  <a:pt x="76333" y="60000"/>
                </a:lnTo>
                <a:cubicBezTo>
                  <a:pt x="72833" y="58778"/>
                  <a:pt x="69861" y="59556"/>
                  <a:pt x="67417" y="62333"/>
                </a:cubicBezTo>
                <a:lnTo>
                  <a:pt x="67417" y="62333"/>
                </a:lnTo>
                <a:lnTo>
                  <a:pt x="59583" y="71833"/>
                </a:lnTo>
                <a:cubicBezTo>
                  <a:pt x="52694" y="68611"/>
                  <a:pt x="46500" y="64333"/>
                  <a:pt x="41000" y="59000"/>
                </a:cubicBezTo>
                <a:lnTo>
                  <a:pt x="41000" y="59000"/>
                </a:lnTo>
                <a:cubicBezTo>
                  <a:pt x="35667" y="53500"/>
                  <a:pt x="31389" y="47306"/>
                  <a:pt x="28167" y="40417"/>
                </a:cubicBezTo>
                <a:lnTo>
                  <a:pt x="28167" y="40417"/>
                </a:lnTo>
                <a:lnTo>
                  <a:pt x="37667" y="32583"/>
                </a:lnTo>
                <a:cubicBezTo>
                  <a:pt x="40444" y="30139"/>
                  <a:pt x="41222" y="27167"/>
                  <a:pt x="40000" y="23667"/>
                </a:cubicBezTo>
                <a:lnTo>
                  <a:pt x="40000" y="23667"/>
                </a:lnTo>
                <a:lnTo>
                  <a:pt x="32250" y="4917"/>
                </a:lnTo>
              </a:path>
            </a:pathLst>
          </a:custGeom>
          <a:solidFill>
            <a:srgbClr val="4A7C9B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489350743-48"/>
          <p:cNvSpPr/>
          <p:nvPr/>
        </p:nvSpPr>
        <p:spPr>
          <a:xfrm>
            <a:off x="4808004" y="3473872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417" y="0"/>
                </a:moveTo>
                <a:lnTo>
                  <a:pt x="9417" y="0"/>
                </a:lnTo>
                <a:cubicBezTo>
                  <a:pt x="6806" y="148"/>
                  <a:pt x="4583" y="1370"/>
                  <a:pt x="2750" y="3667"/>
                </a:cubicBezTo>
                <a:lnTo>
                  <a:pt x="2750" y="3667"/>
                </a:lnTo>
                <a:lnTo>
                  <a:pt x="2750" y="3667"/>
                </a:lnTo>
                <a:cubicBezTo>
                  <a:pt x="1028" y="6111"/>
                  <a:pt x="111" y="9074"/>
                  <a:pt x="0" y="12556"/>
                </a:cubicBezTo>
                <a:lnTo>
                  <a:pt x="0" y="12556"/>
                </a:lnTo>
                <a:cubicBezTo>
                  <a:pt x="111" y="16704"/>
                  <a:pt x="1361" y="20000"/>
                  <a:pt x="3750" y="22444"/>
                </a:cubicBezTo>
                <a:lnTo>
                  <a:pt x="3750" y="22444"/>
                </a:lnTo>
                <a:lnTo>
                  <a:pt x="46250" y="65111"/>
                </a:lnTo>
                <a:cubicBezTo>
                  <a:pt x="48750" y="67185"/>
                  <a:pt x="51250" y="67185"/>
                  <a:pt x="53750" y="65111"/>
                </a:cubicBezTo>
                <a:lnTo>
                  <a:pt x="53750" y="65111"/>
                </a:lnTo>
                <a:lnTo>
                  <a:pt x="96250" y="22444"/>
                </a:lnTo>
                <a:cubicBezTo>
                  <a:pt x="98639" y="20000"/>
                  <a:pt x="99889" y="16704"/>
                  <a:pt x="100000" y="12556"/>
                </a:cubicBezTo>
                <a:lnTo>
                  <a:pt x="100000" y="12556"/>
                </a:lnTo>
                <a:cubicBezTo>
                  <a:pt x="99889" y="9074"/>
                  <a:pt x="98972" y="6111"/>
                  <a:pt x="97250" y="3667"/>
                </a:cubicBezTo>
                <a:lnTo>
                  <a:pt x="97250" y="3667"/>
                </a:lnTo>
                <a:cubicBezTo>
                  <a:pt x="95417" y="1370"/>
                  <a:pt x="93222" y="148"/>
                  <a:pt x="90667" y="0"/>
                </a:cubicBezTo>
                <a:lnTo>
                  <a:pt x="90667" y="0"/>
                </a:lnTo>
                <a:lnTo>
                  <a:pt x="9417" y="0"/>
                </a:lnTo>
                <a:moveTo>
                  <a:pt x="0" y="29222"/>
                </a:moveTo>
                <a:lnTo>
                  <a:pt x="0" y="29222"/>
                </a:lnTo>
                <a:lnTo>
                  <a:pt x="0" y="83333"/>
                </a:lnTo>
                <a:cubicBezTo>
                  <a:pt x="111" y="88000"/>
                  <a:pt x="1361" y="91889"/>
                  <a:pt x="3750" y="95000"/>
                </a:cubicBezTo>
                <a:lnTo>
                  <a:pt x="3750" y="95000"/>
                </a:lnTo>
                <a:cubicBezTo>
                  <a:pt x="6083" y="98185"/>
                  <a:pt x="9000" y="99852"/>
                  <a:pt x="12500" y="100000"/>
                </a:cubicBezTo>
                <a:lnTo>
                  <a:pt x="12500" y="100000"/>
                </a:lnTo>
                <a:lnTo>
                  <a:pt x="87500" y="100000"/>
                </a:lnTo>
                <a:cubicBezTo>
                  <a:pt x="91000" y="99852"/>
                  <a:pt x="93917" y="98185"/>
                  <a:pt x="96250" y="95000"/>
                </a:cubicBezTo>
                <a:lnTo>
                  <a:pt x="96250" y="95000"/>
                </a:lnTo>
                <a:cubicBezTo>
                  <a:pt x="98639" y="91889"/>
                  <a:pt x="99889" y="88000"/>
                  <a:pt x="100000" y="83333"/>
                </a:cubicBezTo>
                <a:lnTo>
                  <a:pt x="100000" y="83333"/>
                </a:lnTo>
                <a:lnTo>
                  <a:pt x="100000" y="29222"/>
                </a:lnTo>
                <a:lnTo>
                  <a:pt x="57417" y="71667"/>
                </a:lnTo>
                <a:cubicBezTo>
                  <a:pt x="55194" y="73889"/>
                  <a:pt x="52722" y="75000"/>
                  <a:pt x="50000" y="75000"/>
                </a:cubicBezTo>
                <a:lnTo>
                  <a:pt x="50000" y="75000"/>
                </a:lnTo>
                <a:cubicBezTo>
                  <a:pt x="47278" y="75000"/>
                  <a:pt x="44806" y="73889"/>
                  <a:pt x="42583" y="71667"/>
                </a:cubicBezTo>
                <a:lnTo>
                  <a:pt x="42583" y="71667"/>
                </a:lnTo>
                <a:lnTo>
                  <a:pt x="0" y="29222"/>
                </a:lnTo>
              </a:path>
            </a:pathLst>
          </a:custGeom>
          <a:solidFill>
            <a:srgbClr val="4A7C9B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50746-49"/>
          <p:cNvSpPr/>
          <p:nvPr/>
        </p:nvSpPr>
        <p:spPr>
          <a:xfrm>
            <a:off x="7287258" y="3462813"/>
            <a:ext cx="110728" cy="1078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2417" y="82909"/>
                </a:moveTo>
                <a:lnTo>
                  <a:pt x="32417" y="82909"/>
                </a:lnTo>
                <a:cubicBezTo>
                  <a:pt x="32306" y="83455"/>
                  <a:pt x="31972" y="83727"/>
                  <a:pt x="31417" y="83727"/>
                </a:cubicBezTo>
                <a:lnTo>
                  <a:pt x="31417" y="83727"/>
                </a:lnTo>
                <a:cubicBezTo>
                  <a:pt x="30639" y="83727"/>
                  <a:pt x="30250" y="83455"/>
                  <a:pt x="30250" y="82909"/>
                </a:cubicBezTo>
                <a:lnTo>
                  <a:pt x="30250" y="82909"/>
                </a:lnTo>
                <a:cubicBezTo>
                  <a:pt x="30417" y="82485"/>
                  <a:pt x="30750" y="82273"/>
                  <a:pt x="31250" y="82273"/>
                </a:cubicBezTo>
                <a:lnTo>
                  <a:pt x="31250" y="82273"/>
                </a:lnTo>
                <a:cubicBezTo>
                  <a:pt x="31917" y="82273"/>
                  <a:pt x="32306" y="82485"/>
                  <a:pt x="32417" y="82909"/>
                </a:cubicBezTo>
                <a:lnTo>
                  <a:pt x="32417" y="82909"/>
                </a:lnTo>
                <a:moveTo>
                  <a:pt x="26333" y="82000"/>
                </a:moveTo>
                <a:lnTo>
                  <a:pt x="26333" y="82000"/>
                </a:lnTo>
                <a:cubicBezTo>
                  <a:pt x="26222" y="82424"/>
                  <a:pt x="26500" y="82788"/>
                  <a:pt x="27167" y="83091"/>
                </a:cubicBezTo>
                <a:lnTo>
                  <a:pt x="27167" y="83091"/>
                </a:lnTo>
                <a:cubicBezTo>
                  <a:pt x="27833" y="83212"/>
                  <a:pt x="28222" y="83061"/>
                  <a:pt x="28333" y="82636"/>
                </a:cubicBezTo>
                <a:lnTo>
                  <a:pt x="28333" y="82636"/>
                </a:lnTo>
                <a:cubicBezTo>
                  <a:pt x="28444" y="82091"/>
                  <a:pt x="28167" y="81758"/>
                  <a:pt x="27500" y="81636"/>
                </a:cubicBezTo>
                <a:lnTo>
                  <a:pt x="27500" y="81636"/>
                </a:lnTo>
                <a:cubicBezTo>
                  <a:pt x="26889" y="81455"/>
                  <a:pt x="26500" y="81576"/>
                  <a:pt x="26333" y="82000"/>
                </a:cubicBezTo>
                <a:lnTo>
                  <a:pt x="26333" y="82000"/>
                </a:lnTo>
                <a:moveTo>
                  <a:pt x="35000" y="81636"/>
                </a:moveTo>
                <a:lnTo>
                  <a:pt x="35000" y="81636"/>
                </a:lnTo>
                <a:cubicBezTo>
                  <a:pt x="34333" y="81758"/>
                  <a:pt x="34000" y="82091"/>
                  <a:pt x="34000" y="82636"/>
                </a:cubicBezTo>
                <a:lnTo>
                  <a:pt x="34000" y="82636"/>
                </a:lnTo>
                <a:cubicBezTo>
                  <a:pt x="34111" y="83061"/>
                  <a:pt x="34500" y="83273"/>
                  <a:pt x="35167" y="83273"/>
                </a:cubicBezTo>
                <a:lnTo>
                  <a:pt x="35167" y="83273"/>
                </a:lnTo>
                <a:cubicBezTo>
                  <a:pt x="35833" y="83030"/>
                  <a:pt x="36167" y="82697"/>
                  <a:pt x="36167" y="82273"/>
                </a:cubicBezTo>
                <a:lnTo>
                  <a:pt x="36167" y="82273"/>
                </a:lnTo>
                <a:cubicBezTo>
                  <a:pt x="36000" y="81848"/>
                  <a:pt x="35611" y="81636"/>
                  <a:pt x="35000" y="81636"/>
                </a:cubicBezTo>
                <a:lnTo>
                  <a:pt x="35000" y="81636"/>
                </a:lnTo>
                <a:moveTo>
                  <a:pt x="47833" y="0"/>
                </a:moveTo>
                <a:lnTo>
                  <a:pt x="47833" y="0"/>
                </a:lnTo>
                <a:cubicBezTo>
                  <a:pt x="33889" y="303"/>
                  <a:pt x="22500" y="5273"/>
                  <a:pt x="13667" y="14909"/>
                </a:cubicBezTo>
                <a:lnTo>
                  <a:pt x="13667" y="14909"/>
                </a:lnTo>
                <a:lnTo>
                  <a:pt x="13667" y="14909"/>
                </a:lnTo>
                <a:cubicBezTo>
                  <a:pt x="4833" y="24545"/>
                  <a:pt x="278" y="36909"/>
                  <a:pt x="0" y="52000"/>
                </a:cubicBezTo>
                <a:lnTo>
                  <a:pt x="0" y="52000"/>
                </a:lnTo>
                <a:cubicBezTo>
                  <a:pt x="111" y="64061"/>
                  <a:pt x="3167" y="74636"/>
                  <a:pt x="9167" y="83727"/>
                </a:cubicBezTo>
                <a:lnTo>
                  <a:pt x="9167" y="83727"/>
                </a:lnTo>
                <a:cubicBezTo>
                  <a:pt x="15167" y="92818"/>
                  <a:pt x="23167" y="99212"/>
                  <a:pt x="33167" y="102909"/>
                </a:cubicBezTo>
                <a:lnTo>
                  <a:pt x="33167" y="102909"/>
                </a:lnTo>
                <a:cubicBezTo>
                  <a:pt x="35556" y="103030"/>
                  <a:pt x="36667" y="102182"/>
                  <a:pt x="36500" y="100364"/>
                </a:cubicBezTo>
                <a:lnTo>
                  <a:pt x="36500" y="100364"/>
                </a:lnTo>
                <a:cubicBezTo>
                  <a:pt x="36500" y="99818"/>
                  <a:pt x="36500" y="98758"/>
                  <a:pt x="36500" y="97182"/>
                </a:cubicBezTo>
                <a:lnTo>
                  <a:pt x="36500" y="97182"/>
                </a:lnTo>
                <a:cubicBezTo>
                  <a:pt x="36500" y="93909"/>
                  <a:pt x="36500" y="90636"/>
                  <a:pt x="36500" y="87364"/>
                </a:cubicBezTo>
                <a:lnTo>
                  <a:pt x="36500" y="87364"/>
                </a:lnTo>
                <a:cubicBezTo>
                  <a:pt x="36278" y="87364"/>
                  <a:pt x="35056" y="87515"/>
                  <a:pt x="32833" y="87818"/>
                </a:cubicBezTo>
                <a:lnTo>
                  <a:pt x="32833" y="87818"/>
                </a:lnTo>
                <a:cubicBezTo>
                  <a:pt x="30500" y="87939"/>
                  <a:pt x="28028" y="87636"/>
                  <a:pt x="25417" y="86909"/>
                </a:cubicBezTo>
                <a:lnTo>
                  <a:pt x="25417" y="86909"/>
                </a:lnTo>
                <a:cubicBezTo>
                  <a:pt x="22806" y="86061"/>
                  <a:pt x="20972" y="84091"/>
                  <a:pt x="19917" y="81000"/>
                </a:cubicBezTo>
                <a:lnTo>
                  <a:pt x="19917" y="81000"/>
                </a:lnTo>
                <a:cubicBezTo>
                  <a:pt x="19917" y="80697"/>
                  <a:pt x="19389" y="79545"/>
                  <a:pt x="18333" y="77545"/>
                </a:cubicBezTo>
                <a:lnTo>
                  <a:pt x="18333" y="77545"/>
                </a:lnTo>
                <a:cubicBezTo>
                  <a:pt x="17333" y="75727"/>
                  <a:pt x="16028" y="74242"/>
                  <a:pt x="14417" y="73091"/>
                </a:cubicBezTo>
                <a:lnTo>
                  <a:pt x="14417" y="73091"/>
                </a:lnTo>
                <a:cubicBezTo>
                  <a:pt x="14194" y="72970"/>
                  <a:pt x="13694" y="72394"/>
                  <a:pt x="12917" y="71364"/>
                </a:cubicBezTo>
                <a:lnTo>
                  <a:pt x="12917" y="71364"/>
                </a:lnTo>
                <a:cubicBezTo>
                  <a:pt x="11972" y="70515"/>
                  <a:pt x="12611" y="70030"/>
                  <a:pt x="14833" y="69909"/>
                </a:cubicBezTo>
                <a:lnTo>
                  <a:pt x="14833" y="69909"/>
                </a:lnTo>
                <a:cubicBezTo>
                  <a:pt x="14944" y="69727"/>
                  <a:pt x="15861" y="70000"/>
                  <a:pt x="17583" y="70727"/>
                </a:cubicBezTo>
                <a:lnTo>
                  <a:pt x="17583" y="70727"/>
                </a:lnTo>
                <a:cubicBezTo>
                  <a:pt x="19250" y="71333"/>
                  <a:pt x="20806" y="72909"/>
                  <a:pt x="22250" y="75455"/>
                </a:cubicBezTo>
                <a:lnTo>
                  <a:pt x="22250" y="75455"/>
                </a:lnTo>
                <a:cubicBezTo>
                  <a:pt x="24583" y="79273"/>
                  <a:pt x="27139" y="81182"/>
                  <a:pt x="29917" y="81182"/>
                </a:cubicBezTo>
                <a:lnTo>
                  <a:pt x="29917" y="81182"/>
                </a:lnTo>
                <a:cubicBezTo>
                  <a:pt x="32750" y="81182"/>
                  <a:pt x="34944" y="80758"/>
                  <a:pt x="36500" y="79909"/>
                </a:cubicBezTo>
                <a:lnTo>
                  <a:pt x="36500" y="79909"/>
                </a:lnTo>
                <a:cubicBezTo>
                  <a:pt x="37056" y="76515"/>
                  <a:pt x="38111" y="74091"/>
                  <a:pt x="39667" y="72636"/>
                </a:cubicBezTo>
                <a:lnTo>
                  <a:pt x="39667" y="72636"/>
                </a:lnTo>
                <a:cubicBezTo>
                  <a:pt x="33944" y="72394"/>
                  <a:pt x="28917" y="70848"/>
                  <a:pt x="24583" y="68000"/>
                </a:cubicBezTo>
                <a:lnTo>
                  <a:pt x="24583" y="68000"/>
                </a:lnTo>
                <a:cubicBezTo>
                  <a:pt x="20306" y="65273"/>
                  <a:pt x="18028" y="58939"/>
                  <a:pt x="17750" y="49000"/>
                </a:cubicBezTo>
                <a:lnTo>
                  <a:pt x="17750" y="49000"/>
                </a:lnTo>
                <a:cubicBezTo>
                  <a:pt x="17750" y="46152"/>
                  <a:pt x="18139" y="43818"/>
                  <a:pt x="18917" y="42000"/>
                </a:cubicBezTo>
                <a:lnTo>
                  <a:pt x="18917" y="42000"/>
                </a:lnTo>
                <a:cubicBezTo>
                  <a:pt x="19583" y="40121"/>
                  <a:pt x="20694" y="38333"/>
                  <a:pt x="22250" y="36636"/>
                </a:cubicBezTo>
                <a:lnTo>
                  <a:pt x="22250" y="36636"/>
                </a:lnTo>
                <a:cubicBezTo>
                  <a:pt x="22028" y="35788"/>
                  <a:pt x="21778" y="34091"/>
                  <a:pt x="21500" y="31545"/>
                </a:cubicBezTo>
                <a:lnTo>
                  <a:pt x="21500" y="31545"/>
                </a:lnTo>
                <a:cubicBezTo>
                  <a:pt x="21222" y="29000"/>
                  <a:pt x="21667" y="25879"/>
                  <a:pt x="22833" y="22182"/>
                </a:cubicBezTo>
                <a:lnTo>
                  <a:pt x="22833" y="22182"/>
                </a:lnTo>
                <a:cubicBezTo>
                  <a:pt x="25167" y="21758"/>
                  <a:pt x="27917" y="22545"/>
                  <a:pt x="31083" y="24545"/>
                </a:cubicBezTo>
                <a:lnTo>
                  <a:pt x="31083" y="24545"/>
                </a:lnTo>
                <a:cubicBezTo>
                  <a:pt x="34306" y="26364"/>
                  <a:pt x="36056" y="27485"/>
                  <a:pt x="36333" y="27909"/>
                </a:cubicBezTo>
                <a:lnTo>
                  <a:pt x="36333" y="27909"/>
                </a:lnTo>
                <a:cubicBezTo>
                  <a:pt x="36333" y="27909"/>
                  <a:pt x="36333" y="27909"/>
                  <a:pt x="36333" y="27909"/>
                </a:cubicBezTo>
                <a:lnTo>
                  <a:pt x="36333" y="27909"/>
                </a:lnTo>
                <a:cubicBezTo>
                  <a:pt x="40222" y="26636"/>
                  <a:pt x="44333" y="26000"/>
                  <a:pt x="48667" y="26000"/>
                </a:cubicBezTo>
                <a:lnTo>
                  <a:pt x="48667" y="26000"/>
                </a:lnTo>
                <a:cubicBezTo>
                  <a:pt x="52833" y="26000"/>
                  <a:pt x="56917" y="26636"/>
                  <a:pt x="60917" y="27909"/>
                </a:cubicBezTo>
                <a:lnTo>
                  <a:pt x="60917" y="27909"/>
                </a:lnTo>
                <a:cubicBezTo>
                  <a:pt x="60917" y="27788"/>
                  <a:pt x="61778" y="27152"/>
                  <a:pt x="63500" y="26000"/>
                </a:cubicBezTo>
                <a:lnTo>
                  <a:pt x="63500" y="26000"/>
                </a:lnTo>
                <a:cubicBezTo>
                  <a:pt x="65056" y="24848"/>
                  <a:pt x="66861" y="23848"/>
                  <a:pt x="68917" y="23000"/>
                </a:cubicBezTo>
                <a:lnTo>
                  <a:pt x="68917" y="23000"/>
                </a:lnTo>
                <a:cubicBezTo>
                  <a:pt x="71028" y="22030"/>
                  <a:pt x="72861" y="21758"/>
                  <a:pt x="74417" y="22182"/>
                </a:cubicBezTo>
                <a:lnTo>
                  <a:pt x="74417" y="22182"/>
                </a:lnTo>
                <a:cubicBezTo>
                  <a:pt x="75583" y="25879"/>
                  <a:pt x="76028" y="29000"/>
                  <a:pt x="75750" y="31545"/>
                </a:cubicBezTo>
                <a:lnTo>
                  <a:pt x="75750" y="31545"/>
                </a:lnTo>
                <a:cubicBezTo>
                  <a:pt x="75528" y="34091"/>
                  <a:pt x="75222" y="35788"/>
                  <a:pt x="74833" y="36636"/>
                </a:cubicBezTo>
                <a:lnTo>
                  <a:pt x="74833" y="36636"/>
                </a:lnTo>
                <a:cubicBezTo>
                  <a:pt x="76389" y="38333"/>
                  <a:pt x="77611" y="40121"/>
                  <a:pt x="78500" y="42000"/>
                </a:cubicBezTo>
                <a:lnTo>
                  <a:pt x="78500" y="42000"/>
                </a:lnTo>
                <a:cubicBezTo>
                  <a:pt x="79444" y="43818"/>
                  <a:pt x="79917" y="46152"/>
                  <a:pt x="79917" y="49000"/>
                </a:cubicBezTo>
                <a:lnTo>
                  <a:pt x="79917" y="49000"/>
                </a:lnTo>
                <a:cubicBezTo>
                  <a:pt x="79750" y="55848"/>
                  <a:pt x="78639" y="60879"/>
                  <a:pt x="76583" y="64091"/>
                </a:cubicBezTo>
                <a:lnTo>
                  <a:pt x="76583" y="64091"/>
                </a:lnTo>
                <a:cubicBezTo>
                  <a:pt x="74361" y="67242"/>
                  <a:pt x="71556" y="69394"/>
                  <a:pt x="68167" y="70545"/>
                </a:cubicBezTo>
                <a:lnTo>
                  <a:pt x="68167" y="70545"/>
                </a:lnTo>
                <a:cubicBezTo>
                  <a:pt x="64778" y="71697"/>
                  <a:pt x="61194" y="72394"/>
                  <a:pt x="57417" y="72636"/>
                </a:cubicBezTo>
                <a:lnTo>
                  <a:pt x="57417" y="72636"/>
                </a:lnTo>
                <a:cubicBezTo>
                  <a:pt x="59528" y="74212"/>
                  <a:pt x="60639" y="77485"/>
                  <a:pt x="60750" y="82455"/>
                </a:cubicBezTo>
                <a:lnTo>
                  <a:pt x="60750" y="82455"/>
                </a:lnTo>
                <a:cubicBezTo>
                  <a:pt x="60750" y="87727"/>
                  <a:pt x="60750" y="92424"/>
                  <a:pt x="60750" y="96545"/>
                </a:cubicBezTo>
                <a:lnTo>
                  <a:pt x="60750" y="96545"/>
                </a:lnTo>
                <a:cubicBezTo>
                  <a:pt x="60750" y="98364"/>
                  <a:pt x="60750" y="99636"/>
                  <a:pt x="60750" y="100364"/>
                </a:cubicBezTo>
                <a:lnTo>
                  <a:pt x="60750" y="100364"/>
                </a:lnTo>
                <a:cubicBezTo>
                  <a:pt x="60639" y="102182"/>
                  <a:pt x="61750" y="103030"/>
                  <a:pt x="64083" y="102909"/>
                </a:cubicBezTo>
                <a:lnTo>
                  <a:pt x="64083" y="102909"/>
                </a:lnTo>
                <a:cubicBezTo>
                  <a:pt x="73972" y="99212"/>
                  <a:pt x="81917" y="92818"/>
                  <a:pt x="87917" y="83727"/>
                </a:cubicBezTo>
                <a:lnTo>
                  <a:pt x="87917" y="83727"/>
                </a:lnTo>
                <a:cubicBezTo>
                  <a:pt x="93750" y="74636"/>
                  <a:pt x="96750" y="64061"/>
                  <a:pt x="96917" y="52000"/>
                </a:cubicBezTo>
                <a:lnTo>
                  <a:pt x="96917" y="52000"/>
                </a:lnTo>
                <a:cubicBezTo>
                  <a:pt x="96750" y="42061"/>
                  <a:pt x="94528" y="33182"/>
                  <a:pt x="90250" y="25364"/>
                </a:cubicBezTo>
                <a:lnTo>
                  <a:pt x="90250" y="25364"/>
                </a:lnTo>
                <a:cubicBezTo>
                  <a:pt x="85806" y="17545"/>
                  <a:pt x="79944" y="11364"/>
                  <a:pt x="72667" y="6818"/>
                </a:cubicBezTo>
                <a:lnTo>
                  <a:pt x="72667" y="6818"/>
                </a:lnTo>
                <a:cubicBezTo>
                  <a:pt x="65222" y="2394"/>
                  <a:pt x="56944" y="121"/>
                  <a:pt x="47833" y="0"/>
                </a:cubicBezTo>
                <a:lnTo>
                  <a:pt x="47833" y="0"/>
                </a:lnTo>
                <a:moveTo>
                  <a:pt x="18917" y="73545"/>
                </a:moveTo>
                <a:lnTo>
                  <a:pt x="18917" y="73545"/>
                </a:lnTo>
                <a:cubicBezTo>
                  <a:pt x="18694" y="73788"/>
                  <a:pt x="18778" y="74121"/>
                  <a:pt x="19167" y="74545"/>
                </a:cubicBezTo>
                <a:lnTo>
                  <a:pt x="19167" y="74545"/>
                </a:lnTo>
                <a:cubicBezTo>
                  <a:pt x="19556" y="74970"/>
                  <a:pt x="19861" y="75061"/>
                  <a:pt x="20083" y="74818"/>
                </a:cubicBezTo>
                <a:lnTo>
                  <a:pt x="20083" y="74818"/>
                </a:lnTo>
                <a:cubicBezTo>
                  <a:pt x="20361" y="74515"/>
                  <a:pt x="20306" y="74152"/>
                  <a:pt x="19917" y="73727"/>
                </a:cubicBezTo>
                <a:lnTo>
                  <a:pt x="19917" y="73727"/>
                </a:lnTo>
                <a:cubicBezTo>
                  <a:pt x="19639" y="73303"/>
                  <a:pt x="19306" y="73242"/>
                  <a:pt x="18917" y="73545"/>
                </a:cubicBezTo>
                <a:lnTo>
                  <a:pt x="18917" y="73545"/>
                </a:lnTo>
                <a:moveTo>
                  <a:pt x="16833" y="71818"/>
                </a:moveTo>
                <a:lnTo>
                  <a:pt x="16833" y="71818"/>
                </a:lnTo>
                <a:cubicBezTo>
                  <a:pt x="16833" y="72121"/>
                  <a:pt x="17028" y="72394"/>
                  <a:pt x="17417" y="72636"/>
                </a:cubicBezTo>
                <a:lnTo>
                  <a:pt x="17417" y="72636"/>
                </a:lnTo>
                <a:cubicBezTo>
                  <a:pt x="17806" y="72818"/>
                  <a:pt x="18056" y="72758"/>
                  <a:pt x="18167" y="72455"/>
                </a:cubicBezTo>
                <a:lnTo>
                  <a:pt x="18167" y="72455"/>
                </a:lnTo>
                <a:cubicBezTo>
                  <a:pt x="18278" y="72152"/>
                  <a:pt x="18139" y="71879"/>
                  <a:pt x="17750" y="71636"/>
                </a:cubicBezTo>
                <a:lnTo>
                  <a:pt x="17750" y="71636"/>
                </a:lnTo>
                <a:cubicBezTo>
                  <a:pt x="17361" y="71455"/>
                  <a:pt x="17056" y="71515"/>
                  <a:pt x="16833" y="71818"/>
                </a:cubicBezTo>
                <a:lnTo>
                  <a:pt x="16833" y="71818"/>
                </a:lnTo>
                <a:moveTo>
                  <a:pt x="23250" y="79273"/>
                </a:moveTo>
                <a:lnTo>
                  <a:pt x="23250" y="79273"/>
                </a:lnTo>
                <a:cubicBezTo>
                  <a:pt x="22972" y="79697"/>
                  <a:pt x="23028" y="80182"/>
                  <a:pt x="23417" y="80727"/>
                </a:cubicBezTo>
                <a:lnTo>
                  <a:pt x="23417" y="80727"/>
                </a:lnTo>
                <a:cubicBezTo>
                  <a:pt x="23972" y="81152"/>
                  <a:pt x="24444" y="81242"/>
                  <a:pt x="24833" y="81000"/>
                </a:cubicBezTo>
                <a:lnTo>
                  <a:pt x="24833" y="81000"/>
                </a:lnTo>
                <a:cubicBezTo>
                  <a:pt x="24944" y="80576"/>
                  <a:pt x="24806" y="80061"/>
                  <a:pt x="24417" y="79455"/>
                </a:cubicBezTo>
                <a:lnTo>
                  <a:pt x="24417" y="79455"/>
                </a:lnTo>
                <a:cubicBezTo>
                  <a:pt x="23917" y="79030"/>
                  <a:pt x="23528" y="78970"/>
                  <a:pt x="23250" y="79273"/>
                </a:cubicBezTo>
                <a:lnTo>
                  <a:pt x="23250" y="79273"/>
                </a:lnTo>
                <a:moveTo>
                  <a:pt x="20917" y="76273"/>
                </a:moveTo>
                <a:lnTo>
                  <a:pt x="20917" y="76273"/>
                </a:lnTo>
                <a:cubicBezTo>
                  <a:pt x="20639" y="76576"/>
                  <a:pt x="20639" y="77000"/>
                  <a:pt x="20917" y="77545"/>
                </a:cubicBezTo>
                <a:lnTo>
                  <a:pt x="20917" y="77545"/>
                </a:lnTo>
                <a:cubicBezTo>
                  <a:pt x="21306" y="77970"/>
                  <a:pt x="21694" y="78121"/>
                  <a:pt x="22083" y="78000"/>
                </a:cubicBezTo>
                <a:lnTo>
                  <a:pt x="22083" y="78000"/>
                </a:lnTo>
                <a:cubicBezTo>
                  <a:pt x="22361" y="77697"/>
                  <a:pt x="22361" y="77273"/>
                  <a:pt x="22083" y="76727"/>
                </a:cubicBezTo>
                <a:lnTo>
                  <a:pt x="22083" y="76727"/>
                </a:lnTo>
                <a:cubicBezTo>
                  <a:pt x="21694" y="76121"/>
                  <a:pt x="21306" y="75970"/>
                  <a:pt x="20917" y="76273"/>
                </a:cubicBezTo>
                <a:lnTo>
                  <a:pt x="20917" y="76273"/>
                </a:lnTo>
              </a:path>
            </a:pathLst>
          </a:custGeom>
          <a:solidFill>
            <a:srgbClr val="4A7C9B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489349616-5"/>
          <p:cNvSpPr txBox="1"/>
          <p:nvPr/>
        </p:nvSpPr>
        <p:spPr>
          <a:xfrm>
            <a:off x="2480310" y="1526679"/>
            <a:ext cx="4183380" cy="8914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3510"/>
              </a:lnSpc>
            </a:pPr>
            <a:r>
              <a:rPr sz="270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存算一体芯片中</a:t>
            </a:r>
            <a:r>
              <a:rPr sz="27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非线性误差</a:t>
            </a:r>
            <a:endParaRPr sz="27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ts val="3510"/>
              </a:lnSpc>
            </a:pPr>
            <a:r>
              <a:rPr sz="270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对推理精度的影响研究</a:t>
            </a:r>
            <a:endParaRPr sz="270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l-1785489349617-6"/>
          <p:cNvSpPr txBox="1"/>
          <p:nvPr/>
        </p:nvSpPr>
        <p:spPr>
          <a:xfrm>
            <a:off x="2520776" y="2736652"/>
            <a:ext cx="4102373" cy="2571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350" spc="28">
                <a:solidFill>
                  <a:srgbClr val="2C2C2C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面向CIFAR-10图像分类的非线性鲁棒性分析与增强</a:t>
            </a:r>
            <a:endParaRPr sz="1350" spc="28">
              <a:solidFill>
                <a:srgbClr val="2C2C2C">
                  <a:alpha val="8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l-1785489349626-8"/>
          <p:cNvSpPr txBox="1"/>
          <p:nvPr/>
        </p:nvSpPr>
        <p:spPr>
          <a:xfrm>
            <a:off x="1291307" y="3429819"/>
            <a:ext cx="5143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2C2C2C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黄奕皓</a:t>
            </a:r>
            <a:endParaRPr sz="1010">
              <a:solidFill>
                <a:srgbClr val="2C2C2C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l-1785489349627-9"/>
          <p:cNvSpPr txBox="1"/>
          <p:nvPr/>
        </p:nvSpPr>
        <p:spPr>
          <a:xfrm>
            <a:off x="2179886" y="3429819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2C2C2C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中国科学院大学</a:t>
            </a:r>
            <a:endParaRPr sz="1010">
              <a:solidFill>
                <a:srgbClr val="2C2C2C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l-1785489349627-10"/>
          <p:cNvSpPr txBox="1"/>
          <p:nvPr/>
        </p:nvSpPr>
        <p:spPr>
          <a:xfrm>
            <a:off x="3582814" y="3429819"/>
            <a:ext cx="95808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2C2C2C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18384548243</a:t>
            </a:r>
            <a:endParaRPr sz="1010">
              <a:solidFill>
                <a:srgbClr val="2C2C2C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49628-11"/>
          <p:cNvSpPr txBox="1"/>
          <p:nvPr/>
        </p:nvSpPr>
        <p:spPr>
          <a:xfrm>
            <a:off x="4915123" y="3429819"/>
            <a:ext cx="210323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2C2C2C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huangyihao24@mails.ucas.ac.cn</a:t>
            </a:r>
            <a:endParaRPr sz="1010">
              <a:solidFill>
                <a:srgbClr val="2C2C2C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49637-12"/>
          <p:cNvSpPr txBox="1"/>
          <p:nvPr/>
        </p:nvSpPr>
        <p:spPr>
          <a:xfrm>
            <a:off x="7392591" y="3416722"/>
            <a:ext cx="642938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4A7C9B">
                    <a:alpha val="90000"/>
                  </a:srgbClr>
                </a:solidFill>
                <a:latin typeface="微软雅黑"/>
                <a:ea typeface="微软雅黑"/>
                <a:cs typeface="微软雅黑"/>
                <a:hlinkClick r:id="rId1"/>
              </a:rPr>
              <a:t>项目开源</a:t>
            </a:r>
            <a:endParaRPr sz="1010">
              <a:solidFill>
                <a:srgbClr val="4A7C9B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49644-1"/>
          <p:cNvSpPr/>
          <p:nvPr/>
        </p:nvSpPr>
        <p:spPr>
          <a:xfrm>
            <a:off x="7000875" y="0"/>
            <a:ext cx="2143125" cy="2000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83529"/>
                </a:moveTo>
                <a:lnTo>
                  <a:pt x="98062" y="85410"/>
                </a:lnTo>
                <a:lnTo>
                  <a:pt x="93333" y="89167"/>
                </a:lnTo>
                <a:lnTo>
                  <a:pt x="88284" y="92410"/>
                </a:lnTo>
                <a:lnTo>
                  <a:pt x="82960" y="95105"/>
                </a:lnTo>
                <a:lnTo>
                  <a:pt x="77418" y="97233"/>
                </a:lnTo>
                <a:lnTo>
                  <a:pt x="71707" y="98767"/>
                </a:lnTo>
                <a:lnTo>
                  <a:pt x="65880" y="99690"/>
                </a:lnTo>
                <a:lnTo>
                  <a:pt x="60000" y="100000"/>
                </a:lnTo>
                <a:lnTo>
                  <a:pt x="54120" y="99690"/>
                </a:lnTo>
                <a:lnTo>
                  <a:pt x="48293" y="98767"/>
                </a:lnTo>
                <a:lnTo>
                  <a:pt x="42582" y="97233"/>
                </a:lnTo>
                <a:lnTo>
                  <a:pt x="37040" y="95105"/>
                </a:lnTo>
                <a:lnTo>
                  <a:pt x="31716" y="92410"/>
                </a:lnTo>
                <a:lnTo>
                  <a:pt x="26667" y="89167"/>
                </a:lnTo>
                <a:lnTo>
                  <a:pt x="21938" y="85410"/>
                </a:lnTo>
                <a:lnTo>
                  <a:pt x="17573" y="81171"/>
                </a:lnTo>
                <a:lnTo>
                  <a:pt x="13618" y="76495"/>
                </a:lnTo>
                <a:lnTo>
                  <a:pt x="10111" y="71429"/>
                </a:lnTo>
                <a:lnTo>
                  <a:pt x="7084" y="66019"/>
                </a:lnTo>
                <a:lnTo>
                  <a:pt x="4569" y="60314"/>
                </a:lnTo>
                <a:lnTo>
                  <a:pt x="2582" y="54376"/>
                </a:lnTo>
                <a:lnTo>
                  <a:pt x="1151" y="48257"/>
                </a:lnTo>
                <a:lnTo>
                  <a:pt x="289" y="42014"/>
                </a:lnTo>
                <a:lnTo>
                  <a:pt x="0" y="35714"/>
                </a:lnTo>
                <a:lnTo>
                  <a:pt x="289" y="29414"/>
                </a:lnTo>
                <a:lnTo>
                  <a:pt x="1151" y="23171"/>
                </a:lnTo>
                <a:lnTo>
                  <a:pt x="2582" y="17052"/>
                </a:lnTo>
                <a:lnTo>
                  <a:pt x="4569" y="11114"/>
                </a:lnTo>
                <a:lnTo>
                  <a:pt x="7084" y="5410"/>
                </a:lnTo>
                <a:lnTo>
                  <a:pt x="10111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49646-2"/>
          <p:cNvSpPr/>
          <p:nvPr/>
        </p:nvSpPr>
        <p:spPr>
          <a:xfrm>
            <a:off x="1285875" y="400050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62500"/>
                </a:moveTo>
                <a:lnTo>
                  <a:pt x="99760" y="68625"/>
                </a:lnTo>
                <a:lnTo>
                  <a:pt x="99040" y="74692"/>
                </a:lnTo>
                <a:lnTo>
                  <a:pt x="97847" y="80642"/>
                </a:lnTo>
                <a:lnTo>
                  <a:pt x="96193" y="86417"/>
                </a:lnTo>
                <a:lnTo>
                  <a:pt x="94093" y="91958"/>
                </a:lnTo>
                <a:lnTo>
                  <a:pt x="91573" y="97225"/>
                </a:lnTo>
                <a:lnTo>
                  <a:pt x="89927" y="100000"/>
                </a:lnTo>
                <a:lnTo>
                  <a:pt x="10073" y="100000"/>
                </a:lnTo>
                <a:lnTo>
                  <a:pt x="8427" y="97225"/>
                </a:lnTo>
                <a:lnTo>
                  <a:pt x="5907" y="91958"/>
                </a:lnTo>
                <a:lnTo>
                  <a:pt x="3807" y="86417"/>
                </a:lnTo>
                <a:lnTo>
                  <a:pt x="2153" y="80642"/>
                </a:lnTo>
                <a:lnTo>
                  <a:pt x="960" y="74692"/>
                </a:lnTo>
                <a:lnTo>
                  <a:pt x="240" y="68625"/>
                </a:lnTo>
                <a:lnTo>
                  <a:pt x="0" y="62500"/>
                </a:lnTo>
                <a:lnTo>
                  <a:pt x="240" y="56375"/>
                </a:lnTo>
                <a:lnTo>
                  <a:pt x="960" y="50308"/>
                </a:lnTo>
                <a:lnTo>
                  <a:pt x="2153" y="44358"/>
                </a:lnTo>
                <a:lnTo>
                  <a:pt x="3807" y="38583"/>
                </a:lnTo>
                <a:lnTo>
                  <a:pt x="5907" y="33042"/>
                </a:lnTo>
                <a:lnTo>
                  <a:pt x="8427" y="27775"/>
                </a:lnTo>
                <a:lnTo>
                  <a:pt x="11347" y="22850"/>
                </a:lnTo>
                <a:lnTo>
                  <a:pt x="14647" y="18308"/>
                </a:lnTo>
                <a:lnTo>
                  <a:pt x="18280" y="14183"/>
                </a:lnTo>
                <a:lnTo>
                  <a:pt x="22220" y="10533"/>
                </a:lnTo>
                <a:lnTo>
                  <a:pt x="26433" y="7383"/>
                </a:lnTo>
                <a:lnTo>
                  <a:pt x="30867" y="4758"/>
                </a:lnTo>
                <a:lnTo>
                  <a:pt x="35487" y="2692"/>
                </a:lnTo>
                <a:lnTo>
                  <a:pt x="40247" y="1200"/>
                </a:lnTo>
                <a:lnTo>
                  <a:pt x="45100" y="300"/>
                </a:lnTo>
                <a:lnTo>
                  <a:pt x="50000" y="0"/>
                </a:lnTo>
                <a:lnTo>
                  <a:pt x="54900" y="300"/>
                </a:lnTo>
                <a:lnTo>
                  <a:pt x="59753" y="1200"/>
                </a:lnTo>
                <a:lnTo>
                  <a:pt x="64513" y="2692"/>
                </a:lnTo>
                <a:lnTo>
                  <a:pt x="69133" y="4758"/>
                </a:lnTo>
                <a:lnTo>
                  <a:pt x="73567" y="7383"/>
                </a:lnTo>
                <a:lnTo>
                  <a:pt x="77780" y="10533"/>
                </a:lnTo>
                <a:lnTo>
                  <a:pt x="81720" y="14183"/>
                </a:lnTo>
                <a:lnTo>
                  <a:pt x="85353" y="18308"/>
                </a:lnTo>
                <a:lnTo>
                  <a:pt x="88653" y="22850"/>
                </a:lnTo>
                <a:lnTo>
                  <a:pt x="91573" y="27775"/>
                </a:lnTo>
                <a:lnTo>
                  <a:pt x="94093" y="33042"/>
                </a:lnTo>
                <a:lnTo>
                  <a:pt x="96193" y="38583"/>
                </a:lnTo>
                <a:lnTo>
                  <a:pt x="97847" y="44358"/>
                </a:lnTo>
                <a:lnTo>
                  <a:pt x="99040" y="50308"/>
                </a:lnTo>
                <a:lnTo>
                  <a:pt x="99760" y="56375"/>
                </a:lnTo>
                <a:close/>
              </a:path>
            </a:pathLst>
          </a:custGeom>
          <a:solidFill>
            <a:srgbClr val="B8C5D1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49648-3"/>
          <p:cNvSpPr/>
          <p:nvPr/>
        </p:nvSpPr>
        <p:spPr>
          <a:xfrm>
            <a:off x="285750" y="285750"/>
            <a:ext cx="857250" cy="857250"/>
          </a:xfrm>
          <a:prstGeom prst="ellipse">
            <a:avLst/>
          </a:prstGeom>
          <a:solidFill>
            <a:srgbClr val="B8C5D1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489349666-6"/>
          <p:cNvSpPr/>
          <p:nvPr/>
        </p:nvSpPr>
        <p:spPr>
          <a:xfrm>
            <a:off x="514350" y="2391891"/>
            <a:ext cx="3238500" cy="15170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647" y="0"/>
                </a:moveTo>
                <a:lnTo>
                  <a:pt x="97353" y="0"/>
                </a:lnTo>
                <a:lnTo>
                  <a:pt x="97612" y="25"/>
                </a:lnTo>
                <a:lnTo>
                  <a:pt x="97871" y="107"/>
                </a:lnTo>
                <a:lnTo>
                  <a:pt x="98121" y="245"/>
                </a:lnTo>
                <a:lnTo>
                  <a:pt x="98365" y="434"/>
                </a:lnTo>
                <a:lnTo>
                  <a:pt x="98600" y="667"/>
                </a:lnTo>
                <a:lnTo>
                  <a:pt x="98824" y="956"/>
                </a:lnTo>
                <a:lnTo>
                  <a:pt x="99032" y="1283"/>
                </a:lnTo>
                <a:lnTo>
                  <a:pt x="99224" y="1660"/>
                </a:lnTo>
                <a:lnTo>
                  <a:pt x="99400" y="2069"/>
                </a:lnTo>
                <a:lnTo>
                  <a:pt x="99553" y="2516"/>
                </a:lnTo>
                <a:lnTo>
                  <a:pt x="99688" y="2994"/>
                </a:lnTo>
                <a:lnTo>
                  <a:pt x="99797" y="3497"/>
                </a:lnTo>
                <a:lnTo>
                  <a:pt x="99885" y="4019"/>
                </a:lnTo>
                <a:lnTo>
                  <a:pt x="99950" y="4553"/>
                </a:lnTo>
                <a:lnTo>
                  <a:pt x="99988" y="5107"/>
                </a:lnTo>
                <a:lnTo>
                  <a:pt x="100000" y="5660"/>
                </a:lnTo>
                <a:lnTo>
                  <a:pt x="100000" y="94340"/>
                </a:lnTo>
                <a:lnTo>
                  <a:pt x="99988" y="94893"/>
                </a:lnTo>
                <a:lnTo>
                  <a:pt x="99950" y="95447"/>
                </a:lnTo>
                <a:lnTo>
                  <a:pt x="99885" y="95981"/>
                </a:lnTo>
                <a:lnTo>
                  <a:pt x="99797" y="96503"/>
                </a:lnTo>
                <a:lnTo>
                  <a:pt x="99688" y="97006"/>
                </a:lnTo>
                <a:lnTo>
                  <a:pt x="99553" y="97484"/>
                </a:lnTo>
                <a:lnTo>
                  <a:pt x="99400" y="97931"/>
                </a:lnTo>
                <a:lnTo>
                  <a:pt x="99224" y="98340"/>
                </a:lnTo>
                <a:lnTo>
                  <a:pt x="99032" y="98717"/>
                </a:lnTo>
                <a:lnTo>
                  <a:pt x="98824" y="99044"/>
                </a:lnTo>
                <a:lnTo>
                  <a:pt x="98600" y="99333"/>
                </a:lnTo>
                <a:lnTo>
                  <a:pt x="98365" y="99566"/>
                </a:lnTo>
                <a:lnTo>
                  <a:pt x="98121" y="99755"/>
                </a:lnTo>
                <a:lnTo>
                  <a:pt x="97871" y="99893"/>
                </a:lnTo>
                <a:lnTo>
                  <a:pt x="97612" y="99975"/>
                </a:lnTo>
                <a:lnTo>
                  <a:pt x="97353" y="100000"/>
                </a:lnTo>
                <a:lnTo>
                  <a:pt x="2647" y="100000"/>
                </a:lnTo>
                <a:lnTo>
                  <a:pt x="2388" y="99975"/>
                </a:lnTo>
                <a:lnTo>
                  <a:pt x="2129" y="99893"/>
                </a:lnTo>
                <a:lnTo>
                  <a:pt x="1879" y="99755"/>
                </a:lnTo>
                <a:lnTo>
                  <a:pt x="1635" y="99566"/>
                </a:lnTo>
                <a:lnTo>
                  <a:pt x="1400" y="99333"/>
                </a:lnTo>
                <a:lnTo>
                  <a:pt x="1176" y="99044"/>
                </a:lnTo>
                <a:lnTo>
                  <a:pt x="968" y="98717"/>
                </a:lnTo>
                <a:lnTo>
                  <a:pt x="776" y="98340"/>
                </a:lnTo>
                <a:lnTo>
                  <a:pt x="600" y="97931"/>
                </a:lnTo>
                <a:lnTo>
                  <a:pt x="447" y="97484"/>
                </a:lnTo>
                <a:lnTo>
                  <a:pt x="312" y="97006"/>
                </a:lnTo>
                <a:lnTo>
                  <a:pt x="203" y="96503"/>
                </a:lnTo>
                <a:lnTo>
                  <a:pt x="115" y="95981"/>
                </a:lnTo>
                <a:lnTo>
                  <a:pt x="50" y="95447"/>
                </a:lnTo>
                <a:lnTo>
                  <a:pt x="12" y="94893"/>
                </a:lnTo>
                <a:lnTo>
                  <a:pt x="0" y="94340"/>
                </a:lnTo>
                <a:lnTo>
                  <a:pt x="0" y="5660"/>
                </a:lnTo>
                <a:lnTo>
                  <a:pt x="12" y="5107"/>
                </a:lnTo>
                <a:lnTo>
                  <a:pt x="50" y="4553"/>
                </a:lnTo>
                <a:lnTo>
                  <a:pt x="115" y="4019"/>
                </a:lnTo>
                <a:lnTo>
                  <a:pt x="203" y="3497"/>
                </a:lnTo>
                <a:lnTo>
                  <a:pt x="312" y="2994"/>
                </a:lnTo>
                <a:lnTo>
                  <a:pt x="447" y="2516"/>
                </a:lnTo>
                <a:lnTo>
                  <a:pt x="600" y="2069"/>
                </a:lnTo>
                <a:lnTo>
                  <a:pt x="776" y="1660"/>
                </a:lnTo>
                <a:lnTo>
                  <a:pt x="968" y="1283"/>
                </a:lnTo>
                <a:lnTo>
                  <a:pt x="1176" y="956"/>
                </a:lnTo>
                <a:lnTo>
                  <a:pt x="1400" y="667"/>
                </a:lnTo>
                <a:lnTo>
                  <a:pt x="1635" y="434"/>
                </a:lnTo>
                <a:lnTo>
                  <a:pt x="1879" y="245"/>
                </a:lnTo>
                <a:lnTo>
                  <a:pt x="2129" y="107"/>
                </a:lnTo>
                <a:lnTo>
                  <a:pt x="2388" y="25"/>
                </a:lnTo>
                <a:lnTo>
                  <a:pt x="2647" y="0"/>
                </a:lnTo>
                <a:close/>
              </a:path>
            </a:pathLst>
          </a:custGeom>
          <a:solidFill>
            <a:srgbClr val="F5E6E8"/>
          </a:solidFill>
          <a:ln>
            <a:noFill/>
          </a:ln>
          <a:effectLst>
            <a:outerShdw blurRad="42863" dist="28575" dir="5400000" algn="ctr">
              <a:srgbClr val="000000">
                <a:alpha val="4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el-1785489349670-7"/>
          <p:cNvSpPr/>
          <p:nvPr/>
        </p:nvSpPr>
        <p:spPr>
          <a:xfrm>
            <a:off x="514350" y="2391891"/>
            <a:ext cx="85725" cy="15170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27"/>
                </a:lnTo>
                <a:lnTo>
                  <a:pt x="80491" y="109"/>
                </a:lnTo>
                <a:lnTo>
                  <a:pt x="70972" y="243"/>
                </a:lnTo>
                <a:lnTo>
                  <a:pt x="61732" y="430"/>
                </a:lnTo>
                <a:lnTo>
                  <a:pt x="52860" y="667"/>
                </a:lnTo>
                <a:lnTo>
                  <a:pt x="44443" y="952"/>
                </a:lnTo>
                <a:lnTo>
                  <a:pt x="36561" y="1283"/>
                </a:lnTo>
                <a:lnTo>
                  <a:pt x="29289" y="1655"/>
                </a:lnTo>
                <a:lnTo>
                  <a:pt x="22699" y="2066"/>
                </a:lnTo>
                <a:lnTo>
                  <a:pt x="16853" y="2511"/>
                </a:lnTo>
                <a:lnTo>
                  <a:pt x="11808" y="2987"/>
                </a:lnTo>
                <a:lnTo>
                  <a:pt x="7612" y="3488"/>
                </a:lnTo>
                <a:lnTo>
                  <a:pt x="4306" y="4011"/>
                </a:lnTo>
                <a:lnTo>
                  <a:pt x="1921" y="4548"/>
                </a:lnTo>
                <a:lnTo>
                  <a:pt x="482" y="5097"/>
                </a:lnTo>
                <a:lnTo>
                  <a:pt x="0" y="5651"/>
                </a:lnTo>
                <a:lnTo>
                  <a:pt x="0" y="94349"/>
                </a:lnTo>
                <a:lnTo>
                  <a:pt x="482" y="94903"/>
                </a:lnTo>
                <a:lnTo>
                  <a:pt x="1921" y="95452"/>
                </a:lnTo>
                <a:lnTo>
                  <a:pt x="4306" y="95989"/>
                </a:lnTo>
                <a:lnTo>
                  <a:pt x="7612" y="96512"/>
                </a:lnTo>
                <a:lnTo>
                  <a:pt x="11808" y="97013"/>
                </a:lnTo>
                <a:lnTo>
                  <a:pt x="16853" y="97489"/>
                </a:lnTo>
                <a:lnTo>
                  <a:pt x="22699" y="97934"/>
                </a:lnTo>
                <a:lnTo>
                  <a:pt x="29289" y="98345"/>
                </a:lnTo>
                <a:lnTo>
                  <a:pt x="36561" y="98717"/>
                </a:lnTo>
                <a:lnTo>
                  <a:pt x="44443" y="99048"/>
                </a:lnTo>
                <a:lnTo>
                  <a:pt x="52860" y="99333"/>
                </a:lnTo>
                <a:lnTo>
                  <a:pt x="61732" y="99570"/>
                </a:lnTo>
                <a:lnTo>
                  <a:pt x="70972" y="99757"/>
                </a:lnTo>
                <a:lnTo>
                  <a:pt x="80491" y="99891"/>
                </a:lnTo>
                <a:lnTo>
                  <a:pt x="90198" y="99973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3466" y="99973"/>
                </a:lnTo>
                <a:lnTo>
                  <a:pt x="86994" y="99891"/>
                </a:lnTo>
                <a:lnTo>
                  <a:pt x="80648" y="99757"/>
                </a:lnTo>
                <a:lnTo>
                  <a:pt x="74488" y="99570"/>
                </a:lnTo>
                <a:lnTo>
                  <a:pt x="68574" y="99333"/>
                </a:lnTo>
                <a:lnTo>
                  <a:pt x="62962" y="99048"/>
                </a:lnTo>
                <a:lnTo>
                  <a:pt x="57707" y="98717"/>
                </a:lnTo>
                <a:lnTo>
                  <a:pt x="52860" y="98345"/>
                </a:lnTo>
                <a:lnTo>
                  <a:pt x="48466" y="97934"/>
                </a:lnTo>
                <a:lnTo>
                  <a:pt x="44569" y="97489"/>
                </a:lnTo>
                <a:lnTo>
                  <a:pt x="41205" y="97013"/>
                </a:lnTo>
                <a:lnTo>
                  <a:pt x="38408" y="96512"/>
                </a:lnTo>
                <a:lnTo>
                  <a:pt x="36204" y="95989"/>
                </a:lnTo>
                <a:lnTo>
                  <a:pt x="34614" y="95452"/>
                </a:lnTo>
                <a:lnTo>
                  <a:pt x="33654" y="94903"/>
                </a:lnTo>
                <a:lnTo>
                  <a:pt x="33333" y="94349"/>
                </a:lnTo>
                <a:lnTo>
                  <a:pt x="33333" y="5651"/>
                </a:lnTo>
                <a:lnTo>
                  <a:pt x="33654" y="5097"/>
                </a:lnTo>
                <a:lnTo>
                  <a:pt x="34614" y="4548"/>
                </a:lnTo>
                <a:lnTo>
                  <a:pt x="36204" y="4011"/>
                </a:lnTo>
                <a:lnTo>
                  <a:pt x="38408" y="3488"/>
                </a:lnTo>
                <a:lnTo>
                  <a:pt x="41205" y="2987"/>
                </a:lnTo>
                <a:lnTo>
                  <a:pt x="44569" y="2511"/>
                </a:lnTo>
                <a:lnTo>
                  <a:pt x="48466" y="2066"/>
                </a:lnTo>
                <a:lnTo>
                  <a:pt x="52860" y="1655"/>
                </a:lnTo>
                <a:lnTo>
                  <a:pt x="57707" y="1283"/>
                </a:lnTo>
                <a:lnTo>
                  <a:pt x="62962" y="952"/>
                </a:lnTo>
                <a:lnTo>
                  <a:pt x="68574" y="667"/>
                </a:lnTo>
                <a:lnTo>
                  <a:pt x="74488" y="430"/>
                </a:lnTo>
                <a:lnTo>
                  <a:pt x="80648" y="243"/>
                </a:lnTo>
                <a:lnTo>
                  <a:pt x="86994" y="109"/>
                </a:lnTo>
                <a:lnTo>
                  <a:pt x="93466" y="27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489349683-10"/>
          <p:cNvSpPr/>
          <p:nvPr/>
        </p:nvSpPr>
        <p:spPr>
          <a:xfrm>
            <a:off x="4381500" y="657374"/>
            <a:ext cx="371475" cy="371475"/>
          </a:xfrm>
          <a:prstGeom prst="ellipse">
            <a:avLst/>
          </a:prstGeom>
          <a:solidFill>
            <a:srgbClr val="4A7C9B"/>
          </a:solidFill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el-1785489349687-13"/>
          <p:cNvSpPr/>
          <p:nvPr/>
        </p:nvSpPr>
        <p:spPr>
          <a:xfrm>
            <a:off x="4381500" y="1348829"/>
            <a:ext cx="371475" cy="371475"/>
          </a:xfrm>
          <a:prstGeom prst="ellipse">
            <a:avLst/>
          </a:prstGeom>
          <a:solidFill>
            <a:srgbClr val="4A7C9B"/>
          </a:solidFill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el-1785489349691-16"/>
          <p:cNvSpPr/>
          <p:nvPr/>
        </p:nvSpPr>
        <p:spPr>
          <a:xfrm>
            <a:off x="4381500" y="2040285"/>
            <a:ext cx="371475" cy="371475"/>
          </a:xfrm>
          <a:prstGeom prst="ellipse">
            <a:avLst/>
          </a:prstGeom>
          <a:solidFill>
            <a:srgbClr val="4A7C9B"/>
          </a:solidFill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el-1785489349695-19"/>
          <p:cNvSpPr/>
          <p:nvPr/>
        </p:nvSpPr>
        <p:spPr>
          <a:xfrm>
            <a:off x="4381500" y="2731740"/>
            <a:ext cx="371475" cy="371475"/>
          </a:xfrm>
          <a:prstGeom prst="ellipse">
            <a:avLst/>
          </a:prstGeom>
          <a:solidFill>
            <a:srgbClr val="4A7C9B"/>
          </a:solidFill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1" name="el-1785489349699-22"/>
          <p:cNvSpPr/>
          <p:nvPr/>
        </p:nvSpPr>
        <p:spPr>
          <a:xfrm>
            <a:off x="4381500" y="3423196"/>
            <a:ext cx="371475" cy="371475"/>
          </a:xfrm>
          <a:prstGeom prst="ellipse">
            <a:avLst/>
          </a:prstGeom>
          <a:solidFill>
            <a:srgbClr val="4A7C9B"/>
          </a:solidFill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el-1785489349703-25"/>
          <p:cNvSpPr/>
          <p:nvPr/>
        </p:nvSpPr>
        <p:spPr>
          <a:xfrm>
            <a:off x="4381500" y="4114651"/>
            <a:ext cx="371475" cy="371475"/>
          </a:xfrm>
          <a:prstGeom prst="ellipse">
            <a:avLst/>
          </a:prstGeom>
          <a:solidFill>
            <a:srgbClr val="4A7C9B"/>
          </a:solidFill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3" name="el-1785489349659-4"/>
          <p:cNvSpPr txBox="1"/>
          <p:nvPr/>
        </p:nvSpPr>
        <p:spPr>
          <a:xfrm>
            <a:off x="514350" y="1234604"/>
            <a:ext cx="3438525" cy="600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315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l-1785489349660-5"/>
          <p:cNvSpPr txBox="1"/>
          <p:nvPr/>
        </p:nvSpPr>
        <p:spPr>
          <a:xfrm>
            <a:off x="514350" y="1891829"/>
            <a:ext cx="330993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1120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l-1785489349679-8"/>
          <p:cNvSpPr txBox="1"/>
          <p:nvPr/>
        </p:nvSpPr>
        <p:spPr>
          <a:xfrm>
            <a:off x="771525" y="2591916"/>
            <a:ext cx="2752725" cy="11169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50"/>
              </a:lnSpc>
            </a:pPr>
            <a:r>
              <a:rPr sz="1030" spc="1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本项目围绕存算一体芯片模拟域</a:t>
            </a:r>
            <a:r>
              <a:rPr sz="1030" b="1" spc="10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MAC运算的非线性失真</a:t>
            </a:r>
            <a:r>
              <a:rPr sz="1030" spc="1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问题，基于三次多项式误差模型，系统研究了非线性强度对</a:t>
            </a:r>
            <a:r>
              <a:rPr sz="1030" b="1" spc="10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CNN推理精度</a:t>
            </a:r>
            <a:r>
              <a:rPr sz="1030" spc="1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的影响机制，提出了</a:t>
            </a:r>
            <a:r>
              <a:rPr sz="1030" b="1" spc="10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非线性感知训练</a:t>
            </a:r>
            <a:r>
              <a:rPr sz="1030" spc="1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030" b="1" spc="10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架构级鲁棒增强</a:t>
            </a:r>
            <a:r>
              <a:rPr sz="1030" spc="1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方法。</a:t>
            </a:r>
            <a:endParaRPr sz="1030" spc="1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l-1785489349680-9"/>
          <p:cNvSpPr txBox="1"/>
          <p:nvPr/>
        </p:nvSpPr>
        <p:spPr>
          <a:xfrm>
            <a:off x="4302919" y="734764"/>
            <a:ext cx="528638" cy="209550"/>
          </a:xfrm>
          <a:prstGeom prst="rect">
            <a:avLst/>
          </a:prstGeom>
          <a:noFill/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23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49684-11"/>
          <p:cNvSpPr txBox="1"/>
          <p:nvPr/>
        </p:nvSpPr>
        <p:spPr>
          <a:xfrm>
            <a:off x="5004420" y="701650"/>
            <a:ext cx="1791236" cy="2828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8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研究背景与问题定义</a:t>
            </a:r>
            <a:endParaRPr sz="148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49684-12"/>
          <p:cNvSpPr txBox="1"/>
          <p:nvPr/>
        </p:nvSpPr>
        <p:spPr>
          <a:xfrm>
            <a:off x="4302919" y="1426220"/>
            <a:ext cx="528638" cy="209550"/>
          </a:xfrm>
          <a:prstGeom prst="rect">
            <a:avLst/>
          </a:prstGeom>
          <a:noFill/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23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49688-14"/>
          <p:cNvSpPr txBox="1"/>
          <p:nvPr/>
        </p:nvSpPr>
        <p:spPr>
          <a:xfrm>
            <a:off x="5004420" y="1393106"/>
            <a:ext cx="1225615" cy="2828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8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核心技术原理</a:t>
            </a:r>
            <a:endParaRPr sz="148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49688-15"/>
          <p:cNvSpPr txBox="1"/>
          <p:nvPr/>
        </p:nvSpPr>
        <p:spPr>
          <a:xfrm>
            <a:off x="4302919" y="2117675"/>
            <a:ext cx="528638" cy="209550"/>
          </a:xfrm>
          <a:prstGeom prst="rect">
            <a:avLst/>
          </a:prstGeom>
          <a:noFill/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3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49692-17"/>
          <p:cNvSpPr txBox="1"/>
          <p:nvPr/>
        </p:nvSpPr>
        <p:spPr>
          <a:xfrm>
            <a:off x="5004420" y="2084561"/>
            <a:ext cx="1414180" cy="2828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8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实验设计与方法</a:t>
            </a:r>
            <a:endParaRPr sz="148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49692-18"/>
          <p:cNvSpPr txBox="1"/>
          <p:nvPr/>
        </p:nvSpPr>
        <p:spPr>
          <a:xfrm>
            <a:off x="4302919" y="2809131"/>
            <a:ext cx="528638" cy="209550"/>
          </a:xfrm>
          <a:prstGeom prst="rect">
            <a:avLst/>
          </a:prstGeom>
          <a:noFill/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3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49696-20"/>
          <p:cNvSpPr txBox="1"/>
          <p:nvPr/>
        </p:nvSpPr>
        <p:spPr>
          <a:xfrm>
            <a:off x="5004420" y="2776017"/>
            <a:ext cx="1791236" cy="2828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8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核心实验结果与分析</a:t>
            </a:r>
            <a:endParaRPr sz="148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49696-21"/>
          <p:cNvSpPr txBox="1"/>
          <p:nvPr/>
        </p:nvSpPr>
        <p:spPr>
          <a:xfrm>
            <a:off x="4302919" y="3500586"/>
            <a:ext cx="528638" cy="209550"/>
          </a:xfrm>
          <a:prstGeom prst="rect">
            <a:avLst/>
          </a:prstGeom>
          <a:noFill/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23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49699-23"/>
          <p:cNvSpPr txBox="1"/>
          <p:nvPr/>
        </p:nvSpPr>
        <p:spPr>
          <a:xfrm>
            <a:off x="5004420" y="3467472"/>
            <a:ext cx="1602745" cy="2828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8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创新点与工程启示</a:t>
            </a:r>
            <a:endParaRPr sz="148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49700-24"/>
          <p:cNvSpPr txBox="1"/>
          <p:nvPr/>
        </p:nvSpPr>
        <p:spPr>
          <a:xfrm>
            <a:off x="4302919" y="4192042"/>
            <a:ext cx="528638" cy="209550"/>
          </a:xfrm>
          <a:prstGeom prst="rect">
            <a:avLst/>
          </a:prstGeom>
          <a:noFill/>
          <a:ln>
            <a:noFill/>
          </a:ln>
          <a:effectLst>
            <a:outerShdw blurRad="42863" dist="14288" dir="5400000" algn="ctr">
              <a:srgbClr val="4A7C9B">
                <a:alpha val="2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23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49703-26"/>
          <p:cNvSpPr txBox="1"/>
          <p:nvPr/>
        </p:nvSpPr>
        <p:spPr>
          <a:xfrm>
            <a:off x="5004420" y="4158928"/>
            <a:ext cx="1037049" cy="2828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8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总结与展望</a:t>
            </a:r>
            <a:endParaRPr sz="148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49757-6"/>
          <p:cNvSpPr/>
          <p:nvPr/>
        </p:nvSpPr>
        <p:spPr>
          <a:xfrm>
            <a:off x="0" y="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27500"/>
                </a:moveTo>
                <a:lnTo>
                  <a:pt x="99650" y="34607"/>
                </a:lnTo>
                <a:lnTo>
                  <a:pt x="98607" y="41643"/>
                </a:lnTo>
                <a:lnTo>
                  <a:pt x="96877" y="48547"/>
                </a:lnTo>
                <a:lnTo>
                  <a:pt x="94480" y="55243"/>
                </a:lnTo>
                <a:lnTo>
                  <a:pt x="91440" y="61677"/>
                </a:lnTo>
                <a:lnTo>
                  <a:pt x="87780" y="67780"/>
                </a:lnTo>
                <a:lnTo>
                  <a:pt x="83543" y="73493"/>
                </a:lnTo>
                <a:lnTo>
                  <a:pt x="78767" y="78767"/>
                </a:lnTo>
                <a:lnTo>
                  <a:pt x="73493" y="83543"/>
                </a:lnTo>
                <a:lnTo>
                  <a:pt x="67780" y="87780"/>
                </a:lnTo>
                <a:lnTo>
                  <a:pt x="61677" y="91440"/>
                </a:lnTo>
                <a:lnTo>
                  <a:pt x="55243" y="94480"/>
                </a:lnTo>
                <a:lnTo>
                  <a:pt x="48547" y="96877"/>
                </a:lnTo>
                <a:lnTo>
                  <a:pt x="41643" y="98607"/>
                </a:lnTo>
                <a:lnTo>
                  <a:pt x="34607" y="99650"/>
                </a:lnTo>
                <a:lnTo>
                  <a:pt x="27500" y="100000"/>
                </a:lnTo>
                <a:lnTo>
                  <a:pt x="20393" y="99650"/>
                </a:lnTo>
                <a:lnTo>
                  <a:pt x="13357" y="98607"/>
                </a:lnTo>
                <a:lnTo>
                  <a:pt x="6453" y="96877"/>
                </a:lnTo>
                <a:lnTo>
                  <a:pt x="0" y="94567"/>
                </a:lnTo>
                <a:lnTo>
                  <a:pt x="0" y="0"/>
                </a:lnTo>
                <a:lnTo>
                  <a:pt x="94567" y="0"/>
                </a:lnTo>
                <a:lnTo>
                  <a:pt x="96877" y="6453"/>
                </a:lnTo>
                <a:lnTo>
                  <a:pt x="98607" y="13357"/>
                </a:lnTo>
                <a:lnTo>
                  <a:pt x="99650" y="20393"/>
                </a:lnTo>
                <a:close/>
              </a:path>
            </a:pathLst>
          </a:custGeom>
          <a:solidFill>
            <a:srgbClr val="B8C5D1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49760-7"/>
          <p:cNvSpPr/>
          <p:nvPr/>
        </p:nvSpPr>
        <p:spPr>
          <a:xfrm>
            <a:off x="5715000" y="17145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100000"/>
                </a:moveTo>
                <a:lnTo>
                  <a:pt x="6367" y="100000"/>
                </a:lnTo>
                <a:lnTo>
                  <a:pt x="5392" y="97939"/>
                </a:lnTo>
                <a:lnTo>
                  <a:pt x="3050" y="91394"/>
                </a:lnTo>
                <a:lnTo>
                  <a:pt x="1361" y="84653"/>
                </a:lnTo>
                <a:lnTo>
                  <a:pt x="342" y="77775"/>
                </a:lnTo>
                <a:lnTo>
                  <a:pt x="0" y="70833"/>
                </a:lnTo>
                <a:lnTo>
                  <a:pt x="342" y="63892"/>
                </a:lnTo>
                <a:lnTo>
                  <a:pt x="1361" y="57014"/>
                </a:lnTo>
                <a:lnTo>
                  <a:pt x="3050" y="50272"/>
                </a:lnTo>
                <a:lnTo>
                  <a:pt x="5392" y="43728"/>
                </a:lnTo>
                <a:lnTo>
                  <a:pt x="8364" y="37442"/>
                </a:lnTo>
                <a:lnTo>
                  <a:pt x="11939" y="31481"/>
                </a:lnTo>
                <a:lnTo>
                  <a:pt x="16078" y="25897"/>
                </a:lnTo>
                <a:lnTo>
                  <a:pt x="20747" y="20747"/>
                </a:lnTo>
                <a:lnTo>
                  <a:pt x="25897" y="16078"/>
                </a:lnTo>
                <a:lnTo>
                  <a:pt x="31481" y="11939"/>
                </a:lnTo>
                <a:lnTo>
                  <a:pt x="37442" y="8364"/>
                </a:lnTo>
                <a:lnTo>
                  <a:pt x="43728" y="5392"/>
                </a:lnTo>
                <a:lnTo>
                  <a:pt x="50272" y="3050"/>
                </a:lnTo>
                <a:lnTo>
                  <a:pt x="57014" y="1361"/>
                </a:lnTo>
                <a:lnTo>
                  <a:pt x="63892" y="342"/>
                </a:lnTo>
                <a:lnTo>
                  <a:pt x="70833" y="0"/>
                </a:lnTo>
                <a:lnTo>
                  <a:pt x="77775" y="342"/>
                </a:lnTo>
                <a:lnTo>
                  <a:pt x="84653" y="1361"/>
                </a:lnTo>
                <a:lnTo>
                  <a:pt x="91394" y="3050"/>
                </a:lnTo>
                <a:lnTo>
                  <a:pt x="97939" y="5392"/>
                </a:lnTo>
                <a:lnTo>
                  <a:pt x="100000" y="6367"/>
                </a:lnTo>
                <a:close/>
              </a:path>
            </a:pathLst>
          </a:custGeom>
          <a:solidFill>
            <a:srgbClr val="F0E4E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49762-8"/>
          <p:cNvSpPr/>
          <p:nvPr/>
        </p:nvSpPr>
        <p:spPr>
          <a:xfrm>
            <a:off x="3586163" y="600075"/>
            <a:ext cx="3286125" cy="3286125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489349764-9"/>
          <p:cNvSpPr/>
          <p:nvPr/>
        </p:nvSpPr>
        <p:spPr>
          <a:xfrm>
            <a:off x="7189515" y="1131540"/>
            <a:ext cx="857250" cy="857250"/>
          </a:xfrm>
          <a:prstGeom prst="ellipse">
            <a:avLst/>
          </a:prstGeom>
          <a:solidFill>
            <a:srgbClr val="B8C5D1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489349766-10"/>
          <p:cNvSpPr/>
          <p:nvPr/>
        </p:nvSpPr>
        <p:spPr>
          <a:xfrm>
            <a:off x="914400" y="3646215"/>
            <a:ext cx="571500" cy="571500"/>
          </a:xfrm>
          <a:prstGeom prst="ellipse">
            <a:avLst/>
          </a:prstGeom>
          <a:solidFill>
            <a:srgbClr val="B8C5D1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489349747-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063" y="38889"/>
                </a:moveTo>
                <a:cubicBezTo>
                  <a:pt x="23438" y="24074"/>
                  <a:pt x="35417" y="26852"/>
                  <a:pt x="50000" y="47222"/>
                </a:cubicBezTo>
                <a:cubicBezTo>
                  <a:pt x="64583" y="67593"/>
                  <a:pt x="77083" y="64815"/>
                  <a:pt x="87500" y="38889"/>
                </a:cubicBezTo>
              </a:path>
            </a:pathLst>
          </a:custGeom>
          <a:noFill/>
          <a:ln w="17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489349748-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813" y="66667"/>
                </a:moveTo>
                <a:cubicBezTo>
                  <a:pt x="18229" y="53704"/>
                  <a:pt x="30208" y="55556"/>
                  <a:pt x="43750" y="72222"/>
                </a:cubicBezTo>
                <a:cubicBezTo>
                  <a:pt x="57292" y="88889"/>
                  <a:pt x="73438" y="83333"/>
                  <a:pt x="92188" y="55556"/>
                </a:cubicBezTo>
              </a:path>
            </a:pathLst>
          </a:custGeom>
          <a:noFill/>
          <a:ln w="12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489349747-1"/>
          <p:cNvCxnSpPr/>
          <p:nvPr/>
        </p:nvCxnSpPr>
        <p:spPr>
          <a:xfrm>
            <a:off x="400050" y="4911328"/>
            <a:ext cx="8343900" cy="914"/>
          </a:xfrm>
          <a:prstGeom prst="line">
            <a:avLst/>
          </a:prstGeom>
          <a:ln w="9525" cap="flat">
            <a:solidFill>
              <a:srgbClr val="D8D8D8">
                <a:alpha val="5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49776-13"/>
          <p:cNvSpPr/>
          <p:nvPr/>
        </p:nvSpPr>
        <p:spPr>
          <a:xfrm>
            <a:off x="4143375" y="3409131"/>
            <a:ext cx="857250" cy="21431"/>
          </a:xfrm>
          <a:prstGeom prst="roundRect">
            <a:avLst>
              <a:gd name="adj" fmla="val 50000"/>
            </a:avLst>
          </a:prstGeom>
          <a:solidFill>
            <a:srgbClr val="4A7C9B">
              <a:alpha val="6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49771-11"/>
          <p:cNvSpPr txBox="1"/>
          <p:nvPr/>
        </p:nvSpPr>
        <p:spPr>
          <a:xfrm>
            <a:off x="3580358" y="1712937"/>
            <a:ext cx="198320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50" b="1" spc="270">
                <a:solidFill>
                  <a:srgbClr val="4A7C9B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6750" b="1" spc="270">
              <a:solidFill>
                <a:srgbClr val="4A7C9B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l-1785489349772-12"/>
          <p:cNvSpPr txBox="1"/>
          <p:nvPr/>
        </p:nvSpPr>
        <p:spPr>
          <a:xfrm>
            <a:off x="2278380" y="2764483"/>
            <a:ext cx="4587240" cy="4160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510" b="1" spc="5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第一章 · 研究背景与问题定义</a:t>
            </a:r>
            <a:endParaRPr sz="2510" b="1" spc="5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l-1785489349753-5"/>
          <p:cNvSpPr/>
          <p:nvPr/>
        </p:nvSpPr>
        <p:spPr>
          <a:xfrm>
            <a:off x="285750" y="200025"/>
            <a:ext cx="1883048" cy="260747"/>
          </a:xfrm>
          <a:prstGeom prst="roundRect">
            <a:avLst>
              <a:gd name="adj" fmla="val 50000"/>
            </a:avLst>
          </a:prstGeom>
          <a:solidFill>
            <a:srgbClr val="FFFFFF">
              <a:alpha val="37500"/>
            </a:srgbClr>
          </a:solidFill>
          <a:ln w="7144" algn="in">
            <a:solidFill>
              <a:srgbClr val="4A7C9B">
                <a:alpha val="1125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489350755-50"/>
          <p:cNvSpPr/>
          <p:nvPr/>
        </p:nvSpPr>
        <p:spPr>
          <a:xfrm>
            <a:off x="421481" y="288131"/>
            <a:ext cx="92869" cy="928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3500" y="4600"/>
                </a:moveTo>
                <a:lnTo>
                  <a:pt x="33500" y="4600"/>
                </a:lnTo>
                <a:cubicBezTo>
                  <a:pt x="33233" y="1800"/>
                  <a:pt x="31700" y="267"/>
                  <a:pt x="28900" y="0"/>
                </a:cubicBezTo>
                <a:lnTo>
                  <a:pt x="28900" y="0"/>
                </a:lnTo>
                <a:cubicBezTo>
                  <a:pt x="26167" y="267"/>
                  <a:pt x="24667" y="1800"/>
                  <a:pt x="24400" y="4600"/>
                </a:cubicBezTo>
                <a:lnTo>
                  <a:pt x="24400" y="4600"/>
                </a:lnTo>
                <a:lnTo>
                  <a:pt x="24400" y="12200"/>
                </a:lnTo>
                <a:cubicBezTo>
                  <a:pt x="20933" y="12333"/>
                  <a:pt x="18067" y="13533"/>
                  <a:pt x="15800" y="15800"/>
                </a:cubicBezTo>
                <a:lnTo>
                  <a:pt x="15800" y="15800"/>
                </a:lnTo>
                <a:cubicBezTo>
                  <a:pt x="13533" y="18067"/>
                  <a:pt x="12333" y="20933"/>
                  <a:pt x="12200" y="24400"/>
                </a:cubicBezTo>
                <a:lnTo>
                  <a:pt x="12200" y="24400"/>
                </a:lnTo>
                <a:lnTo>
                  <a:pt x="4600" y="24400"/>
                </a:lnTo>
                <a:cubicBezTo>
                  <a:pt x="1800" y="24667"/>
                  <a:pt x="267" y="26167"/>
                  <a:pt x="0" y="28900"/>
                </a:cubicBezTo>
                <a:lnTo>
                  <a:pt x="0" y="28900"/>
                </a:lnTo>
                <a:cubicBezTo>
                  <a:pt x="267" y="31700"/>
                  <a:pt x="1800" y="33233"/>
                  <a:pt x="4600" y="33500"/>
                </a:cubicBezTo>
                <a:lnTo>
                  <a:pt x="4600" y="33500"/>
                </a:lnTo>
                <a:lnTo>
                  <a:pt x="12200" y="33500"/>
                </a:lnTo>
                <a:lnTo>
                  <a:pt x="12200" y="44200"/>
                </a:lnTo>
                <a:lnTo>
                  <a:pt x="4600" y="44200"/>
                </a:lnTo>
                <a:cubicBezTo>
                  <a:pt x="1800" y="44467"/>
                  <a:pt x="267" y="46000"/>
                  <a:pt x="0" y="48800"/>
                </a:cubicBezTo>
                <a:lnTo>
                  <a:pt x="0" y="48800"/>
                </a:lnTo>
                <a:cubicBezTo>
                  <a:pt x="267" y="51533"/>
                  <a:pt x="1800" y="53033"/>
                  <a:pt x="4600" y="53300"/>
                </a:cubicBezTo>
                <a:lnTo>
                  <a:pt x="4600" y="53300"/>
                </a:lnTo>
                <a:lnTo>
                  <a:pt x="12200" y="53300"/>
                </a:lnTo>
                <a:lnTo>
                  <a:pt x="12200" y="64000"/>
                </a:lnTo>
                <a:lnTo>
                  <a:pt x="4600" y="64000"/>
                </a:lnTo>
                <a:cubicBezTo>
                  <a:pt x="1800" y="64267"/>
                  <a:pt x="267" y="65800"/>
                  <a:pt x="0" y="68600"/>
                </a:cubicBezTo>
                <a:lnTo>
                  <a:pt x="0" y="68600"/>
                </a:lnTo>
                <a:cubicBezTo>
                  <a:pt x="267" y="71333"/>
                  <a:pt x="1800" y="72833"/>
                  <a:pt x="4600" y="73100"/>
                </a:cubicBezTo>
                <a:lnTo>
                  <a:pt x="4600" y="73100"/>
                </a:lnTo>
                <a:lnTo>
                  <a:pt x="12200" y="73100"/>
                </a:lnTo>
                <a:cubicBezTo>
                  <a:pt x="12333" y="76567"/>
                  <a:pt x="13533" y="79433"/>
                  <a:pt x="15800" y="81700"/>
                </a:cubicBezTo>
                <a:lnTo>
                  <a:pt x="15800" y="81700"/>
                </a:lnTo>
                <a:cubicBezTo>
                  <a:pt x="18067" y="83967"/>
                  <a:pt x="20933" y="85167"/>
                  <a:pt x="24400" y="85300"/>
                </a:cubicBezTo>
                <a:lnTo>
                  <a:pt x="24400" y="85300"/>
                </a:lnTo>
                <a:lnTo>
                  <a:pt x="24400" y="92900"/>
                </a:lnTo>
                <a:cubicBezTo>
                  <a:pt x="24667" y="95700"/>
                  <a:pt x="26167" y="97233"/>
                  <a:pt x="28900" y="97500"/>
                </a:cubicBezTo>
                <a:lnTo>
                  <a:pt x="28900" y="97500"/>
                </a:lnTo>
                <a:cubicBezTo>
                  <a:pt x="31700" y="97233"/>
                  <a:pt x="33233" y="95700"/>
                  <a:pt x="33500" y="92900"/>
                </a:cubicBezTo>
                <a:lnTo>
                  <a:pt x="33500" y="92900"/>
                </a:lnTo>
                <a:lnTo>
                  <a:pt x="33500" y="85300"/>
                </a:lnTo>
                <a:lnTo>
                  <a:pt x="44200" y="85300"/>
                </a:lnTo>
                <a:lnTo>
                  <a:pt x="44200" y="92900"/>
                </a:lnTo>
                <a:cubicBezTo>
                  <a:pt x="44467" y="95700"/>
                  <a:pt x="46000" y="97233"/>
                  <a:pt x="48800" y="97500"/>
                </a:cubicBezTo>
                <a:lnTo>
                  <a:pt x="48800" y="97500"/>
                </a:lnTo>
                <a:cubicBezTo>
                  <a:pt x="51533" y="97233"/>
                  <a:pt x="53033" y="95700"/>
                  <a:pt x="53300" y="92900"/>
                </a:cubicBezTo>
                <a:lnTo>
                  <a:pt x="53300" y="92900"/>
                </a:lnTo>
                <a:lnTo>
                  <a:pt x="53300" y="85300"/>
                </a:lnTo>
                <a:lnTo>
                  <a:pt x="64000" y="85300"/>
                </a:lnTo>
                <a:lnTo>
                  <a:pt x="64000" y="92900"/>
                </a:lnTo>
                <a:cubicBezTo>
                  <a:pt x="64267" y="95700"/>
                  <a:pt x="65800" y="97233"/>
                  <a:pt x="68600" y="97500"/>
                </a:cubicBezTo>
                <a:lnTo>
                  <a:pt x="68600" y="97500"/>
                </a:lnTo>
                <a:cubicBezTo>
                  <a:pt x="71333" y="97233"/>
                  <a:pt x="72833" y="95700"/>
                  <a:pt x="73100" y="92900"/>
                </a:cubicBezTo>
                <a:lnTo>
                  <a:pt x="73100" y="92900"/>
                </a:lnTo>
                <a:lnTo>
                  <a:pt x="73100" y="85300"/>
                </a:lnTo>
                <a:cubicBezTo>
                  <a:pt x="76567" y="85167"/>
                  <a:pt x="79433" y="83967"/>
                  <a:pt x="81700" y="81700"/>
                </a:cubicBezTo>
                <a:lnTo>
                  <a:pt x="81700" y="81700"/>
                </a:lnTo>
                <a:cubicBezTo>
                  <a:pt x="83967" y="79433"/>
                  <a:pt x="85167" y="76567"/>
                  <a:pt x="85300" y="73100"/>
                </a:cubicBezTo>
                <a:lnTo>
                  <a:pt x="85300" y="73100"/>
                </a:lnTo>
                <a:lnTo>
                  <a:pt x="92900" y="73100"/>
                </a:lnTo>
                <a:cubicBezTo>
                  <a:pt x="95700" y="72833"/>
                  <a:pt x="97233" y="71333"/>
                  <a:pt x="97500" y="68600"/>
                </a:cubicBezTo>
                <a:lnTo>
                  <a:pt x="97500" y="68600"/>
                </a:lnTo>
                <a:cubicBezTo>
                  <a:pt x="97233" y="65800"/>
                  <a:pt x="95700" y="64267"/>
                  <a:pt x="92900" y="64000"/>
                </a:cubicBezTo>
                <a:lnTo>
                  <a:pt x="92900" y="64000"/>
                </a:lnTo>
                <a:lnTo>
                  <a:pt x="85300" y="64000"/>
                </a:lnTo>
                <a:lnTo>
                  <a:pt x="85300" y="53300"/>
                </a:lnTo>
                <a:lnTo>
                  <a:pt x="92900" y="53300"/>
                </a:lnTo>
                <a:cubicBezTo>
                  <a:pt x="95700" y="53033"/>
                  <a:pt x="97233" y="51533"/>
                  <a:pt x="97500" y="48800"/>
                </a:cubicBezTo>
                <a:lnTo>
                  <a:pt x="97500" y="48800"/>
                </a:lnTo>
                <a:cubicBezTo>
                  <a:pt x="97233" y="46000"/>
                  <a:pt x="95700" y="44467"/>
                  <a:pt x="92900" y="44200"/>
                </a:cubicBezTo>
                <a:lnTo>
                  <a:pt x="92900" y="44200"/>
                </a:lnTo>
                <a:lnTo>
                  <a:pt x="85300" y="44200"/>
                </a:lnTo>
                <a:lnTo>
                  <a:pt x="85300" y="33500"/>
                </a:lnTo>
                <a:lnTo>
                  <a:pt x="92900" y="33500"/>
                </a:lnTo>
                <a:cubicBezTo>
                  <a:pt x="95700" y="33233"/>
                  <a:pt x="97233" y="31700"/>
                  <a:pt x="97500" y="28900"/>
                </a:cubicBezTo>
                <a:lnTo>
                  <a:pt x="97500" y="28900"/>
                </a:lnTo>
                <a:cubicBezTo>
                  <a:pt x="97233" y="26167"/>
                  <a:pt x="95700" y="24667"/>
                  <a:pt x="92900" y="24400"/>
                </a:cubicBezTo>
                <a:lnTo>
                  <a:pt x="92900" y="24400"/>
                </a:lnTo>
                <a:lnTo>
                  <a:pt x="85300" y="24400"/>
                </a:lnTo>
                <a:cubicBezTo>
                  <a:pt x="85167" y="20933"/>
                  <a:pt x="83967" y="18067"/>
                  <a:pt x="81700" y="15800"/>
                </a:cubicBezTo>
                <a:lnTo>
                  <a:pt x="81700" y="15800"/>
                </a:lnTo>
                <a:cubicBezTo>
                  <a:pt x="79433" y="13533"/>
                  <a:pt x="76567" y="12333"/>
                  <a:pt x="73100" y="12200"/>
                </a:cubicBezTo>
                <a:lnTo>
                  <a:pt x="73100" y="12200"/>
                </a:lnTo>
                <a:lnTo>
                  <a:pt x="73100" y="4600"/>
                </a:lnTo>
                <a:cubicBezTo>
                  <a:pt x="72833" y="1800"/>
                  <a:pt x="71333" y="267"/>
                  <a:pt x="68600" y="0"/>
                </a:cubicBezTo>
                <a:lnTo>
                  <a:pt x="68600" y="0"/>
                </a:lnTo>
                <a:cubicBezTo>
                  <a:pt x="65800" y="267"/>
                  <a:pt x="64267" y="1800"/>
                  <a:pt x="64000" y="4600"/>
                </a:cubicBezTo>
                <a:lnTo>
                  <a:pt x="64000" y="4600"/>
                </a:lnTo>
                <a:lnTo>
                  <a:pt x="64000" y="12200"/>
                </a:lnTo>
                <a:lnTo>
                  <a:pt x="53300" y="12200"/>
                </a:lnTo>
                <a:lnTo>
                  <a:pt x="53300" y="4600"/>
                </a:lnTo>
                <a:cubicBezTo>
                  <a:pt x="53033" y="1800"/>
                  <a:pt x="51533" y="267"/>
                  <a:pt x="48800" y="0"/>
                </a:cubicBezTo>
                <a:lnTo>
                  <a:pt x="48800" y="0"/>
                </a:lnTo>
                <a:cubicBezTo>
                  <a:pt x="46000" y="267"/>
                  <a:pt x="44467" y="1800"/>
                  <a:pt x="44200" y="4600"/>
                </a:cubicBezTo>
                <a:lnTo>
                  <a:pt x="44200" y="4600"/>
                </a:lnTo>
                <a:lnTo>
                  <a:pt x="44200" y="12200"/>
                </a:lnTo>
                <a:lnTo>
                  <a:pt x="33500" y="12200"/>
                </a:lnTo>
                <a:lnTo>
                  <a:pt x="33500" y="4600"/>
                </a:lnTo>
                <a:moveTo>
                  <a:pt x="30500" y="24400"/>
                </a:moveTo>
                <a:lnTo>
                  <a:pt x="30500" y="24400"/>
                </a:lnTo>
                <a:lnTo>
                  <a:pt x="67000" y="24400"/>
                </a:lnTo>
                <a:cubicBezTo>
                  <a:pt x="68800" y="24400"/>
                  <a:pt x="70267" y="24967"/>
                  <a:pt x="71400" y="26100"/>
                </a:cubicBezTo>
                <a:lnTo>
                  <a:pt x="71400" y="26100"/>
                </a:lnTo>
                <a:cubicBezTo>
                  <a:pt x="72533" y="27233"/>
                  <a:pt x="73100" y="28700"/>
                  <a:pt x="73100" y="30500"/>
                </a:cubicBezTo>
                <a:lnTo>
                  <a:pt x="73100" y="30500"/>
                </a:lnTo>
                <a:lnTo>
                  <a:pt x="73100" y="67000"/>
                </a:lnTo>
                <a:cubicBezTo>
                  <a:pt x="73100" y="68800"/>
                  <a:pt x="72533" y="70267"/>
                  <a:pt x="71400" y="71400"/>
                </a:cubicBezTo>
                <a:lnTo>
                  <a:pt x="71400" y="71400"/>
                </a:lnTo>
                <a:cubicBezTo>
                  <a:pt x="70267" y="72533"/>
                  <a:pt x="68800" y="73100"/>
                  <a:pt x="67000" y="73100"/>
                </a:cubicBezTo>
                <a:lnTo>
                  <a:pt x="67000" y="73100"/>
                </a:lnTo>
                <a:lnTo>
                  <a:pt x="30500" y="73100"/>
                </a:lnTo>
                <a:cubicBezTo>
                  <a:pt x="28700" y="73100"/>
                  <a:pt x="27233" y="72533"/>
                  <a:pt x="26100" y="71400"/>
                </a:cubicBezTo>
                <a:lnTo>
                  <a:pt x="26100" y="71400"/>
                </a:lnTo>
                <a:cubicBezTo>
                  <a:pt x="24967" y="70267"/>
                  <a:pt x="24400" y="68800"/>
                  <a:pt x="24400" y="67000"/>
                </a:cubicBezTo>
                <a:lnTo>
                  <a:pt x="24400" y="67000"/>
                </a:lnTo>
                <a:lnTo>
                  <a:pt x="24400" y="30500"/>
                </a:lnTo>
                <a:cubicBezTo>
                  <a:pt x="24400" y="28700"/>
                  <a:pt x="24967" y="27233"/>
                  <a:pt x="26100" y="26100"/>
                </a:cubicBezTo>
                <a:lnTo>
                  <a:pt x="26100" y="26100"/>
                </a:lnTo>
                <a:cubicBezTo>
                  <a:pt x="27233" y="24967"/>
                  <a:pt x="28700" y="24400"/>
                  <a:pt x="30500" y="24400"/>
                </a:cubicBezTo>
                <a:lnTo>
                  <a:pt x="30500" y="24400"/>
                </a:lnTo>
                <a:moveTo>
                  <a:pt x="67000" y="30500"/>
                </a:moveTo>
                <a:lnTo>
                  <a:pt x="67000" y="30500"/>
                </a:lnTo>
                <a:lnTo>
                  <a:pt x="30500" y="30500"/>
                </a:lnTo>
                <a:lnTo>
                  <a:pt x="30500" y="67000"/>
                </a:lnTo>
                <a:lnTo>
                  <a:pt x="67000" y="67000"/>
                </a:lnTo>
                <a:lnTo>
                  <a:pt x="67000" y="30500"/>
                </a:lnTo>
              </a:path>
            </a:pathLst>
          </a:custGeom>
          <a:solidFill>
            <a:srgbClr val="4A7C9B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489349749-4"/>
          <p:cNvSpPr txBox="1"/>
          <p:nvPr/>
        </p:nvSpPr>
        <p:spPr>
          <a:xfrm>
            <a:off x="421481" y="250031"/>
            <a:ext cx="1800895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53035" algn="l">
              <a:lnSpc>
                <a:spcPct val="100000"/>
              </a:lnSpc>
            </a:pPr>
            <a:r>
              <a:rPr sz="840" spc="25">
                <a:solidFill>
                  <a:srgbClr val="4A7C9B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存算一体 · 非线性鲁棒性研究</a:t>
            </a:r>
            <a:endParaRPr sz="840" spc="25">
              <a:solidFill>
                <a:srgbClr val="4A7C9B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1319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1322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" name="el-1785489351316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489351323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6" name="el-1785489351325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489351324-5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489351326-7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489351337-10"/>
          <p:cNvSpPr/>
          <p:nvPr/>
        </p:nvSpPr>
        <p:spPr>
          <a:xfrm>
            <a:off x="400050" y="1849636"/>
            <a:ext cx="2628900" cy="175855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489351340-13"/>
          <p:cNvCxnSpPr/>
          <p:nvPr/>
        </p:nvCxnSpPr>
        <p:spPr>
          <a:xfrm>
            <a:off x="414338" y="1849636"/>
            <a:ext cx="914" cy="1758553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489351338-11"/>
          <p:cNvSpPr/>
          <p:nvPr/>
        </p:nvSpPr>
        <p:spPr>
          <a:xfrm>
            <a:off x="3257550" y="1849636"/>
            <a:ext cx="2628900" cy="175855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5489351340-14"/>
          <p:cNvCxnSpPr/>
          <p:nvPr/>
        </p:nvCxnSpPr>
        <p:spPr>
          <a:xfrm>
            <a:off x="3271838" y="1849636"/>
            <a:ext cx="914" cy="1758553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489351339-12"/>
          <p:cNvSpPr/>
          <p:nvPr/>
        </p:nvSpPr>
        <p:spPr>
          <a:xfrm>
            <a:off x="6115050" y="1849636"/>
            <a:ext cx="2628900" cy="175855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489351341-15"/>
          <p:cNvCxnSpPr/>
          <p:nvPr/>
        </p:nvCxnSpPr>
        <p:spPr>
          <a:xfrm>
            <a:off x="6129338" y="1849636"/>
            <a:ext cx="914" cy="1758553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489351329-8"/>
          <p:cNvSpPr txBox="1"/>
          <p:nvPr/>
        </p:nvSpPr>
        <p:spPr>
          <a:xfrm>
            <a:off x="400050" y="117872"/>
            <a:ext cx="4246959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研究背景：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存算一体技术与“存储墙”瓶颈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l-1785489351352-19"/>
          <p:cNvSpPr txBox="1"/>
          <p:nvPr/>
        </p:nvSpPr>
        <p:spPr>
          <a:xfrm>
            <a:off x="600075" y="2049661"/>
            <a:ext cx="23074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瓶颈 · 存储墙</a:t>
            </a:r>
            <a:endParaRPr sz="780" b="1" spc="56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1352-20"/>
          <p:cNvSpPr txBox="1"/>
          <p:nvPr/>
        </p:nvSpPr>
        <p:spPr>
          <a:xfrm>
            <a:off x="600075" y="2271117"/>
            <a:ext cx="232886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冯·诺依曼架构的功耗鸿沟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1347-16"/>
          <p:cNvSpPr txBox="1"/>
          <p:nvPr/>
        </p:nvSpPr>
        <p:spPr>
          <a:xfrm>
            <a:off x="600075" y="2556867"/>
            <a:ext cx="2257425" cy="822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传统架构中，数据在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存储单元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计算单元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之间频繁搬运，带来严重的功耗与带宽限制。这一“存储墙”效应成为边缘AI推理的核心能效瓶颈。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1353-21"/>
          <p:cNvSpPr txBox="1"/>
          <p:nvPr/>
        </p:nvSpPr>
        <p:spPr>
          <a:xfrm>
            <a:off x="3457575" y="2049661"/>
            <a:ext cx="23074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方案 · 存算一体</a:t>
            </a:r>
            <a:endParaRPr sz="780" b="1" spc="56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1354-22"/>
          <p:cNvSpPr txBox="1"/>
          <p:nvPr/>
        </p:nvSpPr>
        <p:spPr>
          <a:xfrm>
            <a:off x="3457575" y="2271117"/>
            <a:ext cx="232886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CiM：将MAC运算嵌入存储阵列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51349-17"/>
          <p:cNvSpPr txBox="1"/>
          <p:nvPr/>
        </p:nvSpPr>
        <p:spPr>
          <a:xfrm>
            <a:off x="3457575" y="2556867"/>
            <a:ext cx="2257425" cy="822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存算一体（CiM）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技术将MAC运算嵌入存储阵列内部，大幅降低数据搬运开销，是当前边缘AI推理的核心发展方向，兼顾能效与吞吐。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51355-23"/>
          <p:cNvSpPr txBox="1"/>
          <p:nvPr/>
        </p:nvSpPr>
        <p:spPr>
          <a:xfrm>
            <a:off x="6315075" y="2049661"/>
            <a:ext cx="23074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挑战 · 非理想效应</a:t>
            </a:r>
            <a:endParaRPr sz="780" b="1" spc="56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51356-24"/>
          <p:cNvSpPr txBox="1"/>
          <p:nvPr/>
        </p:nvSpPr>
        <p:spPr>
          <a:xfrm>
            <a:off x="6315075" y="2271117"/>
            <a:ext cx="232886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模拟器件的三次非线性失真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51351-18"/>
          <p:cNvSpPr txBox="1"/>
          <p:nvPr/>
        </p:nvSpPr>
        <p:spPr>
          <a:xfrm>
            <a:off x="6315075" y="2556867"/>
            <a:ext cx="2257425" cy="822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器件失配、OTA增益非线性、工艺偏差等导致MAC运算呈现输入相关的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三次非线性特性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，严重威胁推理精度。本研究聚焦该误差的传播与抑制。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51331-9"/>
          <p:cNvSpPr txBox="1"/>
          <p:nvPr/>
        </p:nvSpPr>
        <p:spPr>
          <a:xfrm>
            <a:off x="6872585" y="4943475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1520-2"/>
          <p:cNvSpPr/>
          <p:nvPr/>
        </p:nvSpPr>
        <p:spPr>
          <a:xfrm>
            <a:off x="7858125" y="0"/>
            <a:ext cx="1285875" cy="1428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7067"/>
                </a:moveTo>
                <a:lnTo>
                  <a:pt x="92948" y="98653"/>
                </a:lnTo>
                <a:lnTo>
                  <a:pt x="85400" y="99660"/>
                </a:lnTo>
                <a:lnTo>
                  <a:pt x="77778" y="100000"/>
                </a:lnTo>
                <a:lnTo>
                  <a:pt x="70156" y="99660"/>
                </a:lnTo>
                <a:lnTo>
                  <a:pt x="62607" y="98653"/>
                </a:lnTo>
                <a:lnTo>
                  <a:pt x="55200" y="96987"/>
                </a:lnTo>
                <a:lnTo>
                  <a:pt x="48015" y="94673"/>
                </a:lnTo>
                <a:lnTo>
                  <a:pt x="41111" y="91733"/>
                </a:lnTo>
                <a:lnTo>
                  <a:pt x="34570" y="88200"/>
                </a:lnTo>
                <a:lnTo>
                  <a:pt x="28437" y="84113"/>
                </a:lnTo>
                <a:lnTo>
                  <a:pt x="22778" y="79500"/>
                </a:lnTo>
                <a:lnTo>
                  <a:pt x="17652" y="74407"/>
                </a:lnTo>
                <a:lnTo>
                  <a:pt x="13111" y="68887"/>
                </a:lnTo>
                <a:lnTo>
                  <a:pt x="9185" y="63000"/>
                </a:lnTo>
                <a:lnTo>
                  <a:pt x="5919" y="56787"/>
                </a:lnTo>
                <a:lnTo>
                  <a:pt x="3348" y="50320"/>
                </a:lnTo>
                <a:lnTo>
                  <a:pt x="1496" y="43653"/>
                </a:lnTo>
                <a:lnTo>
                  <a:pt x="378" y="36860"/>
                </a:lnTo>
                <a:lnTo>
                  <a:pt x="0" y="30000"/>
                </a:lnTo>
                <a:lnTo>
                  <a:pt x="378" y="23140"/>
                </a:lnTo>
                <a:lnTo>
                  <a:pt x="1496" y="16347"/>
                </a:lnTo>
                <a:lnTo>
                  <a:pt x="3348" y="9680"/>
                </a:lnTo>
                <a:lnTo>
                  <a:pt x="5919" y="3213"/>
                </a:lnTo>
                <a:lnTo>
                  <a:pt x="7607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1522-3"/>
          <p:cNvSpPr/>
          <p:nvPr/>
        </p:nvSpPr>
        <p:spPr>
          <a:xfrm>
            <a:off x="0" y="4214813"/>
            <a:ext cx="857250" cy="9286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68878"/>
                </a:moveTo>
                <a:lnTo>
                  <a:pt x="99633" y="75633"/>
                </a:lnTo>
                <a:lnTo>
                  <a:pt x="98556" y="82316"/>
                </a:lnTo>
                <a:lnTo>
                  <a:pt x="96767" y="88867"/>
                </a:lnTo>
                <a:lnTo>
                  <a:pt x="94289" y="95235"/>
                </a:lnTo>
                <a:lnTo>
                  <a:pt x="92100" y="99490"/>
                </a:lnTo>
                <a:lnTo>
                  <a:pt x="0" y="99490"/>
                </a:lnTo>
                <a:lnTo>
                  <a:pt x="0" y="4031"/>
                </a:lnTo>
                <a:lnTo>
                  <a:pt x="3233" y="2969"/>
                </a:lnTo>
                <a:lnTo>
                  <a:pt x="10367" y="1327"/>
                </a:lnTo>
                <a:lnTo>
                  <a:pt x="17644" y="337"/>
                </a:lnTo>
                <a:lnTo>
                  <a:pt x="25000" y="0"/>
                </a:lnTo>
                <a:lnTo>
                  <a:pt x="32356" y="337"/>
                </a:lnTo>
                <a:lnTo>
                  <a:pt x="39633" y="1327"/>
                </a:lnTo>
                <a:lnTo>
                  <a:pt x="46767" y="2969"/>
                </a:lnTo>
                <a:lnTo>
                  <a:pt x="53700" y="5245"/>
                </a:lnTo>
                <a:lnTo>
                  <a:pt x="60356" y="8133"/>
                </a:lnTo>
                <a:lnTo>
                  <a:pt x="66667" y="11612"/>
                </a:lnTo>
                <a:lnTo>
                  <a:pt x="72578" y="15633"/>
                </a:lnTo>
                <a:lnTo>
                  <a:pt x="78033" y="20173"/>
                </a:lnTo>
                <a:lnTo>
                  <a:pt x="82978" y="25184"/>
                </a:lnTo>
                <a:lnTo>
                  <a:pt x="87356" y="30612"/>
                </a:lnTo>
                <a:lnTo>
                  <a:pt x="91144" y="36408"/>
                </a:lnTo>
                <a:lnTo>
                  <a:pt x="94289" y="42520"/>
                </a:lnTo>
                <a:lnTo>
                  <a:pt x="96767" y="48888"/>
                </a:lnTo>
                <a:lnTo>
                  <a:pt x="98556" y="55439"/>
                </a:lnTo>
                <a:lnTo>
                  <a:pt x="99633" y="62122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1523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1527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1525-5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1527-7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1540-10"/>
          <p:cNvSpPr/>
          <p:nvPr/>
        </p:nvSpPr>
        <p:spPr>
          <a:xfrm>
            <a:off x="400050" y="1368028"/>
            <a:ext cx="4057650" cy="8929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1544-14"/>
          <p:cNvCxnSpPr/>
          <p:nvPr/>
        </p:nvCxnSpPr>
        <p:spPr>
          <a:xfrm>
            <a:off x="414338" y="1368028"/>
            <a:ext cx="914" cy="892969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1541-11"/>
          <p:cNvSpPr/>
          <p:nvPr/>
        </p:nvSpPr>
        <p:spPr>
          <a:xfrm>
            <a:off x="400050" y="2389584"/>
            <a:ext cx="4057650" cy="67865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51545-15"/>
          <p:cNvCxnSpPr/>
          <p:nvPr/>
        </p:nvCxnSpPr>
        <p:spPr>
          <a:xfrm>
            <a:off x="414338" y="2389584"/>
            <a:ext cx="914" cy="678656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51542-12"/>
          <p:cNvSpPr/>
          <p:nvPr/>
        </p:nvSpPr>
        <p:spPr>
          <a:xfrm>
            <a:off x="400050" y="3196828"/>
            <a:ext cx="4057650" cy="8929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51545-16"/>
          <p:cNvCxnSpPr/>
          <p:nvPr/>
        </p:nvCxnSpPr>
        <p:spPr>
          <a:xfrm>
            <a:off x="414338" y="3196828"/>
            <a:ext cx="914" cy="892969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51543-13"/>
          <p:cNvSpPr/>
          <p:nvPr/>
        </p:nvSpPr>
        <p:spPr>
          <a:xfrm>
            <a:off x="4743450" y="2100263"/>
            <a:ext cx="4000500" cy="1257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4288" algn="in">
            <a:solidFill>
              <a:srgbClr val="4A7C9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489351532-8"/>
          <p:cNvSpPr txBox="1"/>
          <p:nvPr/>
        </p:nvSpPr>
        <p:spPr>
          <a:xfrm>
            <a:off x="400050" y="117872"/>
            <a:ext cx="2068116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核心问题与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研究目标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l-1785489351554-18"/>
          <p:cNvSpPr txBox="1"/>
          <p:nvPr/>
        </p:nvSpPr>
        <p:spPr>
          <a:xfrm>
            <a:off x="585788" y="1496616"/>
            <a:ext cx="376475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问题 1 · 精度破坏力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1555-19"/>
          <p:cNvSpPr txBox="1"/>
          <p:nvPr/>
        </p:nvSpPr>
        <p:spPr>
          <a:xfrm>
            <a:off x="585788" y="1689497"/>
            <a:ext cx="3714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非线性失真对不同架构CNN的精度破坏力有多大？误差如何跨层累积？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1555-20"/>
          <p:cNvSpPr txBox="1"/>
          <p:nvPr/>
        </p:nvSpPr>
        <p:spPr>
          <a:xfrm>
            <a:off x="585788" y="2518172"/>
            <a:ext cx="376475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问题 2 · 鲁棒性增强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1556-21"/>
          <p:cNvSpPr txBox="1"/>
          <p:nvPr/>
        </p:nvSpPr>
        <p:spPr>
          <a:xfrm>
            <a:off x="585788" y="2711053"/>
            <a:ext cx="378618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如何通过算法手段提升模型在失真环境下的鲁棒性？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1557-22"/>
          <p:cNvSpPr txBox="1"/>
          <p:nvPr/>
        </p:nvSpPr>
        <p:spPr>
          <a:xfrm>
            <a:off x="585788" y="3325416"/>
            <a:ext cx="376475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问题 3 · 多误差耦合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51557-23"/>
          <p:cNvSpPr txBox="1"/>
          <p:nvPr/>
        </p:nvSpPr>
        <p:spPr>
          <a:xfrm>
            <a:off x="585788" y="3518297"/>
            <a:ext cx="3714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多误差源（非线性+量化+噪声）联合作用下呈现何种效应？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51558-24"/>
          <p:cNvSpPr txBox="1"/>
          <p:nvPr/>
        </p:nvSpPr>
        <p:spPr>
          <a:xfrm>
            <a:off x="4972050" y="2343150"/>
            <a:ext cx="361473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研究目标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51553-17"/>
          <p:cNvSpPr txBox="1"/>
          <p:nvPr/>
        </p:nvSpPr>
        <p:spPr>
          <a:xfrm>
            <a:off x="4972050" y="2657475"/>
            <a:ext cx="3557588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12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揭示误差传播规律，提出</a:t>
            </a: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鲁棒增强方案</a:t>
            </a:r>
            <a:r>
              <a:rPr sz="112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</a:t>
            </a:r>
            <a:endParaRPr sz="112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905"/>
              </a:lnSpc>
            </a:pPr>
            <a:r>
              <a:rPr sz="112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为</a:t>
            </a: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算法-硬件协同设计</a:t>
            </a:r>
            <a:r>
              <a:rPr sz="112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提供实验依据。</a:t>
            </a:r>
            <a:endParaRPr sz="112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51534-9"/>
          <p:cNvSpPr txBox="1"/>
          <p:nvPr/>
        </p:nvSpPr>
        <p:spPr>
          <a:xfrm>
            <a:off x="6872585" y="4943475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05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5" name="el-1785489351517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1885-6"/>
          <p:cNvSpPr/>
          <p:nvPr/>
        </p:nvSpPr>
        <p:spPr>
          <a:xfrm>
            <a:off x="0" y="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27500"/>
                </a:moveTo>
                <a:lnTo>
                  <a:pt x="99650" y="34607"/>
                </a:lnTo>
                <a:lnTo>
                  <a:pt x="98607" y="41643"/>
                </a:lnTo>
                <a:lnTo>
                  <a:pt x="96877" y="48547"/>
                </a:lnTo>
                <a:lnTo>
                  <a:pt x="94480" y="55243"/>
                </a:lnTo>
                <a:lnTo>
                  <a:pt x="91440" y="61677"/>
                </a:lnTo>
                <a:lnTo>
                  <a:pt x="87780" y="67780"/>
                </a:lnTo>
                <a:lnTo>
                  <a:pt x="83543" y="73493"/>
                </a:lnTo>
                <a:lnTo>
                  <a:pt x="78767" y="78767"/>
                </a:lnTo>
                <a:lnTo>
                  <a:pt x="73493" y="83543"/>
                </a:lnTo>
                <a:lnTo>
                  <a:pt x="67780" y="87780"/>
                </a:lnTo>
                <a:lnTo>
                  <a:pt x="61677" y="91440"/>
                </a:lnTo>
                <a:lnTo>
                  <a:pt x="55243" y="94480"/>
                </a:lnTo>
                <a:lnTo>
                  <a:pt x="48547" y="96877"/>
                </a:lnTo>
                <a:lnTo>
                  <a:pt x="41643" y="98607"/>
                </a:lnTo>
                <a:lnTo>
                  <a:pt x="34607" y="99650"/>
                </a:lnTo>
                <a:lnTo>
                  <a:pt x="27500" y="100000"/>
                </a:lnTo>
                <a:lnTo>
                  <a:pt x="20393" y="99650"/>
                </a:lnTo>
                <a:lnTo>
                  <a:pt x="13357" y="98607"/>
                </a:lnTo>
                <a:lnTo>
                  <a:pt x="6453" y="96877"/>
                </a:lnTo>
                <a:lnTo>
                  <a:pt x="0" y="94567"/>
                </a:lnTo>
                <a:lnTo>
                  <a:pt x="0" y="0"/>
                </a:lnTo>
                <a:lnTo>
                  <a:pt x="94567" y="0"/>
                </a:lnTo>
                <a:lnTo>
                  <a:pt x="96877" y="6453"/>
                </a:lnTo>
                <a:lnTo>
                  <a:pt x="98607" y="13357"/>
                </a:lnTo>
                <a:lnTo>
                  <a:pt x="99650" y="20393"/>
                </a:lnTo>
                <a:close/>
              </a:path>
            </a:pathLst>
          </a:custGeom>
          <a:solidFill>
            <a:srgbClr val="B8C5D1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1888-7"/>
          <p:cNvSpPr/>
          <p:nvPr/>
        </p:nvSpPr>
        <p:spPr>
          <a:xfrm>
            <a:off x="5715000" y="17145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100000"/>
                </a:moveTo>
                <a:lnTo>
                  <a:pt x="6367" y="100000"/>
                </a:lnTo>
                <a:lnTo>
                  <a:pt x="5392" y="97939"/>
                </a:lnTo>
                <a:lnTo>
                  <a:pt x="3050" y="91394"/>
                </a:lnTo>
                <a:lnTo>
                  <a:pt x="1361" y="84653"/>
                </a:lnTo>
                <a:lnTo>
                  <a:pt x="342" y="77775"/>
                </a:lnTo>
                <a:lnTo>
                  <a:pt x="0" y="70833"/>
                </a:lnTo>
                <a:lnTo>
                  <a:pt x="342" y="63892"/>
                </a:lnTo>
                <a:lnTo>
                  <a:pt x="1361" y="57014"/>
                </a:lnTo>
                <a:lnTo>
                  <a:pt x="3050" y="50272"/>
                </a:lnTo>
                <a:lnTo>
                  <a:pt x="5392" y="43728"/>
                </a:lnTo>
                <a:lnTo>
                  <a:pt x="8364" y="37442"/>
                </a:lnTo>
                <a:lnTo>
                  <a:pt x="11939" y="31481"/>
                </a:lnTo>
                <a:lnTo>
                  <a:pt x="16078" y="25897"/>
                </a:lnTo>
                <a:lnTo>
                  <a:pt x="20747" y="20747"/>
                </a:lnTo>
                <a:lnTo>
                  <a:pt x="25897" y="16078"/>
                </a:lnTo>
                <a:lnTo>
                  <a:pt x="31481" y="11939"/>
                </a:lnTo>
                <a:lnTo>
                  <a:pt x="37442" y="8364"/>
                </a:lnTo>
                <a:lnTo>
                  <a:pt x="43728" y="5392"/>
                </a:lnTo>
                <a:lnTo>
                  <a:pt x="50272" y="3050"/>
                </a:lnTo>
                <a:lnTo>
                  <a:pt x="57014" y="1361"/>
                </a:lnTo>
                <a:lnTo>
                  <a:pt x="63892" y="342"/>
                </a:lnTo>
                <a:lnTo>
                  <a:pt x="70833" y="0"/>
                </a:lnTo>
                <a:lnTo>
                  <a:pt x="77775" y="342"/>
                </a:lnTo>
                <a:lnTo>
                  <a:pt x="84653" y="1361"/>
                </a:lnTo>
                <a:lnTo>
                  <a:pt x="91394" y="3050"/>
                </a:lnTo>
                <a:lnTo>
                  <a:pt x="97939" y="5392"/>
                </a:lnTo>
                <a:lnTo>
                  <a:pt x="100000" y="6367"/>
                </a:lnTo>
                <a:close/>
              </a:path>
            </a:pathLst>
          </a:custGeom>
          <a:solidFill>
            <a:srgbClr val="F0E4E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1890-8"/>
          <p:cNvSpPr/>
          <p:nvPr/>
        </p:nvSpPr>
        <p:spPr>
          <a:xfrm>
            <a:off x="3586163" y="600075"/>
            <a:ext cx="3286125" cy="3286125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489351892-9"/>
          <p:cNvSpPr/>
          <p:nvPr/>
        </p:nvSpPr>
        <p:spPr>
          <a:xfrm>
            <a:off x="7189515" y="1131540"/>
            <a:ext cx="857250" cy="857250"/>
          </a:xfrm>
          <a:prstGeom prst="ellipse">
            <a:avLst/>
          </a:prstGeom>
          <a:solidFill>
            <a:srgbClr val="B8C5D1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489351895-10"/>
          <p:cNvSpPr/>
          <p:nvPr/>
        </p:nvSpPr>
        <p:spPr>
          <a:xfrm>
            <a:off x="914400" y="3646215"/>
            <a:ext cx="571500" cy="571500"/>
          </a:xfrm>
          <a:prstGeom prst="ellipse">
            <a:avLst/>
          </a:prstGeom>
          <a:solidFill>
            <a:srgbClr val="B8C5D1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489351874-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063" y="38889"/>
                </a:moveTo>
                <a:cubicBezTo>
                  <a:pt x="23438" y="24074"/>
                  <a:pt x="35417" y="26852"/>
                  <a:pt x="50000" y="47222"/>
                </a:cubicBezTo>
                <a:cubicBezTo>
                  <a:pt x="64583" y="67593"/>
                  <a:pt x="77083" y="64815"/>
                  <a:pt x="87500" y="38889"/>
                </a:cubicBezTo>
              </a:path>
            </a:pathLst>
          </a:custGeom>
          <a:noFill/>
          <a:ln w="17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489351875-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813" y="66667"/>
                </a:moveTo>
                <a:cubicBezTo>
                  <a:pt x="18229" y="53704"/>
                  <a:pt x="30208" y="55556"/>
                  <a:pt x="43750" y="72222"/>
                </a:cubicBezTo>
                <a:cubicBezTo>
                  <a:pt x="57292" y="88889"/>
                  <a:pt x="73438" y="83333"/>
                  <a:pt x="92188" y="55556"/>
                </a:cubicBezTo>
              </a:path>
            </a:pathLst>
          </a:custGeom>
          <a:noFill/>
          <a:ln w="12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489351873-1"/>
          <p:cNvCxnSpPr/>
          <p:nvPr/>
        </p:nvCxnSpPr>
        <p:spPr>
          <a:xfrm>
            <a:off x="400050" y="4911328"/>
            <a:ext cx="8343900" cy="914"/>
          </a:xfrm>
          <a:prstGeom prst="line">
            <a:avLst/>
          </a:prstGeom>
          <a:ln w="9525" cap="flat">
            <a:solidFill>
              <a:srgbClr val="D8D8D8">
                <a:alpha val="5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1904-13"/>
          <p:cNvSpPr/>
          <p:nvPr/>
        </p:nvSpPr>
        <p:spPr>
          <a:xfrm>
            <a:off x="4143375" y="3367683"/>
            <a:ext cx="857250" cy="21431"/>
          </a:xfrm>
          <a:prstGeom prst="roundRect">
            <a:avLst>
              <a:gd name="adj" fmla="val 50000"/>
            </a:avLst>
          </a:prstGeom>
          <a:solidFill>
            <a:srgbClr val="4A7C9B">
              <a:alpha val="6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51900-11"/>
          <p:cNvSpPr txBox="1"/>
          <p:nvPr/>
        </p:nvSpPr>
        <p:spPr>
          <a:xfrm>
            <a:off x="3580358" y="1754386"/>
            <a:ext cx="198320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50" b="1" spc="270">
                <a:solidFill>
                  <a:srgbClr val="4A7C9B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6750" b="1" spc="270">
              <a:solidFill>
                <a:srgbClr val="4A7C9B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l-1785489351901-12"/>
          <p:cNvSpPr txBox="1"/>
          <p:nvPr/>
        </p:nvSpPr>
        <p:spPr>
          <a:xfrm>
            <a:off x="2767950" y="2765896"/>
            <a:ext cx="3608025" cy="4160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510" b="1" spc="5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第二章 · 核心技术原理</a:t>
            </a:r>
            <a:endParaRPr sz="2510" b="1" spc="5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l-1785489351880-5"/>
          <p:cNvSpPr/>
          <p:nvPr/>
        </p:nvSpPr>
        <p:spPr>
          <a:xfrm>
            <a:off x="285750" y="200025"/>
            <a:ext cx="1883048" cy="260747"/>
          </a:xfrm>
          <a:prstGeom prst="roundRect">
            <a:avLst>
              <a:gd name="adj" fmla="val 50000"/>
            </a:avLst>
          </a:prstGeom>
          <a:solidFill>
            <a:srgbClr val="FFFFFF">
              <a:alpha val="37500"/>
            </a:srgbClr>
          </a:solidFill>
          <a:ln w="7144" algn="in">
            <a:solidFill>
              <a:srgbClr val="4A7C9B">
                <a:alpha val="1125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489353517-30"/>
          <p:cNvSpPr/>
          <p:nvPr/>
        </p:nvSpPr>
        <p:spPr>
          <a:xfrm>
            <a:off x="421481" y="288131"/>
            <a:ext cx="92869" cy="928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3500" y="4600"/>
                </a:moveTo>
                <a:lnTo>
                  <a:pt x="33500" y="4600"/>
                </a:lnTo>
                <a:cubicBezTo>
                  <a:pt x="33233" y="1800"/>
                  <a:pt x="31700" y="267"/>
                  <a:pt x="28900" y="0"/>
                </a:cubicBezTo>
                <a:lnTo>
                  <a:pt x="28900" y="0"/>
                </a:lnTo>
                <a:cubicBezTo>
                  <a:pt x="26167" y="267"/>
                  <a:pt x="24667" y="1800"/>
                  <a:pt x="24400" y="4600"/>
                </a:cubicBezTo>
                <a:lnTo>
                  <a:pt x="24400" y="4600"/>
                </a:lnTo>
                <a:lnTo>
                  <a:pt x="24400" y="12200"/>
                </a:lnTo>
                <a:cubicBezTo>
                  <a:pt x="20933" y="12333"/>
                  <a:pt x="18067" y="13533"/>
                  <a:pt x="15800" y="15800"/>
                </a:cubicBezTo>
                <a:lnTo>
                  <a:pt x="15800" y="15800"/>
                </a:lnTo>
                <a:cubicBezTo>
                  <a:pt x="13533" y="18067"/>
                  <a:pt x="12333" y="20933"/>
                  <a:pt x="12200" y="24400"/>
                </a:cubicBezTo>
                <a:lnTo>
                  <a:pt x="12200" y="24400"/>
                </a:lnTo>
                <a:lnTo>
                  <a:pt x="4600" y="24400"/>
                </a:lnTo>
                <a:cubicBezTo>
                  <a:pt x="1800" y="24667"/>
                  <a:pt x="267" y="26167"/>
                  <a:pt x="0" y="28900"/>
                </a:cubicBezTo>
                <a:lnTo>
                  <a:pt x="0" y="28900"/>
                </a:lnTo>
                <a:cubicBezTo>
                  <a:pt x="267" y="31700"/>
                  <a:pt x="1800" y="33233"/>
                  <a:pt x="4600" y="33500"/>
                </a:cubicBezTo>
                <a:lnTo>
                  <a:pt x="4600" y="33500"/>
                </a:lnTo>
                <a:lnTo>
                  <a:pt x="12200" y="33500"/>
                </a:lnTo>
                <a:lnTo>
                  <a:pt x="12200" y="44200"/>
                </a:lnTo>
                <a:lnTo>
                  <a:pt x="4600" y="44200"/>
                </a:lnTo>
                <a:cubicBezTo>
                  <a:pt x="1800" y="44467"/>
                  <a:pt x="267" y="46000"/>
                  <a:pt x="0" y="48800"/>
                </a:cubicBezTo>
                <a:lnTo>
                  <a:pt x="0" y="48800"/>
                </a:lnTo>
                <a:cubicBezTo>
                  <a:pt x="267" y="51533"/>
                  <a:pt x="1800" y="53033"/>
                  <a:pt x="4600" y="53300"/>
                </a:cubicBezTo>
                <a:lnTo>
                  <a:pt x="4600" y="53300"/>
                </a:lnTo>
                <a:lnTo>
                  <a:pt x="12200" y="53300"/>
                </a:lnTo>
                <a:lnTo>
                  <a:pt x="12200" y="64000"/>
                </a:lnTo>
                <a:lnTo>
                  <a:pt x="4600" y="64000"/>
                </a:lnTo>
                <a:cubicBezTo>
                  <a:pt x="1800" y="64267"/>
                  <a:pt x="267" y="65800"/>
                  <a:pt x="0" y="68600"/>
                </a:cubicBezTo>
                <a:lnTo>
                  <a:pt x="0" y="68600"/>
                </a:lnTo>
                <a:cubicBezTo>
                  <a:pt x="267" y="71333"/>
                  <a:pt x="1800" y="72833"/>
                  <a:pt x="4600" y="73100"/>
                </a:cubicBezTo>
                <a:lnTo>
                  <a:pt x="4600" y="73100"/>
                </a:lnTo>
                <a:lnTo>
                  <a:pt x="12200" y="73100"/>
                </a:lnTo>
                <a:cubicBezTo>
                  <a:pt x="12333" y="76567"/>
                  <a:pt x="13533" y="79433"/>
                  <a:pt x="15800" y="81700"/>
                </a:cubicBezTo>
                <a:lnTo>
                  <a:pt x="15800" y="81700"/>
                </a:lnTo>
                <a:cubicBezTo>
                  <a:pt x="18067" y="83967"/>
                  <a:pt x="20933" y="85167"/>
                  <a:pt x="24400" y="85300"/>
                </a:cubicBezTo>
                <a:lnTo>
                  <a:pt x="24400" y="85300"/>
                </a:lnTo>
                <a:lnTo>
                  <a:pt x="24400" y="92900"/>
                </a:lnTo>
                <a:cubicBezTo>
                  <a:pt x="24667" y="95700"/>
                  <a:pt x="26167" y="97233"/>
                  <a:pt x="28900" y="97500"/>
                </a:cubicBezTo>
                <a:lnTo>
                  <a:pt x="28900" y="97500"/>
                </a:lnTo>
                <a:cubicBezTo>
                  <a:pt x="31700" y="97233"/>
                  <a:pt x="33233" y="95700"/>
                  <a:pt x="33500" y="92900"/>
                </a:cubicBezTo>
                <a:lnTo>
                  <a:pt x="33500" y="92900"/>
                </a:lnTo>
                <a:lnTo>
                  <a:pt x="33500" y="85300"/>
                </a:lnTo>
                <a:lnTo>
                  <a:pt x="44200" y="85300"/>
                </a:lnTo>
                <a:lnTo>
                  <a:pt x="44200" y="92900"/>
                </a:lnTo>
                <a:cubicBezTo>
                  <a:pt x="44467" y="95700"/>
                  <a:pt x="46000" y="97233"/>
                  <a:pt x="48800" y="97500"/>
                </a:cubicBezTo>
                <a:lnTo>
                  <a:pt x="48800" y="97500"/>
                </a:lnTo>
                <a:cubicBezTo>
                  <a:pt x="51533" y="97233"/>
                  <a:pt x="53033" y="95700"/>
                  <a:pt x="53300" y="92900"/>
                </a:cubicBezTo>
                <a:lnTo>
                  <a:pt x="53300" y="92900"/>
                </a:lnTo>
                <a:lnTo>
                  <a:pt x="53300" y="85300"/>
                </a:lnTo>
                <a:lnTo>
                  <a:pt x="64000" y="85300"/>
                </a:lnTo>
                <a:lnTo>
                  <a:pt x="64000" y="92900"/>
                </a:lnTo>
                <a:cubicBezTo>
                  <a:pt x="64267" y="95700"/>
                  <a:pt x="65800" y="97233"/>
                  <a:pt x="68600" y="97500"/>
                </a:cubicBezTo>
                <a:lnTo>
                  <a:pt x="68600" y="97500"/>
                </a:lnTo>
                <a:cubicBezTo>
                  <a:pt x="71333" y="97233"/>
                  <a:pt x="72833" y="95700"/>
                  <a:pt x="73100" y="92900"/>
                </a:cubicBezTo>
                <a:lnTo>
                  <a:pt x="73100" y="92900"/>
                </a:lnTo>
                <a:lnTo>
                  <a:pt x="73100" y="85300"/>
                </a:lnTo>
                <a:cubicBezTo>
                  <a:pt x="76567" y="85167"/>
                  <a:pt x="79433" y="83967"/>
                  <a:pt x="81700" y="81700"/>
                </a:cubicBezTo>
                <a:lnTo>
                  <a:pt x="81700" y="81700"/>
                </a:lnTo>
                <a:cubicBezTo>
                  <a:pt x="83967" y="79433"/>
                  <a:pt x="85167" y="76567"/>
                  <a:pt x="85300" y="73100"/>
                </a:cubicBezTo>
                <a:lnTo>
                  <a:pt x="85300" y="73100"/>
                </a:lnTo>
                <a:lnTo>
                  <a:pt x="92900" y="73100"/>
                </a:lnTo>
                <a:cubicBezTo>
                  <a:pt x="95700" y="72833"/>
                  <a:pt x="97233" y="71333"/>
                  <a:pt x="97500" y="68600"/>
                </a:cubicBezTo>
                <a:lnTo>
                  <a:pt x="97500" y="68600"/>
                </a:lnTo>
                <a:cubicBezTo>
                  <a:pt x="97233" y="65800"/>
                  <a:pt x="95700" y="64267"/>
                  <a:pt x="92900" y="64000"/>
                </a:cubicBezTo>
                <a:lnTo>
                  <a:pt x="92900" y="64000"/>
                </a:lnTo>
                <a:lnTo>
                  <a:pt x="85300" y="64000"/>
                </a:lnTo>
                <a:lnTo>
                  <a:pt x="85300" y="53300"/>
                </a:lnTo>
                <a:lnTo>
                  <a:pt x="92900" y="53300"/>
                </a:lnTo>
                <a:cubicBezTo>
                  <a:pt x="95700" y="53033"/>
                  <a:pt x="97233" y="51533"/>
                  <a:pt x="97500" y="48800"/>
                </a:cubicBezTo>
                <a:lnTo>
                  <a:pt x="97500" y="48800"/>
                </a:lnTo>
                <a:cubicBezTo>
                  <a:pt x="97233" y="46000"/>
                  <a:pt x="95700" y="44467"/>
                  <a:pt x="92900" y="44200"/>
                </a:cubicBezTo>
                <a:lnTo>
                  <a:pt x="92900" y="44200"/>
                </a:lnTo>
                <a:lnTo>
                  <a:pt x="85300" y="44200"/>
                </a:lnTo>
                <a:lnTo>
                  <a:pt x="85300" y="33500"/>
                </a:lnTo>
                <a:lnTo>
                  <a:pt x="92900" y="33500"/>
                </a:lnTo>
                <a:cubicBezTo>
                  <a:pt x="95700" y="33233"/>
                  <a:pt x="97233" y="31700"/>
                  <a:pt x="97500" y="28900"/>
                </a:cubicBezTo>
                <a:lnTo>
                  <a:pt x="97500" y="28900"/>
                </a:lnTo>
                <a:cubicBezTo>
                  <a:pt x="97233" y="26167"/>
                  <a:pt x="95700" y="24667"/>
                  <a:pt x="92900" y="24400"/>
                </a:cubicBezTo>
                <a:lnTo>
                  <a:pt x="92900" y="24400"/>
                </a:lnTo>
                <a:lnTo>
                  <a:pt x="85300" y="24400"/>
                </a:lnTo>
                <a:cubicBezTo>
                  <a:pt x="85167" y="20933"/>
                  <a:pt x="83967" y="18067"/>
                  <a:pt x="81700" y="15800"/>
                </a:cubicBezTo>
                <a:lnTo>
                  <a:pt x="81700" y="15800"/>
                </a:lnTo>
                <a:cubicBezTo>
                  <a:pt x="79433" y="13533"/>
                  <a:pt x="76567" y="12333"/>
                  <a:pt x="73100" y="12200"/>
                </a:cubicBezTo>
                <a:lnTo>
                  <a:pt x="73100" y="12200"/>
                </a:lnTo>
                <a:lnTo>
                  <a:pt x="73100" y="4600"/>
                </a:lnTo>
                <a:cubicBezTo>
                  <a:pt x="72833" y="1800"/>
                  <a:pt x="71333" y="267"/>
                  <a:pt x="68600" y="0"/>
                </a:cubicBezTo>
                <a:lnTo>
                  <a:pt x="68600" y="0"/>
                </a:lnTo>
                <a:cubicBezTo>
                  <a:pt x="65800" y="267"/>
                  <a:pt x="64267" y="1800"/>
                  <a:pt x="64000" y="4600"/>
                </a:cubicBezTo>
                <a:lnTo>
                  <a:pt x="64000" y="4600"/>
                </a:lnTo>
                <a:lnTo>
                  <a:pt x="64000" y="12200"/>
                </a:lnTo>
                <a:lnTo>
                  <a:pt x="53300" y="12200"/>
                </a:lnTo>
                <a:lnTo>
                  <a:pt x="53300" y="4600"/>
                </a:lnTo>
                <a:cubicBezTo>
                  <a:pt x="53033" y="1800"/>
                  <a:pt x="51533" y="267"/>
                  <a:pt x="48800" y="0"/>
                </a:cubicBezTo>
                <a:lnTo>
                  <a:pt x="48800" y="0"/>
                </a:lnTo>
                <a:cubicBezTo>
                  <a:pt x="46000" y="267"/>
                  <a:pt x="44467" y="1800"/>
                  <a:pt x="44200" y="4600"/>
                </a:cubicBezTo>
                <a:lnTo>
                  <a:pt x="44200" y="4600"/>
                </a:lnTo>
                <a:lnTo>
                  <a:pt x="44200" y="12200"/>
                </a:lnTo>
                <a:lnTo>
                  <a:pt x="33500" y="12200"/>
                </a:lnTo>
                <a:lnTo>
                  <a:pt x="33500" y="4600"/>
                </a:lnTo>
                <a:moveTo>
                  <a:pt x="30500" y="24400"/>
                </a:moveTo>
                <a:lnTo>
                  <a:pt x="30500" y="24400"/>
                </a:lnTo>
                <a:lnTo>
                  <a:pt x="67000" y="24400"/>
                </a:lnTo>
                <a:cubicBezTo>
                  <a:pt x="68800" y="24400"/>
                  <a:pt x="70267" y="24967"/>
                  <a:pt x="71400" y="26100"/>
                </a:cubicBezTo>
                <a:lnTo>
                  <a:pt x="71400" y="26100"/>
                </a:lnTo>
                <a:cubicBezTo>
                  <a:pt x="72533" y="27233"/>
                  <a:pt x="73100" y="28700"/>
                  <a:pt x="73100" y="30500"/>
                </a:cubicBezTo>
                <a:lnTo>
                  <a:pt x="73100" y="30500"/>
                </a:lnTo>
                <a:lnTo>
                  <a:pt x="73100" y="67000"/>
                </a:lnTo>
                <a:cubicBezTo>
                  <a:pt x="73100" y="68800"/>
                  <a:pt x="72533" y="70267"/>
                  <a:pt x="71400" y="71400"/>
                </a:cubicBezTo>
                <a:lnTo>
                  <a:pt x="71400" y="71400"/>
                </a:lnTo>
                <a:cubicBezTo>
                  <a:pt x="70267" y="72533"/>
                  <a:pt x="68800" y="73100"/>
                  <a:pt x="67000" y="73100"/>
                </a:cubicBezTo>
                <a:lnTo>
                  <a:pt x="67000" y="73100"/>
                </a:lnTo>
                <a:lnTo>
                  <a:pt x="30500" y="73100"/>
                </a:lnTo>
                <a:cubicBezTo>
                  <a:pt x="28700" y="73100"/>
                  <a:pt x="27233" y="72533"/>
                  <a:pt x="26100" y="71400"/>
                </a:cubicBezTo>
                <a:lnTo>
                  <a:pt x="26100" y="71400"/>
                </a:lnTo>
                <a:cubicBezTo>
                  <a:pt x="24967" y="70267"/>
                  <a:pt x="24400" y="68800"/>
                  <a:pt x="24400" y="67000"/>
                </a:cubicBezTo>
                <a:lnTo>
                  <a:pt x="24400" y="67000"/>
                </a:lnTo>
                <a:lnTo>
                  <a:pt x="24400" y="30500"/>
                </a:lnTo>
                <a:cubicBezTo>
                  <a:pt x="24400" y="28700"/>
                  <a:pt x="24967" y="27233"/>
                  <a:pt x="26100" y="26100"/>
                </a:cubicBezTo>
                <a:lnTo>
                  <a:pt x="26100" y="26100"/>
                </a:lnTo>
                <a:cubicBezTo>
                  <a:pt x="27233" y="24967"/>
                  <a:pt x="28700" y="24400"/>
                  <a:pt x="30500" y="24400"/>
                </a:cubicBezTo>
                <a:lnTo>
                  <a:pt x="30500" y="24400"/>
                </a:lnTo>
                <a:moveTo>
                  <a:pt x="67000" y="30500"/>
                </a:moveTo>
                <a:lnTo>
                  <a:pt x="67000" y="30500"/>
                </a:lnTo>
                <a:lnTo>
                  <a:pt x="30500" y="30500"/>
                </a:lnTo>
                <a:lnTo>
                  <a:pt x="30500" y="67000"/>
                </a:lnTo>
                <a:lnTo>
                  <a:pt x="67000" y="67000"/>
                </a:lnTo>
                <a:lnTo>
                  <a:pt x="67000" y="30500"/>
                </a:lnTo>
              </a:path>
            </a:pathLst>
          </a:custGeom>
          <a:solidFill>
            <a:srgbClr val="4A7C9B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489351877-4"/>
          <p:cNvSpPr txBox="1"/>
          <p:nvPr/>
        </p:nvSpPr>
        <p:spPr>
          <a:xfrm>
            <a:off x="421481" y="250031"/>
            <a:ext cx="1800895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53035" algn="l">
              <a:lnSpc>
                <a:spcPct val="100000"/>
              </a:lnSpc>
            </a:pPr>
            <a:r>
              <a:rPr sz="840" spc="25">
                <a:solidFill>
                  <a:srgbClr val="4A7C9B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存算一体 · 非线性鲁棒性研究</a:t>
            </a:r>
            <a:endParaRPr sz="840" spc="25">
              <a:solidFill>
                <a:srgbClr val="4A7C9B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4788-1"/>
          <p:cNvSpPr/>
          <p:nvPr/>
        </p:nvSpPr>
        <p:spPr>
          <a:xfrm>
            <a:off x="0" y="3857625"/>
            <a:ext cx="142875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83333"/>
                </a:moveTo>
                <a:lnTo>
                  <a:pt x="99640" y="91504"/>
                </a:lnTo>
                <a:lnTo>
                  <a:pt x="98560" y="99593"/>
                </a:lnTo>
                <a:lnTo>
                  <a:pt x="98467" y="100000"/>
                </a:lnTo>
                <a:lnTo>
                  <a:pt x="0" y="100000"/>
                </a:lnTo>
                <a:lnTo>
                  <a:pt x="0" y="4867"/>
                </a:lnTo>
                <a:lnTo>
                  <a:pt x="3227" y="3585"/>
                </a:lnTo>
                <a:lnTo>
                  <a:pt x="10367" y="1600"/>
                </a:lnTo>
                <a:lnTo>
                  <a:pt x="17647" y="400"/>
                </a:lnTo>
                <a:lnTo>
                  <a:pt x="25000" y="0"/>
                </a:lnTo>
                <a:lnTo>
                  <a:pt x="32353" y="400"/>
                </a:lnTo>
                <a:lnTo>
                  <a:pt x="39633" y="1600"/>
                </a:lnTo>
                <a:lnTo>
                  <a:pt x="46773" y="3585"/>
                </a:lnTo>
                <a:lnTo>
                  <a:pt x="53700" y="6341"/>
                </a:lnTo>
                <a:lnTo>
                  <a:pt x="60353" y="9837"/>
                </a:lnTo>
                <a:lnTo>
                  <a:pt x="66667" y="14044"/>
                </a:lnTo>
                <a:lnTo>
                  <a:pt x="72580" y="18919"/>
                </a:lnTo>
                <a:lnTo>
                  <a:pt x="78033" y="24407"/>
                </a:lnTo>
                <a:lnTo>
                  <a:pt x="82973" y="30467"/>
                </a:lnTo>
                <a:lnTo>
                  <a:pt x="87360" y="37037"/>
                </a:lnTo>
                <a:lnTo>
                  <a:pt x="91147" y="44052"/>
                </a:lnTo>
                <a:lnTo>
                  <a:pt x="94293" y="51444"/>
                </a:lnTo>
                <a:lnTo>
                  <a:pt x="96773" y="59141"/>
                </a:lnTo>
                <a:lnTo>
                  <a:pt x="98560" y="67074"/>
                </a:lnTo>
                <a:lnTo>
                  <a:pt x="99640" y="75163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4791-2"/>
          <p:cNvSpPr/>
          <p:nvPr/>
        </p:nvSpPr>
        <p:spPr>
          <a:xfrm>
            <a:off x="8143875" y="0"/>
            <a:ext cx="1000125" cy="10715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3956"/>
                </a:moveTo>
                <a:lnTo>
                  <a:pt x="98762" y="94504"/>
                </a:lnTo>
                <a:lnTo>
                  <a:pt x="92162" y="96699"/>
                </a:lnTo>
                <a:lnTo>
                  <a:pt x="85362" y="98283"/>
                </a:lnTo>
                <a:lnTo>
                  <a:pt x="78429" y="99239"/>
                </a:lnTo>
                <a:lnTo>
                  <a:pt x="71429" y="99558"/>
                </a:lnTo>
                <a:lnTo>
                  <a:pt x="64429" y="99239"/>
                </a:lnTo>
                <a:lnTo>
                  <a:pt x="57495" y="98283"/>
                </a:lnTo>
                <a:lnTo>
                  <a:pt x="50695" y="96699"/>
                </a:lnTo>
                <a:lnTo>
                  <a:pt x="44095" y="94504"/>
                </a:lnTo>
                <a:lnTo>
                  <a:pt x="37762" y="91717"/>
                </a:lnTo>
                <a:lnTo>
                  <a:pt x="31743" y="88372"/>
                </a:lnTo>
                <a:lnTo>
                  <a:pt x="26114" y="84496"/>
                </a:lnTo>
                <a:lnTo>
                  <a:pt x="20924" y="80115"/>
                </a:lnTo>
                <a:lnTo>
                  <a:pt x="16210" y="75292"/>
                </a:lnTo>
                <a:lnTo>
                  <a:pt x="12038" y="70062"/>
                </a:lnTo>
                <a:lnTo>
                  <a:pt x="8438" y="64469"/>
                </a:lnTo>
                <a:lnTo>
                  <a:pt x="5438" y="58584"/>
                </a:lnTo>
                <a:lnTo>
                  <a:pt x="3076" y="52451"/>
                </a:lnTo>
                <a:lnTo>
                  <a:pt x="1371" y="46133"/>
                </a:lnTo>
                <a:lnTo>
                  <a:pt x="343" y="39690"/>
                </a:lnTo>
                <a:lnTo>
                  <a:pt x="0" y="33186"/>
                </a:lnTo>
                <a:lnTo>
                  <a:pt x="343" y="26681"/>
                </a:lnTo>
                <a:lnTo>
                  <a:pt x="1371" y="20239"/>
                </a:lnTo>
                <a:lnTo>
                  <a:pt x="3076" y="13920"/>
                </a:lnTo>
                <a:lnTo>
                  <a:pt x="5438" y="7788"/>
                </a:lnTo>
                <a:lnTo>
                  <a:pt x="8438" y="1903"/>
                </a:lnTo>
                <a:lnTo>
                  <a:pt x="9667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4792-3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4793-5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4792-4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4793-6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489354795-7"/>
          <p:cNvCxnSpPr/>
          <p:nvPr/>
        </p:nvCxnSpPr>
        <p:spPr>
          <a:xfrm>
            <a:off x="414338" y="135731"/>
            <a:ext cx="914" cy="2286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489354806-13"/>
          <p:cNvSpPr/>
          <p:nvPr/>
        </p:nvSpPr>
        <p:spPr>
          <a:xfrm>
            <a:off x="400050" y="1197992"/>
            <a:ext cx="4086225" cy="9257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489354808-16"/>
          <p:cNvCxnSpPr/>
          <p:nvPr/>
        </p:nvCxnSpPr>
        <p:spPr>
          <a:xfrm>
            <a:off x="414338" y="1197992"/>
            <a:ext cx="914" cy="925785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489354866-29"/>
          <p:cNvSpPr/>
          <p:nvPr/>
        </p:nvSpPr>
        <p:spPr>
          <a:xfrm>
            <a:off x="400050" y="2366665"/>
            <a:ext cx="42863" cy="42863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489354868-30"/>
          <p:cNvSpPr/>
          <p:nvPr/>
        </p:nvSpPr>
        <p:spPr>
          <a:xfrm>
            <a:off x="400050" y="2609552"/>
            <a:ext cx="42863" cy="42863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489354870-31"/>
          <p:cNvSpPr/>
          <p:nvPr/>
        </p:nvSpPr>
        <p:spPr>
          <a:xfrm>
            <a:off x="400050" y="2852440"/>
            <a:ext cx="42863" cy="42863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489354871-32"/>
          <p:cNvSpPr/>
          <p:nvPr/>
        </p:nvSpPr>
        <p:spPr>
          <a:xfrm>
            <a:off x="400050" y="3095327"/>
            <a:ext cx="42863" cy="42863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54808-15"/>
          <p:cNvCxnSpPr/>
          <p:nvPr/>
        </p:nvCxnSpPr>
        <p:spPr>
          <a:xfrm>
            <a:off x="400050" y="3370362"/>
            <a:ext cx="4086225" cy="914"/>
          </a:xfrm>
          <a:prstGeom prst="line">
            <a:avLst/>
          </a:prstGeom>
          <a:ln w="7144" cap="flat">
            <a:solidFill>
              <a:srgbClr val="E5E0D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54872-33"/>
          <p:cNvSpPr/>
          <p:nvPr/>
        </p:nvSpPr>
        <p:spPr>
          <a:xfrm>
            <a:off x="400050" y="3516809"/>
            <a:ext cx="42863" cy="42863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489354858-27"/>
          <p:cNvSpPr/>
          <p:nvPr/>
        </p:nvSpPr>
        <p:spPr>
          <a:xfrm>
            <a:off x="1348308" y="3507284"/>
            <a:ext cx="1586210" cy="109538"/>
          </a:xfrm>
          <a:prstGeom prst="roundRect">
            <a:avLst>
              <a:gd name="adj" fmla="val 17391"/>
            </a:avLst>
          </a:prstGeom>
          <a:solidFill>
            <a:srgbClr val="F0EC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489354858-27__text"/>
          <p:cNvSpPr txBox="1"/>
          <p:nvPr/>
        </p:nvSpPr>
        <p:spPr>
          <a:xfrm>
            <a:off x="1348308" y="3507284"/>
            <a:ext cx="1586210" cy="1095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spc="0">
                <a:solidFill>
                  <a:srgbClr val="37415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register_forward_pre_hook</a:t>
            </a:r>
            <a:endParaRPr sz="780" spc="0">
              <a:solidFill>
                <a:srgbClr val="374151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489354873-34"/>
          <p:cNvSpPr/>
          <p:nvPr/>
        </p:nvSpPr>
        <p:spPr>
          <a:xfrm>
            <a:off x="400050" y="3909715"/>
            <a:ext cx="42863" cy="42863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489354862-28"/>
          <p:cNvSpPr/>
          <p:nvPr/>
        </p:nvSpPr>
        <p:spPr>
          <a:xfrm>
            <a:off x="3254871" y="3900190"/>
            <a:ext cx="745927" cy="109538"/>
          </a:xfrm>
          <a:prstGeom prst="roundRect">
            <a:avLst>
              <a:gd name="adj" fmla="val 17391"/>
            </a:avLst>
          </a:prstGeom>
          <a:solidFill>
            <a:srgbClr val="F0EC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5489354862-28__text"/>
          <p:cNvSpPr txBox="1"/>
          <p:nvPr/>
        </p:nvSpPr>
        <p:spPr>
          <a:xfrm>
            <a:off x="3254871" y="3900190"/>
            <a:ext cx="745927" cy="1095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spc="0">
                <a:solidFill>
                  <a:srgbClr val="37415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try/finally</a:t>
            </a:r>
            <a:endParaRPr sz="780" spc="0">
              <a:solidFill>
                <a:srgbClr val="374151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489354807-14"/>
          <p:cNvSpPr/>
          <p:nvPr/>
        </p:nvSpPr>
        <p:spPr>
          <a:xfrm>
            <a:off x="4714875" y="1200076"/>
            <a:ext cx="4086225" cy="30003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AF8F6"/>
          </a:solidFill>
          <a:ln>
            <a:noFill/>
          </a:ln>
          <a:effectLst>
            <a:outerShdw blurRad="142875" dist="28575" dir="5400000" algn="ctr">
              <a:srgbClr val="000000">
                <a:alpha val="6000"/>
              </a:srgbClr>
            </a:outerShdw>
          </a:effectLst>
        </p:spPr>
        <p:txBody>
          <a:bodyPr/>
          <a:lstStyle/>
          <a:p/>
        </p:txBody>
      </p:sp>
      <p:sp>
        <p:nvSpPr>
          <p:cNvPr id="24" name="el-1785489354796-8"/>
          <p:cNvSpPr txBox="1"/>
          <p:nvPr/>
        </p:nvSpPr>
        <p:spPr>
          <a:xfrm>
            <a:off x="557213" y="100013"/>
            <a:ext cx="2950369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非线性误差</a:t>
            </a:r>
            <a:r>
              <a:rPr sz="157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数学模型</a:t>
            </a: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与注入机制</a:t>
            </a:r>
            <a:endParaRPr sz="1570" b="1" spc="28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54833-20"/>
          <p:cNvSpPr txBox="1"/>
          <p:nvPr/>
        </p:nvSpPr>
        <p:spPr>
          <a:xfrm>
            <a:off x="571500" y="1326580"/>
            <a:ext cx="382190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三次多项式失真模型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54830-18"/>
          <p:cNvSpPr txBox="1"/>
          <p:nvPr/>
        </p:nvSpPr>
        <p:spPr>
          <a:xfrm>
            <a:off x="571500" y="1519461"/>
            <a:ext cx="3850481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C2C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 = α·</a:t>
            </a:r>
            <a:r>
              <a:rPr sz="1230" b="1" i="1">
                <a:solidFill>
                  <a:srgbClr val="2C2C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x̃</a:t>
            </a:r>
            <a:r>
              <a:rPr sz="1230" b="1">
                <a:solidFill>
                  <a:srgbClr val="2C2C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³ + (1−α)·</a:t>
            </a:r>
            <a:r>
              <a:rPr sz="1230" b="1" i="1">
                <a:solidFill>
                  <a:srgbClr val="2C2C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x̃</a:t>
            </a:r>
            <a:endParaRPr sz="1230" b="1" i="1">
              <a:solidFill>
                <a:srgbClr val="2C2C2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el-1785489354832-19"/>
          <p:cNvSpPr txBox="1"/>
          <p:nvPr/>
        </p:nvSpPr>
        <p:spPr>
          <a:xfrm>
            <a:off x="571500" y="1812355"/>
            <a:ext cx="3829050" cy="182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x̃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为逐样本 ∞-范数归一化激活值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54841-21"/>
          <p:cNvSpPr txBox="1"/>
          <p:nvPr/>
        </p:nvSpPr>
        <p:spPr>
          <a:xfrm>
            <a:off x="514350" y="2309515"/>
            <a:ext cx="138968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α = 0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：理想线性，无失真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54842-22"/>
          <p:cNvSpPr txBox="1"/>
          <p:nvPr/>
        </p:nvSpPr>
        <p:spPr>
          <a:xfrm>
            <a:off x="514350" y="2552402"/>
            <a:ext cx="184688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α &gt; 0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：正增益饱和，大信号被放大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l-1785489354844-23"/>
          <p:cNvSpPr txBox="1"/>
          <p:nvPr/>
        </p:nvSpPr>
        <p:spPr>
          <a:xfrm>
            <a:off x="514350" y="2795290"/>
            <a:ext cx="184688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α &lt; 0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：负增益截止，大信号被压缩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l-1785489354846-24"/>
          <p:cNvSpPr txBox="1"/>
          <p:nvPr/>
        </p:nvSpPr>
        <p:spPr>
          <a:xfrm>
            <a:off x="514350" y="3038177"/>
            <a:ext cx="116190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|α| 越大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，非线性越强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l-1785489354849-25"/>
          <p:cNvSpPr txBox="1"/>
          <p:nvPr/>
        </p:nvSpPr>
        <p:spPr>
          <a:xfrm>
            <a:off x="514350" y="3459659"/>
            <a:ext cx="3971925" cy="3500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35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注入实现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：基于 　　　　　　　　　　　　　　 在所有 Conv2d / Linear 输入侧注入；逐样本归一化避免 batch 间串扰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l-1785489354851-26"/>
          <p:cNvSpPr txBox="1"/>
          <p:nvPr/>
        </p:nvSpPr>
        <p:spPr>
          <a:xfrm>
            <a:off x="514350" y="3852565"/>
            <a:ext cx="3971925" cy="3500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35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工程保障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：工厂闭包快照参数避免 Python 延迟绑定，</a:t>
            </a:r>
            <a:r>
              <a:rPr sz="83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　　　　　　　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保证钩子稳健释放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l-1785489354797-9"/>
          <p:cNvSpPr txBox="1"/>
          <p:nvPr/>
        </p:nvSpPr>
        <p:spPr>
          <a:xfrm>
            <a:off x="6820495" y="4943475"/>
            <a:ext cx="143343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l-1785489354797-10"/>
          <p:cNvSpPr txBox="1"/>
          <p:nvPr/>
        </p:nvSpPr>
        <p:spPr>
          <a:xfrm>
            <a:off x="8289652" y="4943475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D8D8D8"/>
                </a:solidFill>
                <a:latin typeface="微软雅黑"/>
                <a:ea typeface="微软雅黑"/>
                <a:cs typeface="微软雅黑"/>
              </a:rPr>
              <a:t>|</a:t>
            </a:r>
            <a:endParaRPr sz="780">
              <a:solidFill>
                <a:srgbClr val="D8D8D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l-1785489354797-11"/>
          <p:cNvSpPr txBox="1"/>
          <p:nvPr/>
        </p:nvSpPr>
        <p:spPr>
          <a:xfrm>
            <a:off x="8402315" y="4943475"/>
            <a:ext cx="173385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78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l-1785489354798-12"/>
          <p:cNvSpPr txBox="1"/>
          <p:nvPr/>
        </p:nvSpPr>
        <p:spPr>
          <a:xfrm>
            <a:off x="8554269" y="4943475"/>
            <a:ext cx="2396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8633" y="1274045"/>
            <a:ext cx="4278710" cy="28524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3380-2"/>
          <p:cNvSpPr/>
          <p:nvPr/>
        </p:nvSpPr>
        <p:spPr>
          <a:xfrm>
            <a:off x="8143875" y="3429000"/>
            <a:ext cx="1000125" cy="1428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5780"/>
                </a:moveTo>
                <a:lnTo>
                  <a:pt x="98762" y="96193"/>
                </a:lnTo>
                <a:lnTo>
                  <a:pt x="92162" y="97847"/>
                </a:lnTo>
                <a:lnTo>
                  <a:pt x="85362" y="99040"/>
                </a:lnTo>
                <a:lnTo>
                  <a:pt x="78429" y="99760"/>
                </a:lnTo>
                <a:lnTo>
                  <a:pt x="71429" y="100000"/>
                </a:lnTo>
                <a:lnTo>
                  <a:pt x="64429" y="99760"/>
                </a:lnTo>
                <a:lnTo>
                  <a:pt x="57495" y="99040"/>
                </a:lnTo>
                <a:lnTo>
                  <a:pt x="50695" y="97847"/>
                </a:lnTo>
                <a:lnTo>
                  <a:pt x="44095" y="96193"/>
                </a:lnTo>
                <a:lnTo>
                  <a:pt x="37762" y="94093"/>
                </a:lnTo>
                <a:lnTo>
                  <a:pt x="31743" y="91573"/>
                </a:lnTo>
                <a:lnTo>
                  <a:pt x="26114" y="88653"/>
                </a:lnTo>
                <a:lnTo>
                  <a:pt x="20924" y="85353"/>
                </a:lnTo>
                <a:lnTo>
                  <a:pt x="16210" y="81720"/>
                </a:lnTo>
                <a:lnTo>
                  <a:pt x="12038" y="77780"/>
                </a:lnTo>
                <a:lnTo>
                  <a:pt x="8438" y="73567"/>
                </a:lnTo>
                <a:lnTo>
                  <a:pt x="5438" y="69133"/>
                </a:lnTo>
                <a:lnTo>
                  <a:pt x="3076" y="64513"/>
                </a:lnTo>
                <a:lnTo>
                  <a:pt x="1371" y="59753"/>
                </a:lnTo>
                <a:lnTo>
                  <a:pt x="343" y="54900"/>
                </a:lnTo>
                <a:lnTo>
                  <a:pt x="0" y="50000"/>
                </a:lnTo>
                <a:lnTo>
                  <a:pt x="343" y="45100"/>
                </a:lnTo>
                <a:lnTo>
                  <a:pt x="1371" y="40247"/>
                </a:lnTo>
                <a:lnTo>
                  <a:pt x="3076" y="35487"/>
                </a:lnTo>
                <a:lnTo>
                  <a:pt x="5438" y="30867"/>
                </a:lnTo>
                <a:lnTo>
                  <a:pt x="8438" y="26433"/>
                </a:lnTo>
                <a:lnTo>
                  <a:pt x="12038" y="22220"/>
                </a:lnTo>
                <a:lnTo>
                  <a:pt x="16210" y="18280"/>
                </a:lnTo>
                <a:lnTo>
                  <a:pt x="20924" y="14647"/>
                </a:lnTo>
                <a:lnTo>
                  <a:pt x="26114" y="11347"/>
                </a:lnTo>
                <a:lnTo>
                  <a:pt x="31743" y="8427"/>
                </a:lnTo>
                <a:lnTo>
                  <a:pt x="37762" y="5907"/>
                </a:lnTo>
                <a:lnTo>
                  <a:pt x="44095" y="3807"/>
                </a:lnTo>
                <a:lnTo>
                  <a:pt x="50695" y="2153"/>
                </a:lnTo>
                <a:lnTo>
                  <a:pt x="57495" y="960"/>
                </a:lnTo>
                <a:lnTo>
                  <a:pt x="64429" y="240"/>
                </a:lnTo>
                <a:lnTo>
                  <a:pt x="71429" y="0"/>
                </a:lnTo>
                <a:lnTo>
                  <a:pt x="78429" y="240"/>
                </a:lnTo>
                <a:lnTo>
                  <a:pt x="85362" y="960"/>
                </a:lnTo>
                <a:lnTo>
                  <a:pt x="92162" y="2153"/>
                </a:lnTo>
                <a:lnTo>
                  <a:pt x="98762" y="3807"/>
                </a:lnTo>
                <a:lnTo>
                  <a:pt x="100000" y="422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3383-3"/>
          <p:cNvSpPr/>
          <p:nvPr/>
        </p:nvSpPr>
        <p:spPr>
          <a:xfrm>
            <a:off x="0" y="571500"/>
            <a:ext cx="571500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50000"/>
                </a:moveTo>
                <a:lnTo>
                  <a:pt x="99633" y="54900"/>
                </a:lnTo>
                <a:lnTo>
                  <a:pt x="98567" y="59756"/>
                </a:lnTo>
                <a:lnTo>
                  <a:pt x="96767" y="64511"/>
                </a:lnTo>
                <a:lnTo>
                  <a:pt x="94283" y="69133"/>
                </a:lnTo>
                <a:lnTo>
                  <a:pt x="91150" y="73567"/>
                </a:lnTo>
                <a:lnTo>
                  <a:pt x="87367" y="77778"/>
                </a:lnTo>
                <a:lnTo>
                  <a:pt x="82983" y="81722"/>
                </a:lnTo>
                <a:lnTo>
                  <a:pt x="78033" y="85356"/>
                </a:lnTo>
                <a:lnTo>
                  <a:pt x="72583" y="88656"/>
                </a:lnTo>
                <a:lnTo>
                  <a:pt x="66667" y="91578"/>
                </a:lnTo>
                <a:lnTo>
                  <a:pt x="60350" y="94100"/>
                </a:lnTo>
                <a:lnTo>
                  <a:pt x="53700" y="96189"/>
                </a:lnTo>
                <a:lnTo>
                  <a:pt x="46767" y="97844"/>
                </a:lnTo>
                <a:lnTo>
                  <a:pt x="39633" y="99044"/>
                </a:lnTo>
                <a:lnTo>
                  <a:pt x="32350" y="99756"/>
                </a:lnTo>
                <a:lnTo>
                  <a:pt x="25000" y="100000"/>
                </a:lnTo>
                <a:lnTo>
                  <a:pt x="17650" y="99756"/>
                </a:lnTo>
                <a:lnTo>
                  <a:pt x="10367" y="99044"/>
                </a:lnTo>
                <a:lnTo>
                  <a:pt x="3233" y="97844"/>
                </a:lnTo>
                <a:lnTo>
                  <a:pt x="0" y="97078"/>
                </a:lnTo>
                <a:lnTo>
                  <a:pt x="0" y="2922"/>
                </a:lnTo>
                <a:lnTo>
                  <a:pt x="3233" y="2156"/>
                </a:lnTo>
                <a:lnTo>
                  <a:pt x="10367" y="956"/>
                </a:lnTo>
                <a:lnTo>
                  <a:pt x="17650" y="244"/>
                </a:lnTo>
                <a:lnTo>
                  <a:pt x="25000" y="0"/>
                </a:lnTo>
                <a:lnTo>
                  <a:pt x="32350" y="244"/>
                </a:lnTo>
                <a:lnTo>
                  <a:pt x="39633" y="956"/>
                </a:lnTo>
                <a:lnTo>
                  <a:pt x="46767" y="2156"/>
                </a:lnTo>
                <a:lnTo>
                  <a:pt x="53700" y="3811"/>
                </a:lnTo>
                <a:lnTo>
                  <a:pt x="60350" y="5900"/>
                </a:lnTo>
                <a:lnTo>
                  <a:pt x="66667" y="8422"/>
                </a:lnTo>
                <a:lnTo>
                  <a:pt x="72583" y="11344"/>
                </a:lnTo>
                <a:lnTo>
                  <a:pt x="78033" y="14644"/>
                </a:lnTo>
                <a:lnTo>
                  <a:pt x="82983" y="18278"/>
                </a:lnTo>
                <a:lnTo>
                  <a:pt x="87367" y="22222"/>
                </a:lnTo>
                <a:lnTo>
                  <a:pt x="91150" y="26433"/>
                </a:lnTo>
                <a:lnTo>
                  <a:pt x="94283" y="30867"/>
                </a:lnTo>
                <a:lnTo>
                  <a:pt x="96767" y="35489"/>
                </a:lnTo>
                <a:lnTo>
                  <a:pt x="98567" y="40244"/>
                </a:lnTo>
                <a:lnTo>
                  <a:pt x="99633" y="4510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3384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3388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3385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3389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3417-16"/>
          <p:cNvSpPr/>
          <p:nvPr/>
        </p:nvSpPr>
        <p:spPr>
          <a:xfrm>
            <a:off x="400050" y="1316385"/>
            <a:ext cx="4071938" cy="14558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3419-18"/>
          <p:cNvCxnSpPr/>
          <p:nvPr/>
        </p:nvCxnSpPr>
        <p:spPr>
          <a:xfrm>
            <a:off x="414338" y="1316385"/>
            <a:ext cx="914" cy="1455837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5489353436-26"/>
          <p:cNvCxnSpPr/>
          <p:nvPr/>
        </p:nvCxnSpPr>
        <p:spPr>
          <a:xfrm>
            <a:off x="600075" y="2175718"/>
            <a:ext cx="3700463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489353418-17"/>
          <p:cNvSpPr/>
          <p:nvPr/>
        </p:nvSpPr>
        <p:spPr>
          <a:xfrm>
            <a:off x="4672013" y="1316385"/>
            <a:ext cx="4071938" cy="14558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5489353420-19"/>
          <p:cNvCxnSpPr/>
          <p:nvPr/>
        </p:nvCxnSpPr>
        <p:spPr>
          <a:xfrm>
            <a:off x="4686300" y="1316385"/>
            <a:ext cx="914" cy="1455837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489353439-29"/>
          <p:cNvCxnSpPr/>
          <p:nvPr/>
        </p:nvCxnSpPr>
        <p:spPr>
          <a:xfrm>
            <a:off x="4872038" y="2175718"/>
            <a:ext cx="3700463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53400-10"/>
          <p:cNvSpPr/>
          <p:nvPr/>
        </p:nvSpPr>
        <p:spPr>
          <a:xfrm>
            <a:off x="400050" y="2915096"/>
            <a:ext cx="8343900" cy="11976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53401-11"/>
          <p:cNvCxnSpPr/>
          <p:nvPr/>
        </p:nvCxnSpPr>
        <p:spPr>
          <a:xfrm>
            <a:off x="414338" y="2915096"/>
            <a:ext cx="914" cy="1197694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53413-15"/>
          <p:cNvSpPr/>
          <p:nvPr/>
        </p:nvSpPr>
        <p:spPr>
          <a:xfrm>
            <a:off x="4047307" y="3593753"/>
            <a:ext cx="724867" cy="1381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8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489353413-15__text"/>
          <p:cNvSpPr txBox="1"/>
          <p:nvPr/>
        </p:nvSpPr>
        <p:spPr>
          <a:xfrm>
            <a:off x="4047307" y="3593753"/>
            <a:ext cx="724867" cy="1381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50" spc="0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128→64→128</a:t>
            </a:r>
            <a:endParaRPr sz="950" spc="0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el-1785489353395-8"/>
          <p:cNvSpPr txBox="1"/>
          <p:nvPr/>
        </p:nvSpPr>
        <p:spPr>
          <a:xfrm>
            <a:off x="400050" y="89297"/>
            <a:ext cx="2939653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鲁棒训练</a:t>
            </a: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与残差校准模块原理</a:t>
            </a:r>
            <a:endParaRPr sz="1680" b="1" spc="28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3434-24"/>
          <p:cNvSpPr txBox="1"/>
          <p:nvPr/>
        </p:nvSpPr>
        <p:spPr>
          <a:xfrm>
            <a:off x="600075" y="1459260"/>
            <a:ext cx="375761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策略一 · 微调</a:t>
            </a:r>
            <a:endParaRPr sz="90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3435-25"/>
          <p:cNvSpPr txBox="1"/>
          <p:nvPr/>
        </p:nvSpPr>
        <p:spPr>
          <a:xfrm>
            <a:off x="600075" y="1673572"/>
            <a:ext cx="3779044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Finetune</a:t>
            </a:r>
            <a:endParaRPr sz="123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53425-20"/>
          <p:cNvSpPr txBox="1"/>
          <p:nvPr/>
        </p:nvSpPr>
        <p:spPr>
          <a:xfrm>
            <a:off x="600075" y="1966466"/>
            <a:ext cx="3764756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从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干净权重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出发，低学习率适配失真，保留预训练特征。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53428-21"/>
          <p:cNvSpPr txBox="1"/>
          <p:nvPr/>
        </p:nvSpPr>
        <p:spPr>
          <a:xfrm>
            <a:off x="600075" y="2236440"/>
            <a:ext cx="3712607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学习率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1e-3</a:t>
            </a:r>
            <a:r>
              <a:rPr sz="95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，训练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40–80</a:t>
            </a:r>
            <a:r>
              <a:rPr sz="95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epoch</a:t>
            </a:r>
            <a:endParaRPr sz="950">
              <a:solidFill>
                <a:srgbClr val="4B556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25"/>
              </a:lnSpc>
            </a:pPr>
            <a:r>
              <a:rPr sz="95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适合快速适配，对干净精度影响小</a:t>
            </a:r>
            <a:endParaRPr sz="950">
              <a:solidFill>
                <a:srgbClr val="4B55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53437-27"/>
          <p:cNvSpPr txBox="1"/>
          <p:nvPr/>
        </p:nvSpPr>
        <p:spPr>
          <a:xfrm>
            <a:off x="4872038" y="1459260"/>
            <a:ext cx="375761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策略二 · 从头训练</a:t>
            </a:r>
            <a:endParaRPr sz="90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53438-28"/>
          <p:cNvSpPr txBox="1"/>
          <p:nvPr/>
        </p:nvSpPr>
        <p:spPr>
          <a:xfrm>
            <a:off x="4872038" y="1673572"/>
            <a:ext cx="3779044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Scratch</a:t>
            </a:r>
            <a:endParaRPr sz="123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53430-22"/>
          <p:cNvSpPr txBox="1"/>
          <p:nvPr/>
        </p:nvSpPr>
        <p:spPr>
          <a:xfrm>
            <a:off x="4872038" y="1966466"/>
            <a:ext cx="3764756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随机初始化，全程带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失真训练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，鲁棒性上限更高。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53433-23"/>
          <p:cNvSpPr txBox="1"/>
          <p:nvPr/>
        </p:nvSpPr>
        <p:spPr>
          <a:xfrm>
            <a:off x="4872038" y="2236440"/>
            <a:ext cx="3712607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学习率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0.01</a:t>
            </a:r>
            <a:r>
              <a:rPr sz="95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，训练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120</a:t>
            </a:r>
            <a:r>
              <a:rPr sz="95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epoch</a:t>
            </a:r>
            <a:endParaRPr sz="950">
              <a:solidFill>
                <a:srgbClr val="4B556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25"/>
              </a:lnSpc>
            </a:pPr>
            <a:r>
              <a:rPr sz="95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更充分适应非线性环境，泛化性更强</a:t>
            </a:r>
            <a:endParaRPr sz="950">
              <a:solidFill>
                <a:srgbClr val="4B55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53410-13"/>
          <p:cNvSpPr txBox="1"/>
          <p:nvPr/>
        </p:nvSpPr>
        <p:spPr>
          <a:xfrm>
            <a:off x="628650" y="3043684"/>
            <a:ext cx="797242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核心模块 · 残差校准</a:t>
            </a:r>
            <a:endParaRPr sz="90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53410-14"/>
          <p:cNvSpPr txBox="1"/>
          <p:nvPr/>
        </p:nvSpPr>
        <p:spPr>
          <a:xfrm>
            <a:off x="628650" y="3257996"/>
            <a:ext cx="7993856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FeatureCalibration：瓶颈 MLP + 残差连接</a:t>
            </a:r>
            <a:endParaRPr sz="123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53409-12"/>
          <p:cNvSpPr txBox="1"/>
          <p:nvPr/>
        </p:nvSpPr>
        <p:spPr>
          <a:xfrm>
            <a:off x="628650" y="3550890"/>
            <a:ext cx="7915275" cy="4190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学习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“失真特征 → 干净特征”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逆变换，结构为瓶颈 MLP（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　　　　　　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）+ 残差连接。 最坏情况退化为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恒等映射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，不损失干净精度。额外参数仅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~1.6万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，计算开销极低。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l-1785489353397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08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1" name="el-1785489353377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4469-2"/>
          <p:cNvSpPr/>
          <p:nvPr/>
        </p:nvSpPr>
        <p:spPr>
          <a:xfrm>
            <a:off x="7858125" y="0"/>
            <a:ext cx="1285875" cy="1428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4993"/>
                </a:moveTo>
                <a:lnTo>
                  <a:pt x="99859" y="95053"/>
                </a:lnTo>
                <a:lnTo>
                  <a:pt x="93185" y="97200"/>
                </a:lnTo>
                <a:lnTo>
                  <a:pt x="86311" y="98753"/>
                </a:lnTo>
                <a:lnTo>
                  <a:pt x="79304" y="99687"/>
                </a:lnTo>
                <a:lnTo>
                  <a:pt x="72222" y="100000"/>
                </a:lnTo>
                <a:lnTo>
                  <a:pt x="65141" y="99687"/>
                </a:lnTo>
                <a:lnTo>
                  <a:pt x="58133" y="98753"/>
                </a:lnTo>
                <a:lnTo>
                  <a:pt x="51259" y="97200"/>
                </a:lnTo>
                <a:lnTo>
                  <a:pt x="44585" y="95053"/>
                </a:lnTo>
                <a:lnTo>
                  <a:pt x="38178" y="92327"/>
                </a:lnTo>
                <a:lnTo>
                  <a:pt x="32096" y="89047"/>
                </a:lnTo>
                <a:lnTo>
                  <a:pt x="26407" y="85247"/>
                </a:lnTo>
                <a:lnTo>
                  <a:pt x="21156" y="80960"/>
                </a:lnTo>
                <a:lnTo>
                  <a:pt x="16393" y="76233"/>
                </a:lnTo>
                <a:lnTo>
                  <a:pt x="12170" y="71113"/>
                </a:lnTo>
                <a:lnTo>
                  <a:pt x="8526" y="65640"/>
                </a:lnTo>
                <a:lnTo>
                  <a:pt x="5496" y="59873"/>
                </a:lnTo>
                <a:lnTo>
                  <a:pt x="3111" y="53867"/>
                </a:lnTo>
                <a:lnTo>
                  <a:pt x="1385" y="47680"/>
                </a:lnTo>
                <a:lnTo>
                  <a:pt x="348" y="41373"/>
                </a:lnTo>
                <a:lnTo>
                  <a:pt x="0" y="35000"/>
                </a:lnTo>
                <a:lnTo>
                  <a:pt x="348" y="28627"/>
                </a:lnTo>
                <a:lnTo>
                  <a:pt x="1385" y="22320"/>
                </a:lnTo>
                <a:lnTo>
                  <a:pt x="3111" y="16133"/>
                </a:lnTo>
                <a:lnTo>
                  <a:pt x="5496" y="10127"/>
                </a:lnTo>
                <a:lnTo>
                  <a:pt x="8526" y="4360"/>
                </a:lnTo>
                <a:lnTo>
                  <a:pt x="1143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4472-3"/>
          <p:cNvSpPr/>
          <p:nvPr/>
        </p:nvSpPr>
        <p:spPr>
          <a:xfrm>
            <a:off x="0" y="4143375"/>
            <a:ext cx="857250" cy="10001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64286"/>
                </a:moveTo>
                <a:lnTo>
                  <a:pt x="99633" y="70590"/>
                </a:lnTo>
                <a:lnTo>
                  <a:pt x="98556" y="76829"/>
                </a:lnTo>
                <a:lnTo>
                  <a:pt x="96767" y="82943"/>
                </a:lnTo>
                <a:lnTo>
                  <a:pt x="94289" y="88886"/>
                </a:lnTo>
                <a:lnTo>
                  <a:pt x="91144" y="94590"/>
                </a:lnTo>
                <a:lnTo>
                  <a:pt x="87356" y="100000"/>
                </a:lnTo>
                <a:lnTo>
                  <a:pt x="0" y="100000"/>
                </a:lnTo>
                <a:lnTo>
                  <a:pt x="0" y="3762"/>
                </a:lnTo>
                <a:lnTo>
                  <a:pt x="3233" y="2771"/>
                </a:lnTo>
                <a:lnTo>
                  <a:pt x="10367" y="1238"/>
                </a:lnTo>
                <a:lnTo>
                  <a:pt x="17644" y="314"/>
                </a:lnTo>
                <a:lnTo>
                  <a:pt x="25000" y="0"/>
                </a:lnTo>
                <a:lnTo>
                  <a:pt x="32356" y="314"/>
                </a:lnTo>
                <a:lnTo>
                  <a:pt x="39633" y="1238"/>
                </a:lnTo>
                <a:lnTo>
                  <a:pt x="46767" y="2771"/>
                </a:lnTo>
                <a:lnTo>
                  <a:pt x="53700" y="4895"/>
                </a:lnTo>
                <a:lnTo>
                  <a:pt x="60356" y="7590"/>
                </a:lnTo>
                <a:lnTo>
                  <a:pt x="66667" y="10838"/>
                </a:lnTo>
                <a:lnTo>
                  <a:pt x="72578" y="14590"/>
                </a:lnTo>
                <a:lnTo>
                  <a:pt x="78033" y="18829"/>
                </a:lnTo>
                <a:lnTo>
                  <a:pt x="82978" y="23505"/>
                </a:lnTo>
                <a:lnTo>
                  <a:pt x="87356" y="28571"/>
                </a:lnTo>
                <a:lnTo>
                  <a:pt x="91144" y="33981"/>
                </a:lnTo>
                <a:lnTo>
                  <a:pt x="94289" y="39686"/>
                </a:lnTo>
                <a:lnTo>
                  <a:pt x="96767" y="45629"/>
                </a:lnTo>
                <a:lnTo>
                  <a:pt x="98556" y="51743"/>
                </a:lnTo>
                <a:lnTo>
                  <a:pt x="99633" y="57981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4473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4476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4474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4476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4483-10"/>
          <p:cNvSpPr/>
          <p:nvPr/>
        </p:nvSpPr>
        <p:spPr>
          <a:xfrm>
            <a:off x="400050" y="1528763"/>
            <a:ext cx="8343900" cy="7143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4485-13"/>
          <p:cNvCxnSpPr/>
          <p:nvPr/>
        </p:nvCxnSpPr>
        <p:spPr>
          <a:xfrm>
            <a:off x="421481" y="1528763"/>
            <a:ext cx="914" cy="714375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5489354490-16"/>
          <p:cNvCxnSpPr/>
          <p:nvPr/>
        </p:nvCxnSpPr>
        <p:spPr>
          <a:xfrm>
            <a:off x="1846659" y="1671638"/>
            <a:ext cx="914" cy="428625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489354484-11"/>
          <p:cNvSpPr/>
          <p:nvPr/>
        </p:nvSpPr>
        <p:spPr>
          <a:xfrm>
            <a:off x="400050" y="2386013"/>
            <a:ext cx="8343900" cy="7143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5489354485-14"/>
          <p:cNvCxnSpPr/>
          <p:nvPr/>
        </p:nvCxnSpPr>
        <p:spPr>
          <a:xfrm>
            <a:off x="421481" y="2386013"/>
            <a:ext cx="914" cy="714375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489354491-17"/>
          <p:cNvCxnSpPr/>
          <p:nvPr/>
        </p:nvCxnSpPr>
        <p:spPr>
          <a:xfrm>
            <a:off x="1846659" y="2528888"/>
            <a:ext cx="914" cy="428625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54485-12"/>
          <p:cNvSpPr/>
          <p:nvPr/>
        </p:nvSpPr>
        <p:spPr>
          <a:xfrm>
            <a:off x="400050" y="3243263"/>
            <a:ext cx="8343900" cy="7143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54486-15"/>
          <p:cNvCxnSpPr/>
          <p:nvPr/>
        </p:nvCxnSpPr>
        <p:spPr>
          <a:xfrm>
            <a:off x="421481" y="3243263"/>
            <a:ext cx="914" cy="714375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5489354492-18"/>
          <p:cNvCxnSpPr/>
          <p:nvPr/>
        </p:nvCxnSpPr>
        <p:spPr>
          <a:xfrm>
            <a:off x="1846659" y="3386138"/>
            <a:ext cx="914" cy="428625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489354479-8"/>
          <p:cNvSpPr txBox="1"/>
          <p:nvPr/>
        </p:nvSpPr>
        <p:spPr>
          <a:xfrm>
            <a:off x="400050" y="117872"/>
            <a:ext cx="2286000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多误差模拟与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分析指标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4495-19"/>
          <p:cNvSpPr txBox="1"/>
          <p:nvPr/>
        </p:nvSpPr>
        <p:spPr>
          <a:xfrm>
            <a:off x="642938" y="1698427"/>
            <a:ext cx="65722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量化误差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4496-20"/>
          <p:cNvSpPr txBox="1"/>
          <p:nvPr/>
        </p:nvSpPr>
        <p:spPr>
          <a:xfrm>
            <a:off x="642938" y="1912739"/>
            <a:ext cx="710952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ADC精度损失</a:t>
            </a:r>
            <a:endParaRPr sz="84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4513-29"/>
          <p:cNvSpPr txBox="1"/>
          <p:nvPr/>
        </p:nvSpPr>
        <p:spPr>
          <a:xfrm>
            <a:off x="2021681" y="1671638"/>
            <a:ext cx="77866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模拟方式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54507-25"/>
          <p:cNvSpPr txBox="1"/>
          <p:nvPr/>
        </p:nvSpPr>
        <p:spPr>
          <a:xfrm>
            <a:off x="2821781" y="1671638"/>
            <a:ext cx="578643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逐样本动态缩放的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对称饱和QDQ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范式；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num_bits ≥ 32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自动短路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54514-30"/>
          <p:cNvSpPr txBox="1"/>
          <p:nvPr/>
        </p:nvSpPr>
        <p:spPr>
          <a:xfrm>
            <a:off x="2021681" y="1907381"/>
            <a:ext cx="77866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分析指标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54515-31"/>
          <p:cNvSpPr txBox="1"/>
          <p:nvPr/>
        </p:nvSpPr>
        <p:spPr>
          <a:xfrm>
            <a:off x="2821781" y="1907381"/>
            <a:ext cx="578643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量化精度损失曲线  ·  不同bit宽度下准确率对比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54496-21"/>
          <p:cNvSpPr txBox="1"/>
          <p:nvPr/>
        </p:nvSpPr>
        <p:spPr>
          <a:xfrm>
            <a:off x="642938" y="2555677"/>
            <a:ext cx="65722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高斯噪声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54497-22"/>
          <p:cNvSpPr txBox="1"/>
          <p:nvPr/>
        </p:nvSpPr>
        <p:spPr>
          <a:xfrm>
            <a:off x="642938" y="2769989"/>
            <a:ext cx="696516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随机扰动基线</a:t>
            </a:r>
            <a:endParaRPr sz="84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54516-32"/>
          <p:cNvSpPr txBox="1"/>
          <p:nvPr/>
        </p:nvSpPr>
        <p:spPr>
          <a:xfrm>
            <a:off x="2021681" y="2528888"/>
            <a:ext cx="77866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模拟方式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54508-26"/>
          <p:cNvSpPr txBox="1"/>
          <p:nvPr/>
        </p:nvSpPr>
        <p:spPr>
          <a:xfrm>
            <a:off x="2821781" y="2528888"/>
            <a:ext cx="578643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零均值加性噪声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x + N(0, σ²)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，输入无关的随机扰动基线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54517-33"/>
          <p:cNvSpPr txBox="1"/>
          <p:nvPr/>
        </p:nvSpPr>
        <p:spPr>
          <a:xfrm>
            <a:off x="2021681" y="2764631"/>
            <a:ext cx="77866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分析指标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54518-34"/>
          <p:cNvSpPr txBox="1"/>
          <p:nvPr/>
        </p:nvSpPr>
        <p:spPr>
          <a:xfrm>
            <a:off x="2821781" y="2764631"/>
            <a:ext cx="578643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不同σ下的准确率衰减曲线  ·  与非线性失真的模式对比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l-1785489354497-23"/>
          <p:cNvSpPr txBox="1"/>
          <p:nvPr/>
        </p:nvSpPr>
        <p:spPr>
          <a:xfrm>
            <a:off x="642938" y="3412927"/>
            <a:ext cx="803672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非线性失真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l-1785489354497-24"/>
          <p:cNvSpPr txBox="1"/>
          <p:nvPr/>
        </p:nvSpPr>
        <p:spPr>
          <a:xfrm>
            <a:off x="642938" y="3627239"/>
            <a:ext cx="589359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层偏移分析</a:t>
            </a:r>
            <a:endParaRPr sz="84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l-1785489354518-35"/>
          <p:cNvSpPr txBox="1"/>
          <p:nvPr/>
        </p:nvSpPr>
        <p:spPr>
          <a:xfrm>
            <a:off x="2021681" y="3386138"/>
            <a:ext cx="77866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指标 ①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l-1785489354510-27"/>
          <p:cNvSpPr txBox="1"/>
          <p:nvPr/>
        </p:nvSpPr>
        <p:spPr>
          <a:xfrm>
            <a:off x="2821781" y="3386138"/>
            <a:ext cx="578643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相对均值误差（RME）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：衡量分布中心偏移幅度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l-1785489354519-36"/>
          <p:cNvSpPr txBox="1"/>
          <p:nvPr/>
        </p:nvSpPr>
        <p:spPr>
          <a:xfrm>
            <a:off x="2021681" y="3621881"/>
            <a:ext cx="77866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指标 ②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l-1785489354512-28"/>
          <p:cNvSpPr txBox="1"/>
          <p:nvPr/>
        </p:nvSpPr>
        <p:spPr>
          <a:xfrm>
            <a:off x="2821781" y="3621881"/>
            <a:ext cx="578643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余弦相似度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：衡量特征空间向量方向偏差，反映语义信息保留程度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l-1785489354481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09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7" name="el-1785489354466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4900-6"/>
          <p:cNvSpPr/>
          <p:nvPr/>
        </p:nvSpPr>
        <p:spPr>
          <a:xfrm>
            <a:off x="0" y="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27500"/>
                </a:moveTo>
                <a:lnTo>
                  <a:pt x="99650" y="34607"/>
                </a:lnTo>
                <a:lnTo>
                  <a:pt x="98607" y="41643"/>
                </a:lnTo>
                <a:lnTo>
                  <a:pt x="96877" y="48547"/>
                </a:lnTo>
                <a:lnTo>
                  <a:pt x="94480" y="55243"/>
                </a:lnTo>
                <a:lnTo>
                  <a:pt x="91440" y="61677"/>
                </a:lnTo>
                <a:lnTo>
                  <a:pt x="87780" y="67780"/>
                </a:lnTo>
                <a:lnTo>
                  <a:pt x="83543" y="73493"/>
                </a:lnTo>
                <a:lnTo>
                  <a:pt x="78767" y="78767"/>
                </a:lnTo>
                <a:lnTo>
                  <a:pt x="73493" y="83543"/>
                </a:lnTo>
                <a:lnTo>
                  <a:pt x="67780" y="87780"/>
                </a:lnTo>
                <a:lnTo>
                  <a:pt x="61677" y="91440"/>
                </a:lnTo>
                <a:lnTo>
                  <a:pt x="55243" y="94480"/>
                </a:lnTo>
                <a:lnTo>
                  <a:pt x="48547" y="96877"/>
                </a:lnTo>
                <a:lnTo>
                  <a:pt x="41643" y="98607"/>
                </a:lnTo>
                <a:lnTo>
                  <a:pt x="34607" y="99650"/>
                </a:lnTo>
                <a:lnTo>
                  <a:pt x="27500" y="100000"/>
                </a:lnTo>
                <a:lnTo>
                  <a:pt x="20393" y="99650"/>
                </a:lnTo>
                <a:lnTo>
                  <a:pt x="13357" y="98607"/>
                </a:lnTo>
                <a:lnTo>
                  <a:pt x="6453" y="96877"/>
                </a:lnTo>
                <a:lnTo>
                  <a:pt x="0" y="94567"/>
                </a:lnTo>
                <a:lnTo>
                  <a:pt x="0" y="0"/>
                </a:lnTo>
                <a:lnTo>
                  <a:pt x="94567" y="0"/>
                </a:lnTo>
                <a:lnTo>
                  <a:pt x="96877" y="6453"/>
                </a:lnTo>
                <a:lnTo>
                  <a:pt x="98607" y="13357"/>
                </a:lnTo>
                <a:lnTo>
                  <a:pt x="99650" y="20393"/>
                </a:lnTo>
                <a:close/>
              </a:path>
            </a:pathLst>
          </a:custGeom>
          <a:solidFill>
            <a:srgbClr val="B8C5D1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4902-7"/>
          <p:cNvSpPr/>
          <p:nvPr/>
        </p:nvSpPr>
        <p:spPr>
          <a:xfrm>
            <a:off x="5715000" y="17145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100000"/>
                </a:moveTo>
                <a:lnTo>
                  <a:pt x="6367" y="100000"/>
                </a:lnTo>
                <a:lnTo>
                  <a:pt x="5392" y="97939"/>
                </a:lnTo>
                <a:lnTo>
                  <a:pt x="3050" y="91394"/>
                </a:lnTo>
                <a:lnTo>
                  <a:pt x="1361" y="84653"/>
                </a:lnTo>
                <a:lnTo>
                  <a:pt x="342" y="77775"/>
                </a:lnTo>
                <a:lnTo>
                  <a:pt x="0" y="70833"/>
                </a:lnTo>
                <a:lnTo>
                  <a:pt x="342" y="63892"/>
                </a:lnTo>
                <a:lnTo>
                  <a:pt x="1361" y="57014"/>
                </a:lnTo>
                <a:lnTo>
                  <a:pt x="3050" y="50272"/>
                </a:lnTo>
                <a:lnTo>
                  <a:pt x="5392" y="43728"/>
                </a:lnTo>
                <a:lnTo>
                  <a:pt x="8364" y="37442"/>
                </a:lnTo>
                <a:lnTo>
                  <a:pt x="11939" y="31481"/>
                </a:lnTo>
                <a:lnTo>
                  <a:pt x="16078" y="25897"/>
                </a:lnTo>
                <a:lnTo>
                  <a:pt x="20747" y="20747"/>
                </a:lnTo>
                <a:lnTo>
                  <a:pt x="25897" y="16078"/>
                </a:lnTo>
                <a:lnTo>
                  <a:pt x="31481" y="11939"/>
                </a:lnTo>
                <a:lnTo>
                  <a:pt x="37442" y="8364"/>
                </a:lnTo>
                <a:lnTo>
                  <a:pt x="43728" y="5392"/>
                </a:lnTo>
                <a:lnTo>
                  <a:pt x="50272" y="3050"/>
                </a:lnTo>
                <a:lnTo>
                  <a:pt x="57014" y="1361"/>
                </a:lnTo>
                <a:lnTo>
                  <a:pt x="63892" y="342"/>
                </a:lnTo>
                <a:lnTo>
                  <a:pt x="70833" y="0"/>
                </a:lnTo>
                <a:lnTo>
                  <a:pt x="77775" y="342"/>
                </a:lnTo>
                <a:lnTo>
                  <a:pt x="84653" y="1361"/>
                </a:lnTo>
                <a:lnTo>
                  <a:pt x="91394" y="3050"/>
                </a:lnTo>
                <a:lnTo>
                  <a:pt x="97939" y="5392"/>
                </a:lnTo>
                <a:lnTo>
                  <a:pt x="100000" y="6367"/>
                </a:lnTo>
                <a:close/>
              </a:path>
            </a:pathLst>
          </a:custGeom>
          <a:solidFill>
            <a:srgbClr val="F0E4E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4903-8"/>
          <p:cNvSpPr/>
          <p:nvPr/>
        </p:nvSpPr>
        <p:spPr>
          <a:xfrm>
            <a:off x="3586163" y="600075"/>
            <a:ext cx="3286125" cy="3286125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489354905-9"/>
          <p:cNvSpPr/>
          <p:nvPr/>
        </p:nvSpPr>
        <p:spPr>
          <a:xfrm>
            <a:off x="7189515" y="1131540"/>
            <a:ext cx="857250" cy="857250"/>
          </a:xfrm>
          <a:prstGeom prst="ellipse">
            <a:avLst/>
          </a:prstGeom>
          <a:solidFill>
            <a:srgbClr val="B8C5D1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489354907-10"/>
          <p:cNvSpPr/>
          <p:nvPr/>
        </p:nvSpPr>
        <p:spPr>
          <a:xfrm>
            <a:off x="914400" y="3646215"/>
            <a:ext cx="571500" cy="571500"/>
          </a:xfrm>
          <a:prstGeom prst="ellipse">
            <a:avLst/>
          </a:prstGeom>
          <a:solidFill>
            <a:srgbClr val="B8C5D1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489354890-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063" y="38889"/>
                </a:moveTo>
                <a:cubicBezTo>
                  <a:pt x="23438" y="24074"/>
                  <a:pt x="35417" y="26852"/>
                  <a:pt x="50000" y="47222"/>
                </a:cubicBezTo>
                <a:cubicBezTo>
                  <a:pt x="64583" y="67593"/>
                  <a:pt x="77083" y="64815"/>
                  <a:pt x="87500" y="38889"/>
                </a:cubicBezTo>
              </a:path>
            </a:pathLst>
          </a:custGeom>
          <a:noFill/>
          <a:ln w="17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489354891-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813" y="66667"/>
                </a:moveTo>
                <a:cubicBezTo>
                  <a:pt x="18229" y="53704"/>
                  <a:pt x="30208" y="55556"/>
                  <a:pt x="43750" y="72222"/>
                </a:cubicBezTo>
                <a:cubicBezTo>
                  <a:pt x="57292" y="88889"/>
                  <a:pt x="73438" y="83333"/>
                  <a:pt x="92188" y="55556"/>
                </a:cubicBezTo>
              </a:path>
            </a:pathLst>
          </a:custGeom>
          <a:noFill/>
          <a:ln w="12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489354890-1"/>
          <p:cNvCxnSpPr/>
          <p:nvPr/>
        </p:nvCxnSpPr>
        <p:spPr>
          <a:xfrm>
            <a:off x="400050" y="4911328"/>
            <a:ext cx="8343900" cy="914"/>
          </a:xfrm>
          <a:prstGeom prst="line">
            <a:avLst/>
          </a:prstGeom>
          <a:ln w="9525" cap="flat">
            <a:solidFill>
              <a:srgbClr val="D8D8D8">
                <a:alpha val="5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4917-13"/>
          <p:cNvSpPr/>
          <p:nvPr/>
        </p:nvSpPr>
        <p:spPr>
          <a:xfrm>
            <a:off x="4143375" y="3367683"/>
            <a:ext cx="857250" cy="21431"/>
          </a:xfrm>
          <a:prstGeom prst="roundRect">
            <a:avLst>
              <a:gd name="adj" fmla="val 50000"/>
            </a:avLst>
          </a:prstGeom>
          <a:solidFill>
            <a:srgbClr val="4A7C9B">
              <a:alpha val="6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54912-11"/>
          <p:cNvSpPr txBox="1"/>
          <p:nvPr/>
        </p:nvSpPr>
        <p:spPr>
          <a:xfrm>
            <a:off x="3580358" y="1754386"/>
            <a:ext cx="198320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50" b="1" spc="270">
                <a:solidFill>
                  <a:srgbClr val="4A7C9B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6750" b="1" spc="270">
              <a:solidFill>
                <a:srgbClr val="4A7C9B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l-1785489354913-12"/>
          <p:cNvSpPr txBox="1"/>
          <p:nvPr/>
        </p:nvSpPr>
        <p:spPr>
          <a:xfrm>
            <a:off x="2604760" y="2765896"/>
            <a:ext cx="3934480" cy="4160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510" b="1" spc="5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第三章 · 实验设计与方法</a:t>
            </a:r>
            <a:endParaRPr sz="2510" b="1" spc="5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l-1785489354895-5"/>
          <p:cNvSpPr/>
          <p:nvPr/>
        </p:nvSpPr>
        <p:spPr>
          <a:xfrm>
            <a:off x="285750" y="200025"/>
            <a:ext cx="1883048" cy="260747"/>
          </a:xfrm>
          <a:prstGeom prst="roundRect">
            <a:avLst>
              <a:gd name="adj" fmla="val 50000"/>
            </a:avLst>
          </a:prstGeom>
          <a:solidFill>
            <a:srgbClr val="FFFFFF">
              <a:alpha val="37500"/>
            </a:srgbClr>
          </a:solidFill>
          <a:ln w="7144" algn="in">
            <a:solidFill>
              <a:srgbClr val="4A7C9B">
                <a:alpha val="1125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489355283-31"/>
          <p:cNvSpPr/>
          <p:nvPr/>
        </p:nvSpPr>
        <p:spPr>
          <a:xfrm>
            <a:off x="421481" y="288131"/>
            <a:ext cx="92869" cy="928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3500" y="4600"/>
                </a:moveTo>
                <a:lnTo>
                  <a:pt x="33500" y="4600"/>
                </a:lnTo>
                <a:cubicBezTo>
                  <a:pt x="33233" y="1800"/>
                  <a:pt x="31700" y="267"/>
                  <a:pt x="28900" y="0"/>
                </a:cubicBezTo>
                <a:lnTo>
                  <a:pt x="28900" y="0"/>
                </a:lnTo>
                <a:cubicBezTo>
                  <a:pt x="26167" y="267"/>
                  <a:pt x="24667" y="1800"/>
                  <a:pt x="24400" y="4600"/>
                </a:cubicBezTo>
                <a:lnTo>
                  <a:pt x="24400" y="4600"/>
                </a:lnTo>
                <a:lnTo>
                  <a:pt x="24400" y="12200"/>
                </a:lnTo>
                <a:cubicBezTo>
                  <a:pt x="20933" y="12333"/>
                  <a:pt x="18067" y="13533"/>
                  <a:pt x="15800" y="15800"/>
                </a:cubicBezTo>
                <a:lnTo>
                  <a:pt x="15800" y="15800"/>
                </a:lnTo>
                <a:cubicBezTo>
                  <a:pt x="13533" y="18067"/>
                  <a:pt x="12333" y="20933"/>
                  <a:pt x="12200" y="24400"/>
                </a:cubicBezTo>
                <a:lnTo>
                  <a:pt x="12200" y="24400"/>
                </a:lnTo>
                <a:lnTo>
                  <a:pt x="4600" y="24400"/>
                </a:lnTo>
                <a:cubicBezTo>
                  <a:pt x="1800" y="24667"/>
                  <a:pt x="267" y="26167"/>
                  <a:pt x="0" y="28900"/>
                </a:cubicBezTo>
                <a:lnTo>
                  <a:pt x="0" y="28900"/>
                </a:lnTo>
                <a:cubicBezTo>
                  <a:pt x="267" y="31700"/>
                  <a:pt x="1800" y="33233"/>
                  <a:pt x="4600" y="33500"/>
                </a:cubicBezTo>
                <a:lnTo>
                  <a:pt x="4600" y="33500"/>
                </a:lnTo>
                <a:lnTo>
                  <a:pt x="12200" y="33500"/>
                </a:lnTo>
                <a:lnTo>
                  <a:pt x="12200" y="44200"/>
                </a:lnTo>
                <a:lnTo>
                  <a:pt x="4600" y="44200"/>
                </a:lnTo>
                <a:cubicBezTo>
                  <a:pt x="1800" y="44467"/>
                  <a:pt x="267" y="46000"/>
                  <a:pt x="0" y="48800"/>
                </a:cubicBezTo>
                <a:lnTo>
                  <a:pt x="0" y="48800"/>
                </a:lnTo>
                <a:cubicBezTo>
                  <a:pt x="267" y="51533"/>
                  <a:pt x="1800" y="53033"/>
                  <a:pt x="4600" y="53300"/>
                </a:cubicBezTo>
                <a:lnTo>
                  <a:pt x="4600" y="53300"/>
                </a:lnTo>
                <a:lnTo>
                  <a:pt x="12200" y="53300"/>
                </a:lnTo>
                <a:lnTo>
                  <a:pt x="12200" y="64000"/>
                </a:lnTo>
                <a:lnTo>
                  <a:pt x="4600" y="64000"/>
                </a:lnTo>
                <a:cubicBezTo>
                  <a:pt x="1800" y="64267"/>
                  <a:pt x="267" y="65800"/>
                  <a:pt x="0" y="68600"/>
                </a:cubicBezTo>
                <a:lnTo>
                  <a:pt x="0" y="68600"/>
                </a:lnTo>
                <a:cubicBezTo>
                  <a:pt x="267" y="71333"/>
                  <a:pt x="1800" y="72833"/>
                  <a:pt x="4600" y="73100"/>
                </a:cubicBezTo>
                <a:lnTo>
                  <a:pt x="4600" y="73100"/>
                </a:lnTo>
                <a:lnTo>
                  <a:pt x="12200" y="73100"/>
                </a:lnTo>
                <a:cubicBezTo>
                  <a:pt x="12333" y="76567"/>
                  <a:pt x="13533" y="79433"/>
                  <a:pt x="15800" y="81700"/>
                </a:cubicBezTo>
                <a:lnTo>
                  <a:pt x="15800" y="81700"/>
                </a:lnTo>
                <a:cubicBezTo>
                  <a:pt x="18067" y="83967"/>
                  <a:pt x="20933" y="85167"/>
                  <a:pt x="24400" y="85300"/>
                </a:cubicBezTo>
                <a:lnTo>
                  <a:pt x="24400" y="85300"/>
                </a:lnTo>
                <a:lnTo>
                  <a:pt x="24400" y="92900"/>
                </a:lnTo>
                <a:cubicBezTo>
                  <a:pt x="24667" y="95700"/>
                  <a:pt x="26167" y="97233"/>
                  <a:pt x="28900" y="97500"/>
                </a:cubicBezTo>
                <a:lnTo>
                  <a:pt x="28900" y="97500"/>
                </a:lnTo>
                <a:cubicBezTo>
                  <a:pt x="31700" y="97233"/>
                  <a:pt x="33233" y="95700"/>
                  <a:pt x="33500" y="92900"/>
                </a:cubicBezTo>
                <a:lnTo>
                  <a:pt x="33500" y="92900"/>
                </a:lnTo>
                <a:lnTo>
                  <a:pt x="33500" y="85300"/>
                </a:lnTo>
                <a:lnTo>
                  <a:pt x="44200" y="85300"/>
                </a:lnTo>
                <a:lnTo>
                  <a:pt x="44200" y="92900"/>
                </a:lnTo>
                <a:cubicBezTo>
                  <a:pt x="44467" y="95700"/>
                  <a:pt x="46000" y="97233"/>
                  <a:pt x="48800" y="97500"/>
                </a:cubicBezTo>
                <a:lnTo>
                  <a:pt x="48800" y="97500"/>
                </a:lnTo>
                <a:cubicBezTo>
                  <a:pt x="51533" y="97233"/>
                  <a:pt x="53033" y="95700"/>
                  <a:pt x="53300" y="92900"/>
                </a:cubicBezTo>
                <a:lnTo>
                  <a:pt x="53300" y="92900"/>
                </a:lnTo>
                <a:lnTo>
                  <a:pt x="53300" y="85300"/>
                </a:lnTo>
                <a:lnTo>
                  <a:pt x="64000" y="85300"/>
                </a:lnTo>
                <a:lnTo>
                  <a:pt x="64000" y="92900"/>
                </a:lnTo>
                <a:cubicBezTo>
                  <a:pt x="64267" y="95700"/>
                  <a:pt x="65800" y="97233"/>
                  <a:pt x="68600" y="97500"/>
                </a:cubicBezTo>
                <a:lnTo>
                  <a:pt x="68600" y="97500"/>
                </a:lnTo>
                <a:cubicBezTo>
                  <a:pt x="71333" y="97233"/>
                  <a:pt x="72833" y="95700"/>
                  <a:pt x="73100" y="92900"/>
                </a:cubicBezTo>
                <a:lnTo>
                  <a:pt x="73100" y="92900"/>
                </a:lnTo>
                <a:lnTo>
                  <a:pt x="73100" y="85300"/>
                </a:lnTo>
                <a:cubicBezTo>
                  <a:pt x="76567" y="85167"/>
                  <a:pt x="79433" y="83967"/>
                  <a:pt x="81700" y="81700"/>
                </a:cubicBezTo>
                <a:lnTo>
                  <a:pt x="81700" y="81700"/>
                </a:lnTo>
                <a:cubicBezTo>
                  <a:pt x="83967" y="79433"/>
                  <a:pt x="85167" y="76567"/>
                  <a:pt x="85300" y="73100"/>
                </a:cubicBezTo>
                <a:lnTo>
                  <a:pt x="85300" y="73100"/>
                </a:lnTo>
                <a:lnTo>
                  <a:pt x="92900" y="73100"/>
                </a:lnTo>
                <a:cubicBezTo>
                  <a:pt x="95700" y="72833"/>
                  <a:pt x="97233" y="71333"/>
                  <a:pt x="97500" y="68600"/>
                </a:cubicBezTo>
                <a:lnTo>
                  <a:pt x="97500" y="68600"/>
                </a:lnTo>
                <a:cubicBezTo>
                  <a:pt x="97233" y="65800"/>
                  <a:pt x="95700" y="64267"/>
                  <a:pt x="92900" y="64000"/>
                </a:cubicBezTo>
                <a:lnTo>
                  <a:pt x="92900" y="64000"/>
                </a:lnTo>
                <a:lnTo>
                  <a:pt x="85300" y="64000"/>
                </a:lnTo>
                <a:lnTo>
                  <a:pt x="85300" y="53300"/>
                </a:lnTo>
                <a:lnTo>
                  <a:pt x="92900" y="53300"/>
                </a:lnTo>
                <a:cubicBezTo>
                  <a:pt x="95700" y="53033"/>
                  <a:pt x="97233" y="51533"/>
                  <a:pt x="97500" y="48800"/>
                </a:cubicBezTo>
                <a:lnTo>
                  <a:pt x="97500" y="48800"/>
                </a:lnTo>
                <a:cubicBezTo>
                  <a:pt x="97233" y="46000"/>
                  <a:pt x="95700" y="44467"/>
                  <a:pt x="92900" y="44200"/>
                </a:cubicBezTo>
                <a:lnTo>
                  <a:pt x="92900" y="44200"/>
                </a:lnTo>
                <a:lnTo>
                  <a:pt x="85300" y="44200"/>
                </a:lnTo>
                <a:lnTo>
                  <a:pt x="85300" y="33500"/>
                </a:lnTo>
                <a:lnTo>
                  <a:pt x="92900" y="33500"/>
                </a:lnTo>
                <a:cubicBezTo>
                  <a:pt x="95700" y="33233"/>
                  <a:pt x="97233" y="31700"/>
                  <a:pt x="97500" y="28900"/>
                </a:cubicBezTo>
                <a:lnTo>
                  <a:pt x="97500" y="28900"/>
                </a:lnTo>
                <a:cubicBezTo>
                  <a:pt x="97233" y="26167"/>
                  <a:pt x="95700" y="24667"/>
                  <a:pt x="92900" y="24400"/>
                </a:cubicBezTo>
                <a:lnTo>
                  <a:pt x="92900" y="24400"/>
                </a:lnTo>
                <a:lnTo>
                  <a:pt x="85300" y="24400"/>
                </a:lnTo>
                <a:cubicBezTo>
                  <a:pt x="85167" y="20933"/>
                  <a:pt x="83967" y="18067"/>
                  <a:pt x="81700" y="15800"/>
                </a:cubicBezTo>
                <a:lnTo>
                  <a:pt x="81700" y="15800"/>
                </a:lnTo>
                <a:cubicBezTo>
                  <a:pt x="79433" y="13533"/>
                  <a:pt x="76567" y="12333"/>
                  <a:pt x="73100" y="12200"/>
                </a:cubicBezTo>
                <a:lnTo>
                  <a:pt x="73100" y="12200"/>
                </a:lnTo>
                <a:lnTo>
                  <a:pt x="73100" y="4600"/>
                </a:lnTo>
                <a:cubicBezTo>
                  <a:pt x="72833" y="1800"/>
                  <a:pt x="71333" y="267"/>
                  <a:pt x="68600" y="0"/>
                </a:cubicBezTo>
                <a:lnTo>
                  <a:pt x="68600" y="0"/>
                </a:lnTo>
                <a:cubicBezTo>
                  <a:pt x="65800" y="267"/>
                  <a:pt x="64267" y="1800"/>
                  <a:pt x="64000" y="4600"/>
                </a:cubicBezTo>
                <a:lnTo>
                  <a:pt x="64000" y="4600"/>
                </a:lnTo>
                <a:lnTo>
                  <a:pt x="64000" y="12200"/>
                </a:lnTo>
                <a:lnTo>
                  <a:pt x="53300" y="12200"/>
                </a:lnTo>
                <a:lnTo>
                  <a:pt x="53300" y="4600"/>
                </a:lnTo>
                <a:cubicBezTo>
                  <a:pt x="53033" y="1800"/>
                  <a:pt x="51533" y="267"/>
                  <a:pt x="48800" y="0"/>
                </a:cubicBezTo>
                <a:lnTo>
                  <a:pt x="48800" y="0"/>
                </a:lnTo>
                <a:cubicBezTo>
                  <a:pt x="46000" y="267"/>
                  <a:pt x="44467" y="1800"/>
                  <a:pt x="44200" y="4600"/>
                </a:cubicBezTo>
                <a:lnTo>
                  <a:pt x="44200" y="4600"/>
                </a:lnTo>
                <a:lnTo>
                  <a:pt x="44200" y="12200"/>
                </a:lnTo>
                <a:lnTo>
                  <a:pt x="33500" y="12200"/>
                </a:lnTo>
                <a:lnTo>
                  <a:pt x="33500" y="4600"/>
                </a:lnTo>
                <a:moveTo>
                  <a:pt x="30500" y="24400"/>
                </a:moveTo>
                <a:lnTo>
                  <a:pt x="30500" y="24400"/>
                </a:lnTo>
                <a:lnTo>
                  <a:pt x="67000" y="24400"/>
                </a:lnTo>
                <a:cubicBezTo>
                  <a:pt x="68800" y="24400"/>
                  <a:pt x="70267" y="24967"/>
                  <a:pt x="71400" y="26100"/>
                </a:cubicBezTo>
                <a:lnTo>
                  <a:pt x="71400" y="26100"/>
                </a:lnTo>
                <a:cubicBezTo>
                  <a:pt x="72533" y="27233"/>
                  <a:pt x="73100" y="28700"/>
                  <a:pt x="73100" y="30500"/>
                </a:cubicBezTo>
                <a:lnTo>
                  <a:pt x="73100" y="30500"/>
                </a:lnTo>
                <a:lnTo>
                  <a:pt x="73100" y="67000"/>
                </a:lnTo>
                <a:cubicBezTo>
                  <a:pt x="73100" y="68800"/>
                  <a:pt x="72533" y="70267"/>
                  <a:pt x="71400" y="71400"/>
                </a:cubicBezTo>
                <a:lnTo>
                  <a:pt x="71400" y="71400"/>
                </a:lnTo>
                <a:cubicBezTo>
                  <a:pt x="70267" y="72533"/>
                  <a:pt x="68800" y="73100"/>
                  <a:pt x="67000" y="73100"/>
                </a:cubicBezTo>
                <a:lnTo>
                  <a:pt x="67000" y="73100"/>
                </a:lnTo>
                <a:lnTo>
                  <a:pt x="30500" y="73100"/>
                </a:lnTo>
                <a:cubicBezTo>
                  <a:pt x="28700" y="73100"/>
                  <a:pt x="27233" y="72533"/>
                  <a:pt x="26100" y="71400"/>
                </a:cubicBezTo>
                <a:lnTo>
                  <a:pt x="26100" y="71400"/>
                </a:lnTo>
                <a:cubicBezTo>
                  <a:pt x="24967" y="70267"/>
                  <a:pt x="24400" y="68800"/>
                  <a:pt x="24400" y="67000"/>
                </a:cubicBezTo>
                <a:lnTo>
                  <a:pt x="24400" y="67000"/>
                </a:lnTo>
                <a:lnTo>
                  <a:pt x="24400" y="30500"/>
                </a:lnTo>
                <a:cubicBezTo>
                  <a:pt x="24400" y="28700"/>
                  <a:pt x="24967" y="27233"/>
                  <a:pt x="26100" y="26100"/>
                </a:cubicBezTo>
                <a:lnTo>
                  <a:pt x="26100" y="26100"/>
                </a:lnTo>
                <a:cubicBezTo>
                  <a:pt x="27233" y="24967"/>
                  <a:pt x="28700" y="24400"/>
                  <a:pt x="30500" y="24400"/>
                </a:cubicBezTo>
                <a:lnTo>
                  <a:pt x="30500" y="24400"/>
                </a:lnTo>
                <a:moveTo>
                  <a:pt x="67000" y="30500"/>
                </a:moveTo>
                <a:lnTo>
                  <a:pt x="67000" y="30500"/>
                </a:lnTo>
                <a:lnTo>
                  <a:pt x="30500" y="30500"/>
                </a:lnTo>
                <a:lnTo>
                  <a:pt x="30500" y="67000"/>
                </a:lnTo>
                <a:lnTo>
                  <a:pt x="67000" y="67000"/>
                </a:lnTo>
                <a:lnTo>
                  <a:pt x="67000" y="30500"/>
                </a:lnTo>
              </a:path>
            </a:pathLst>
          </a:custGeom>
          <a:solidFill>
            <a:srgbClr val="4A7C9B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489354892-4"/>
          <p:cNvSpPr txBox="1"/>
          <p:nvPr/>
        </p:nvSpPr>
        <p:spPr>
          <a:xfrm>
            <a:off x="421481" y="250031"/>
            <a:ext cx="1800895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53035" algn="l">
              <a:lnSpc>
                <a:spcPct val="100000"/>
              </a:lnSpc>
            </a:pPr>
            <a:r>
              <a:rPr sz="840" spc="25">
                <a:solidFill>
                  <a:srgbClr val="4A7C9B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存算一体 · 非线性鲁棒性研究</a:t>
            </a:r>
            <a:endParaRPr sz="840" spc="25">
              <a:solidFill>
                <a:srgbClr val="4A7C9B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4936-2"/>
          <p:cNvSpPr/>
          <p:nvPr/>
        </p:nvSpPr>
        <p:spPr>
          <a:xfrm>
            <a:off x="7929563" y="0"/>
            <a:ext cx="1214438" cy="13573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609" y="96287"/>
                </a:moveTo>
                <a:lnTo>
                  <a:pt x="98281" y="96713"/>
                </a:lnTo>
                <a:lnTo>
                  <a:pt x="91031" y="98343"/>
                </a:lnTo>
                <a:lnTo>
                  <a:pt x="83641" y="99322"/>
                </a:lnTo>
                <a:lnTo>
                  <a:pt x="76172" y="99650"/>
                </a:lnTo>
                <a:lnTo>
                  <a:pt x="68703" y="99322"/>
                </a:lnTo>
                <a:lnTo>
                  <a:pt x="61313" y="98343"/>
                </a:lnTo>
                <a:lnTo>
                  <a:pt x="54063" y="96713"/>
                </a:lnTo>
                <a:lnTo>
                  <a:pt x="47023" y="94462"/>
                </a:lnTo>
                <a:lnTo>
                  <a:pt x="40266" y="91601"/>
                </a:lnTo>
                <a:lnTo>
                  <a:pt x="33852" y="88161"/>
                </a:lnTo>
                <a:lnTo>
                  <a:pt x="27852" y="84175"/>
                </a:lnTo>
                <a:lnTo>
                  <a:pt x="22313" y="79678"/>
                </a:lnTo>
                <a:lnTo>
                  <a:pt x="17289" y="74720"/>
                </a:lnTo>
                <a:lnTo>
                  <a:pt x="12836" y="69350"/>
                </a:lnTo>
                <a:lnTo>
                  <a:pt x="8992" y="63608"/>
                </a:lnTo>
                <a:lnTo>
                  <a:pt x="5797" y="57559"/>
                </a:lnTo>
                <a:lnTo>
                  <a:pt x="3281" y="51259"/>
                </a:lnTo>
                <a:lnTo>
                  <a:pt x="1461" y="44769"/>
                </a:lnTo>
                <a:lnTo>
                  <a:pt x="367" y="38154"/>
                </a:lnTo>
                <a:lnTo>
                  <a:pt x="0" y="31469"/>
                </a:lnTo>
                <a:lnTo>
                  <a:pt x="367" y="24783"/>
                </a:lnTo>
                <a:lnTo>
                  <a:pt x="1461" y="18168"/>
                </a:lnTo>
                <a:lnTo>
                  <a:pt x="3281" y="11678"/>
                </a:lnTo>
                <a:lnTo>
                  <a:pt x="5797" y="5378"/>
                </a:lnTo>
                <a:lnTo>
                  <a:pt x="8641" y="0"/>
                </a:lnTo>
                <a:lnTo>
                  <a:pt x="99609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4938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4939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4942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4940-5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4943-7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4956-10"/>
          <p:cNvSpPr/>
          <p:nvPr/>
        </p:nvSpPr>
        <p:spPr>
          <a:xfrm>
            <a:off x="400050" y="1744563"/>
            <a:ext cx="3021806" cy="9501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4958-12"/>
          <p:cNvCxnSpPr/>
          <p:nvPr/>
        </p:nvCxnSpPr>
        <p:spPr>
          <a:xfrm>
            <a:off x="414338" y="1744563"/>
            <a:ext cx="914" cy="950119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4957-11"/>
          <p:cNvSpPr/>
          <p:nvPr/>
        </p:nvSpPr>
        <p:spPr>
          <a:xfrm>
            <a:off x="400050" y="2837557"/>
            <a:ext cx="3021806" cy="8757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54959-13"/>
          <p:cNvCxnSpPr/>
          <p:nvPr/>
        </p:nvCxnSpPr>
        <p:spPr>
          <a:xfrm>
            <a:off x="414338" y="2837557"/>
            <a:ext cx="914" cy="875705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el-1785489354972-26"/>
          <p:cNvGraphicFramePr/>
          <p:nvPr/>
        </p:nvGraphicFramePr>
        <p:xfrm>
          <a:off x="3707606" y="1935956"/>
          <a:ext cx="5036344" cy="1585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73113"/>
                <a:gridCol w="677242"/>
                <a:gridCol w="3385989"/>
              </a:tblGrid>
              <a:tr h="39290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  <a:endParaRPr sz="97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85725" marT="100013" marB="100013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参数量</a:t>
                      </a:r>
                      <a:endParaRPr sz="97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100013" marB="100013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结构类型</a:t>
                      </a:r>
                      <a:endParaRPr sz="97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114300" marT="100013" marB="100013" anchor="ctr">
                    <a:solidFill>
                      <a:srgbClr val="4A7C9B"/>
                    </a:solidFill>
                  </a:tcPr>
                </a:tc>
              </a:tr>
              <a:tr h="39647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SimpleCNN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85725" marT="100013" marB="100013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0.24M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100013" marB="100013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4层卷积+GAP+FC，浅层纯前馈基线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114300" marT="100013" marB="100013" anchor="ctr">
                    <a:lnB w="7144">
                      <a:solidFill>
                        <a:srgbClr val="E5E7EB"/>
                      </a:solidFill>
                    </a:lnB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VGG-11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85725" marT="100013" marB="100013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9.2M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100013" marB="100013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8层卷积+5次池化+GAP+FC，深层纯前馈对照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114300" marT="100013" marB="100013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</a:tr>
              <a:tr h="39647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ResNet-18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85725" marT="100013" marB="100013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11.17M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100013" marB="100013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4组残差块 (BasicBlock×[2,2,2,2])，深层残差架构对照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114300" marT="100013" marB="100013" anchor="ctr"/>
                </a:tc>
              </a:tr>
            </a:tbl>
          </a:graphicData>
        </a:graphic>
      </p:graphicFrame>
      <p:sp>
        <p:nvSpPr>
          <p:cNvPr id="13" name="el-1785489354947-8"/>
          <p:cNvSpPr txBox="1"/>
          <p:nvPr/>
        </p:nvSpPr>
        <p:spPr>
          <a:xfrm>
            <a:off x="400050" y="117872"/>
            <a:ext cx="3375422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实验设置：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数据集与三个基准模型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l-1785489354982-29"/>
          <p:cNvSpPr txBox="1"/>
          <p:nvPr/>
        </p:nvSpPr>
        <p:spPr>
          <a:xfrm>
            <a:off x="571500" y="1887438"/>
            <a:ext cx="27574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数据集 · CIFAR-10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l-1785489354978-27"/>
          <p:cNvSpPr txBox="1"/>
          <p:nvPr/>
        </p:nvSpPr>
        <p:spPr>
          <a:xfrm>
            <a:off x="571500" y="2080320"/>
            <a:ext cx="2721769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9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6万</a:t>
            </a: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张 32×32 彩色图像，10 分类；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79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5 万训练 +</a:t>
            </a: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 万</a:t>
            </a: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测试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l-1785489354984-30"/>
          <p:cNvSpPr txBox="1"/>
          <p:nvPr/>
        </p:nvSpPr>
        <p:spPr>
          <a:xfrm>
            <a:off x="571500" y="2966145"/>
            <a:ext cx="27574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统一训练配置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4981-28"/>
          <p:cNvSpPr txBox="1"/>
          <p:nvPr/>
        </p:nvSpPr>
        <p:spPr>
          <a:xfrm>
            <a:off x="571500" y="3159026"/>
            <a:ext cx="2720340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SGD 优化器（动量 0.9，权重衰减 1e-4）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CosineAnnealingLR 调度，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固定随机种子 42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4949-9"/>
          <p:cNvSpPr txBox="1"/>
          <p:nvPr/>
        </p:nvSpPr>
        <p:spPr>
          <a:xfrm>
            <a:off x="6872585" y="4943475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11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9" name="el-1785489354933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5577-2"/>
          <p:cNvSpPr/>
          <p:nvPr/>
        </p:nvSpPr>
        <p:spPr>
          <a:xfrm>
            <a:off x="8215313" y="3714750"/>
            <a:ext cx="928688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490" y="94733"/>
                </a:moveTo>
                <a:lnTo>
                  <a:pt x="95235" y="96193"/>
                </a:lnTo>
                <a:lnTo>
                  <a:pt x="88867" y="97844"/>
                </a:lnTo>
                <a:lnTo>
                  <a:pt x="82316" y="99037"/>
                </a:lnTo>
                <a:lnTo>
                  <a:pt x="75633" y="99756"/>
                </a:lnTo>
                <a:lnTo>
                  <a:pt x="68878" y="100000"/>
                </a:lnTo>
                <a:lnTo>
                  <a:pt x="62122" y="99756"/>
                </a:lnTo>
                <a:lnTo>
                  <a:pt x="55439" y="99037"/>
                </a:lnTo>
                <a:lnTo>
                  <a:pt x="48888" y="97844"/>
                </a:lnTo>
                <a:lnTo>
                  <a:pt x="42520" y="96193"/>
                </a:lnTo>
                <a:lnTo>
                  <a:pt x="36408" y="94096"/>
                </a:lnTo>
                <a:lnTo>
                  <a:pt x="30612" y="91570"/>
                </a:lnTo>
                <a:lnTo>
                  <a:pt x="25184" y="88652"/>
                </a:lnTo>
                <a:lnTo>
                  <a:pt x="20173" y="85356"/>
                </a:lnTo>
                <a:lnTo>
                  <a:pt x="15633" y="81719"/>
                </a:lnTo>
                <a:lnTo>
                  <a:pt x="11612" y="77778"/>
                </a:lnTo>
                <a:lnTo>
                  <a:pt x="8133" y="73570"/>
                </a:lnTo>
                <a:lnTo>
                  <a:pt x="5245" y="69133"/>
                </a:lnTo>
                <a:lnTo>
                  <a:pt x="2969" y="64511"/>
                </a:lnTo>
                <a:lnTo>
                  <a:pt x="1327" y="59756"/>
                </a:lnTo>
                <a:lnTo>
                  <a:pt x="337" y="54904"/>
                </a:lnTo>
                <a:lnTo>
                  <a:pt x="0" y="50000"/>
                </a:lnTo>
                <a:lnTo>
                  <a:pt x="337" y="45096"/>
                </a:lnTo>
                <a:lnTo>
                  <a:pt x="1327" y="40244"/>
                </a:lnTo>
                <a:lnTo>
                  <a:pt x="2969" y="35489"/>
                </a:lnTo>
                <a:lnTo>
                  <a:pt x="5245" y="30867"/>
                </a:lnTo>
                <a:lnTo>
                  <a:pt x="8133" y="26430"/>
                </a:lnTo>
                <a:lnTo>
                  <a:pt x="11612" y="22222"/>
                </a:lnTo>
                <a:lnTo>
                  <a:pt x="15633" y="18281"/>
                </a:lnTo>
                <a:lnTo>
                  <a:pt x="20173" y="14644"/>
                </a:lnTo>
                <a:lnTo>
                  <a:pt x="25184" y="11348"/>
                </a:lnTo>
                <a:lnTo>
                  <a:pt x="30612" y="8430"/>
                </a:lnTo>
                <a:lnTo>
                  <a:pt x="36408" y="5904"/>
                </a:lnTo>
                <a:lnTo>
                  <a:pt x="42520" y="3807"/>
                </a:lnTo>
                <a:lnTo>
                  <a:pt x="48888" y="2156"/>
                </a:lnTo>
                <a:lnTo>
                  <a:pt x="55439" y="963"/>
                </a:lnTo>
                <a:lnTo>
                  <a:pt x="62122" y="244"/>
                </a:lnTo>
                <a:lnTo>
                  <a:pt x="68878" y="0"/>
                </a:lnTo>
                <a:lnTo>
                  <a:pt x="75633" y="244"/>
                </a:lnTo>
                <a:lnTo>
                  <a:pt x="82316" y="963"/>
                </a:lnTo>
                <a:lnTo>
                  <a:pt x="88867" y="2156"/>
                </a:lnTo>
                <a:lnTo>
                  <a:pt x="95235" y="3807"/>
                </a:lnTo>
                <a:lnTo>
                  <a:pt x="99490" y="5267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5578-3"/>
          <p:cNvSpPr/>
          <p:nvPr/>
        </p:nvSpPr>
        <p:spPr>
          <a:xfrm>
            <a:off x="0" y="571500"/>
            <a:ext cx="571500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50000"/>
                </a:moveTo>
                <a:lnTo>
                  <a:pt x="99633" y="54900"/>
                </a:lnTo>
                <a:lnTo>
                  <a:pt x="98567" y="59756"/>
                </a:lnTo>
                <a:lnTo>
                  <a:pt x="96767" y="64511"/>
                </a:lnTo>
                <a:lnTo>
                  <a:pt x="94283" y="69133"/>
                </a:lnTo>
                <a:lnTo>
                  <a:pt x="91150" y="73567"/>
                </a:lnTo>
                <a:lnTo>
                  <a:pt x="87367" y="77778"/>
                </a:lnTo>
                <a:lnTo>
                  <a:pt x="82983" y="81722"/>
                </a:lnTo>
                <a:lnTo>
                  <a:pt x="78033" y="85356"/>
                </a:lnTo>
                <a:lnTo>
                  <a:pt x="72583" y="88656"/>
                </a:lnTo>
                <a:lnTo>
                  <a:pt x="66667" y="91578"/>
                </a:lnTo>
                <a:lnTo>
                  <a:pt x="60350" y="94100"/>
                </a:lnTo>
                <a:lnTo>
                  <a:pt x="53700" y="96189"/>
                </a:lnTo>
                <a:lnTo>
                  <a:pt x="46767" y="97844"/>
                </a:lnTo>
                <a:lnTo>
                  <a:pt x="39633" y="99044"/>
                </a:lnTo>
                <a:lnTo>
                  <a:pt x="32350" y="99756"/>
                </a:lnTo>
                <a:lnTo>
                  <a:pt x="25000" y="100000"/>
                </a:lnTo>
                <a:lnTo>
                  <a:pt x="17650" y="99756"/>
                </a:lnTo>
                <a:lnTo>
                  <a:pt x="10367" y="99044"/>
                </a:lnTo>
                <a:lnTo>
                  <a:pt x="3233" y="97844"/>
                </a:lnTo>
                <a:lnTo>
                  <a:pt x="0" y="97078"/>
                </a:lnTo>
                <a:lnTo>
                  <a:pt x="0" y="2922"/>
                </a:lnTo>
                <a:lnTo>
                  <a:pt x="3233" y="2156"/>
                </a:lnTo>
                <a:lnTo>
                  <a:pt x="10367" y="956"/>
                </a:lnTo>
                <a:lnTo>
                  <a:pt x="17650" y="244"/>
                </a:lnTo>
                <a:lnTo>
                  <a:pt x="25000" y="0"/>
                </a:lnTo>
                <a:lnTo>
                  <a:pt x="32350" y="244"/>
                </a:lnTo>
                <a:lnTo>
                  <a:pt x="39633" y="956"/>
                </a:lnTo>
                <a:lnTo>
                  <a:pt x="46767" y="2156"/>
                </a:lnTo>
                <a:lnTo>
                  <a:pt x="53700" y="3811"/>
                </a:lnTo>
                <a:lnTo>
                  <a:pt x="60350" y="5900"/>
                </a:lnTo>
                <a:lnTo>
                  <a:pt x="66667" y="8422"/>
                </a:lnTo>
                <a:lnTo>
                  <a:pt x="72583" y="11344"/>
                </a:lnTo>
                <a:lnTo>
                  <a:pt x="78033" y="14644"/>
                </a:lnTo>
                <a:lnTo>
                  <a:pt x="82983" y="18278"/>
                </a:lnTo>
                <a:lnTo>
                  <a:pt x="87367" y="22222"/>
                </a:lnTo>
                <a:lnTo>
                  <a:pt x="91150" y="26433"/>
                </a:lnTo>
                <a:lnTo>
                  <a:pt x="94283" y="30867"/>
                </a:lnTo>
                <a:lnTo>
                  <a:pt x="96767" y="35489"/>
                </a:lnTo>
                <a:lnTo>
                  <a:pt x="98567" y="40244"/>
                </a:lnTo>
                <a:lnTo>
                  <a:pt x="99633" y="4510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5579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5582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5579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5582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489355598-12"/>
          <p:cNvCxnSpPr/>
          <p:nvPr/>
        </p:nvCxnSpPr>
        <p:spPr>
          <a:xfrm>
            <a:off x="400050" y="1585913"/>
            <a:ext cx="4057650" cy="914"/>
          </a:xfrm>
          <a:prstGeom prst="line">
            <a:avLst/>
          </a:prstGeom>
          <a:ln w="14288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489355600-14"/>
          <p:cNvSpPr/>
          <p:nvPr/>
        </p:nvSpPr>
        <p:spPr>
          <a:xfrm>
            <a:off x="400050" y="1693069"/>
            <a:ext cx="4057650" cy="5857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489355606-20"/>
          <p:cNvCxnSpPr/>
          <p:nvPr/>
        </p:nvCxnSpPr>
        <p:spPr>
          <a:xfrm>
            <a:off x="414338" y="1693069"/>
            <a:ext cx="914" cy="585788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489355602-15"/>
          <p:cNvSpPr/>
          <p:nvPr/>
        </p:nvSpPr>
        <p:spPr>
          <a:xfrm>
            <a:off x="400050" y="2350294"/>
            <a:ext cx="4057650" cy="8215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5489355606-21"/>
          <p:cNvCxnSpPr/>
          <p:nvPr/>
        </p:nvCxnSpPr>
        <p:spPr>
          <a:xfrm>
            <a:off x="414338" y="2350294"/>
            <a:ext cx="914" cy="821531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489355640-36"/>
          <p:cNvCxnSpPr/>
          <p:nvPr/>
        </p:nvCxnSpPr>
        <p:spPr>
          <a:xfrm>
            <a:off x="557213" y="2853928"/>
            <a:ext cx="37719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55603-16"/>
          <p:cNvSpPr/>
          <p:nvPr/>
        </p:nvSpPr>
        <p:spPr>
          <a:xfrm>
            <a:off x="400050" y="3243263"/>
            <a:ext cx="4057650" cy="8215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55607-22"/>
          <p:cNvCxnSpPr/>
          <p:nvPr/>
        </p:nvCxnSpPr>
        <p:spPr>
          <a:xfrm>
            <a:off x="414338" y="3243263"/>
            <a:ext cx="914" cy="821531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5489355642-39"/>
          <p:cNvCxnSpPr/>
          <p:nvPr/>
        </p:nvCxnSpPr>
        <p:spPr>
          <a:xfrm>
            <a:off x="557213" y="3746897"/>
            <a:ext cx="37719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489355599-13"/>
          <p:cNvCxnSpPr/>
          <p:nvPr/>
        </p:nvCxnSpPr>
        <p:spPr>
          <a:xfrm>
            <a:off x="4686300" y="1468041"/>
            <a:ext cx="4057650" cy="914"/>
          </a:xfrm>
          <a:prstGeom prst="line">
            <a:avLst/>
          </a:prstGeom>
          <a:ln w="14288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489355604-17"/>
          <p:cNvSpPr/>
          <p:nvPr/>
        </p:nvSpPr>
        <p:spPr>
          <a:xfrm>
            <a:off x="4686300" y="1575197"/>
            <a:ext cx="4057650" cy="8215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489355608-23"/>
          <p:cNvCxnSpPr/>
          <p:nvPr/>
        </p:nvCxnSpPr>
        <p:spPr>
          <a:xfrm>
            <a:off x="4700588" y="1575197"/>
            <a:ext cx="914" cy="821531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489355644-41"/>
          <p:cNvCxnSpPr/>
          <p:nvPr/>
        </p:nvCxnSpPr>
        <p:spPr>
          <a:xfrm>
            <a:off x="4843463" y="2078831"/>
            <a:ext cx="37719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489355605-18"/>
          <p:cNvSpPr/>
          <p:nvPr/>
        </p:nvSpPr>
        <p:spPr>
          <a:xfrm>
            <a:off x="4686300" y="2468166"/>
            <a:ext cx="4057650" cy="8215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5489355608-24"/>
          <p:cNvCxnSpPr/>
          <p:nvPr/>
        </p:nvCxnSpPr>
        <p:spPr>
          <a:xfrm>
            <a:off x="4700588" y="2468166"/>
            <a:ext cx="914" cy="821531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5489355652-46"/>
          <p:cNvCxnSpPr/>
          <p:nvPr/>
        </p:nvCxnSpPr>
        <p:spPr>
          <a:xfrm>
            <a:off x="4843463" y="2971800"/>
            <a:ext cx="37719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489355605-19"/>
          <p:cNvSpPr/>
          <p:nvPr/>
        </p:nvSpPr>
        <p:spPr>
          <a:xfrm>
            <a:off x="4686300" y="3361134"/>
            <a:ext cx="4057650" cy="8215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5" name="el-1785489355609-25"/>
          <p:cNvCxnSpPr/>
          <p:nvPr/>
        </p:nvCxnSpPr>
        <p:spPr>
          <a:xfrm>
            <a:off x="4700588" y="3361134"/>
            <a:ext cx="914" cy="821531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-1785489355653-47"/>
          <p:cNvCxnSpPr/>
          <p:nvPr/>
        </p:nvCxnSpPr>
        <p:spPr>
          <a:xfrm>
            <a:off x="4843463" y="3864769"/>
            <a:ext cx="37719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5489355587-8"/>
          <p:cNvSpPr txBox="1"/>
          <p:nvPr/>
        </p:nvSpPr>
        <p:spPr>
          <a:xfrm>
            <a:off x="400050" y="89297"/>
            <a:ext cx="1917948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任务 1-2</a:t>
            </a: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 实验设计</a:t>
            </a:r>
            <a:endParaRPr sz="1680" b="1" spc="28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55596-10"/>
          <p:cNvSpPr txBox="1"/>
          <p:nvPr/>
        </p:nvSpPr>
        <p:spPr>
          <a:xfrm>
            <a:off x="400050" y="1335881"/>
            <a:ext cx="412908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任务1 · α敏感性与层分析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55637-34"/>
          <p:cNvSpPr txBox="1"/>
          <p:nvPr/>
        </p:nvSpPr>
        <p:spPr>
          <a:xfrm>
            <a:off x="557213" y="1793081"/>
            <a:ext cx="382190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α 扫描范围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l-1785489355619-26"/>
          <p:cNvSpPr txBox="1"/>
          <p:nvPr/>
        </p:nvSpPr>
        <p:spPr>
          <a:xfrm>
            <a:off x="557213" y="1971675"/>
            <a:ext cx="38361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α ∈ [-0.3, 0.3]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，步长 0.1，共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个测试点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l-1785489355639-35"/>
          <p:cNvSpPr txBox="1"/>
          <p:nvPr/>
        </p:nvSpPr>
        <p:spPr>
          <a:xfrm>
            <a:off x="557213" y="2450306"/>
            <a:ext cx="382190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层偏移分析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l-1785489355622-27"/>
          <p:cNvSpPr txBox="1"/>
          <p:nvPr/>
        </p:nvSpPr>
        <p:spPr>
          <a:xfrm>
            <a:off x="557213" y="2628900"/>
            <a:ext cx="38361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选取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个关键观测层，固定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500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张样本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l-1785489355625-28"/>
          <p:cNvSpPr txBox="1"/>
          <p:nvPr/>
        </p:nvSpPr>
        <p:spPr>
          <a:xfrm>
            <a:off x="557213" y="2886075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计算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RME</a:t>
            </a:r>
            <a:r>
              <a:rPr sz="9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（相对均值误差）与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余弦相似度</a:t>
            </a:r>
            <a:endParaRPr sz="9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l-1785489355641-37"/>
          <p:cNvSpPr txBox="1"/>
          <p:nvPr/>
        </p:nvSpPr>
        <p:spPr>
          <a:xfrm>
            <a:off x="557213" y="3343275"/>
            <a:ext cx="382190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观测指标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l-1785489355641-38"/>
          <p:cNvSpPr txBox="1"/>
          <p:nvPr/>
        </p:nvSpPr>
        <p:spPr>
          <a:xfrm>
            <a:off x="557213" y="3521869"/>
            <a:ext cx="38361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精度衰减曲线 + 层间误差累积模式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l-1785489355629-29"/>
          <p:cNvSpPr txBox="1"/>
          <p:nvPr/>
        </p:nvSpPr>
        <p:spPr>
          <a:xfrm>
            <a:off x="557213" y="3779044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覆盖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SimpleCNN</a:t>
            </a:r>
            <a:r>
              <a:rPr sz="9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VGG-11</a:t>
            </a:r>
            <a:r>
              <a:rPr sz="9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ResNet-18</a:t>
            </a:r>
            <a:endParaRPr sz="9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l-1785489355597-11"/>
          <p:cNvSpPr txBox="1"/>
          <p:nvPr/>
        </p:nvSpPr>
        <p:spPr>
          <a:xfrm>
            <a:off x="4686300" y="1218009"/>
            <a:ext cx="412908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任务2 · 非线性感知训练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el-1785489355643-40"/>
          <p:cNvSpPr txBox="1"/>
          <p:nvPr/>
        </p:nvSpPr>
        <p:spPr>
          <a:xfrm>
            <a:off x="4843463" y="1675209"/>
            <a:ext cx="382190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训练策略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l-1785489355632-30"/>
          <p:cNvSpPr txBox="1"/>
          <p:nvPr/>
        </p:nvSpPr>
        <p:spPr>
          <a:xfrm>
            <a:off x="4843463" y="1853803"/>
            <a:ext cx="38361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Finetune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：默认 40 epoch，lr = 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1e-3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l-1785489355634-31"/>
          <p:cNvSpPr txBox="1"/>
          <p:nvPr/>
        </p:nvSpPr>
        <p:spPr>
          <a:xfrm>
            <a:off x="4843463" y="2110978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Scratch</a:t>
            </a:r>
            <a:r>
              <a:rPr sz="9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：默认 120 epoch，lr =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0.01</a:t>
            </a:r>
            <a:endParaRPr sz="9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l-1785489355645-42"/>
          <p:cNvSpPr txBox="1"/>
          <p:nvPr/>
        </p:nvSpPr>
        <p:spPr>
          <a:xfrm>
            <a:off x="4843463" y="2568178"/>
            <a:ext cx="382190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注入策略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el-1785489355636-32"/>
          <p:cNvSpPr txBox="1"/>
          <p:nvPr/>
        </p:nvSpPr>
        <p:spPr>
          <a:xfrm>
            <a:off x="4843463" y="2746772"/>
            <a:ext cx="38361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每 batch 随机采样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α ∈ [-0.3, 0.3]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l-1785489355646-43"/>
          <p:cNvSpPr txBox="1"/>
          <p:nvPr/>
        </p:nvSpPr>
        <p:spPr>
          <a:xfrm>
            <a:off x="4843463" y="3003947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保证训练分布覆盖全失真区间</a:t>
            </a:r>
            <a:endParaRPr sz="900">
              <a:solidFill>
                <a:srgbClr val="4B55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el-1785489355646-44"/>
          <p:cNvSpPr txBox="1"/>
          <p:nvPr/>
        </p:nvSpPr>
        <p:spPr>
          <a:xfrm>
            <a:off x="4843463" y="3461147"/>
            <a:ext cx="382190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评估标准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el-1785489355637-33"/>
          <p:cNvSpPr txBox="1"/>
          <p:nvPr/>
        </p:nvSpPr>
        <p:spPr>
          <a:xfrm>
            <a:off x="4843463" y="3639741"/>
            <a:ext cx="38361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以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干净测试集准确率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保存最佳模型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l-1785489355648-45"/>
          <p:cNvSpPr txBox="1"/>
          <p:nvPr/>
        </p:nvSpPr>
        <p:spPr>
          <a:xfrm>
            <a:off x="4843463" y="3896916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训练后全 α 扫描验证鲁棒性提升</a:t>
            </a:r>
            <a:endParaRPr sz="900">
              <a:solidFill>
                <a:srgbClr val="4B55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el-1785489355589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12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8" name="el-1785489355575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5919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5921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5922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5926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5923-5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5927-7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5944-13"/>
          <p:cNvSpPr/>
          <p:nvPr/>
        </p:nvSpPr>
        <p:spPr>
          <a:xfrm>
            <a:off x="400050" y="1392659"/>
            <a:ext cx="2686050" cy="12615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5947-16"/>
          <p:cNvCxnSpPr/>
          <p:nvPr/>
        </p:nvCxnSpPr>
        <p:spPr>
          <a:xfrm>
            <a:off x="417909" y="1392659"/>
            <a:ext cx="914" cy="1261542"/>
          </a:xfrm>
          <a:prstGeom prst="line">
            <a:avLst/>
          </a:prstGeom>
          <a:ln w="35719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5945-14"/>
          <p:cNvSpPr/>
          <p:nvPr/>
        </p:nvSpPr>
        <p:spPr>
          <a:xfrm>
            <a:off x="3228975" y="1392659"/>
            <a:ext cx="2686050" cy="12615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55949-17"/>
          <p:cNvCxnSpPr/>
          <p:nvPr/>
        </p:nvCxnSpPr>
        <p:spPr>
          <a:xfrm>
            <a:off x="3246834" y="1392659"/>
            <a:ext cx="914" cy="1261542"/>
          </a:xfrm>
          <a:prstGeom prst="line">
            <a:avLst/>
          </a:prstGeom>
          <a:ln w="35719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55946-15"/>
          <p:cNvSpPr/>
          <p:nvPr/>
        </p:nvSpPr>
        <p:spPr>
          <a:xfrm>
            <a:off x="6057900" y="1392659"/>
            <a:ext cx="2686050" cy="12615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55949-18"/>
          <p:cNvCxnSpPr/>
          <p:nvPr/>
        </p:nvCxnSpPr>
        <p:spPr>
          <a:xfrm>
            <a:off x="6075759" y="1392659"/>
            <a:ext cx="914" cy="1261542"/>
          </a:xfrm>
          <a:prstGeom prst="line">
            <a:avLst/>
          </a:prstGeom>
          <a:ln w="35719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55937-10"/>
          <p:cNvSpPr/>
          <p:nvPr/>
        </p:nvSpPr>
        <p:spPr>
          <a:xfrm>
            <a:off x="400050" y="2782788"/>
            <a:ext cx="8343900" cy="133945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55938-11"/>
          <p:cNvCxnSpPr/>
          <p:nvPr/>
        </p:nvCxnSpPr>
        <p:spPr>
          <a:xfrm>
            <a:off x="414338" y="2782788"/>
            <a:ext cx="914" cy="1339453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55931-8"/>
          <p:cNvSpPr txBox="1"/>
          <p:nvPr/>
        </p:nvSpPr>
        <p:spPr>
          <a:xfrm>
            <a:off x="400050" y="117872"/>
            <a:ext cx="2872234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任务3 · 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消融与拓展研究设计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5975-25"/>
          <p:cNvSpPr txBox="1"/>
          <p:nvPr/>
        </p:nvSpPr>
        <p:spPr>
          <a:xfrm>
            <a:off x="564356" y="1506959"/>
            <a:ext cx="2443163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方案 A · 残差校准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5976-26"/>
          <p:cNvSpPr txBox="1"/>
          <p:nvPr/>
        </p:nvSpPr>
        <p:spPr>
          <a:xfrm>
            <a:off x="564356" y="1685553"/>
            <a:ext cx="246459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FeatureCalibration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5960-19"/>
          <p:cNvSpPr txBox="1"/>
          <p:nvPr/>
        </p:nvSpPr>
        <p:spPr>
          <a:xfrm>
            <a:off x="564356" y="1942728"/>
            <a:ext cx="2405301" cy="5828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瓶颈 MLP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128→64→128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+ 残差连接，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学习“失真→干净”逆变换。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20"/>
              </a:lnSpc>
            </a:pPr>
            <a:r>
              <a:rPr sz="9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最坏情况退化为恒等映射</a:t>
            </a:r>
            <a:endParaRPr sz="95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5977-27"/>
          <p:cNvSpPr txBox="1"/>
          <p:nvPr/>
        </p:nvSpPr>
        <p:spPr>
          <a:xfrm>
            <a:off x="3393281" y="1506959"/>
            <a:ext cx="2443163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方案 B · 分层加权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55977-28"/>
          <p:cNvSpPr txBox="1"/>
          <p:nvPr/>
        </p:nvSpPr>
        <p:spPr>
          <a:xfrm>
            <a:off x="3393281" y="1685553"/>
            <a:ext cx="246459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分层 α 分配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55966-20"/>
          <p:cNvSpPr txBox="1"/>
          <p:nvPr/>
        </p:nvSpPr>
        <p:spPr>
          <a:xfrm>
            <a:off x="3393281" y="1942728"/>
            <a:ext cx="2405301" cy="5828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浅层轻失真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[-0.15, 0.15]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深层强失真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±0.3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20"/>
              </a:lnSpc>
            </a:pPr>
            <a:r>
              <a:rPr sz="9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解耦“浅层保护”与“深层强化”</a:t>
            </a:r>
            <a:endParaRPr sz="95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55978-29"/>
          <p:cNvSpPr txBox="1"/>
          <p:nvPr/>
        </p:nvSpPr>
        <p:spPr>
          <a:xfrm>
            <a:off x="6222206" y="1506959"/>
            <a:ext cx="2443163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方案 C · 非对称采样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55979-30"/>
          <p:cNvSpPr txBox="1"/>
          <p:nvPr/>
        </p:nvSpPr>
        <p:spPr>
          <a:xfrm>
            <a:off x="6222206" y="1685553"/>
            <a:ext cx="246459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非对称 α 分布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55969-21"/>
          <p:cNvSpPr txBox="1"/>
          <p:nvPr/>
        </p:nvSpPr>
        <p:spPr>
          <a:xfrm>
            <a:off x="6222206" y="1942728"/>
            <a:ext cx="2393156" cy="5828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70% 正向 α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30% 负向 α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模拟真实场景中正向失真更频繁的物理特性。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55942-12"/>
          <p:cNvSpPr txBox="1"/>
          <p:nvPr/>
        </p:nvSpPr>
        <p:spPr>
          <a:xfrm>
            <a:off x="600075" y="2897088"/>
            <a:ext cx="803671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三项拓展研究</a:t>
            </a:r>
            <a:endParaRPr sz="101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55980-31"/>
          <p:cNvSpPr txBox="1"/>
          <p:nvPr/>
        </p:nvSpPr>
        <p:spPr>
          <a:xfrm>
            <a:off x="600075" y="3213795"/>
            <a:ext cx="4857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拓展 1</a:t>
            </a:r>
            <a:endParaRPr sz="9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55971-22"/>
          <p:cNvSpPr txBox="1"/>
          <p:nvPr/>
        </p:nvSpPr>
        <p:spPr>
          <a:xfrm>
            <a:off x="1114425" y="3204270"/>
            <a:ext cx="751879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三模型（干净 + NAT权重）分别 α 扫描，对比 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架构鲁棒性差异</a:t>
            </a:r>
            <a:endParaRPr sz="95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55981-32"/>
          <p:cNvSpPr txBox="1"/>
          <p:nvPr/>
        </p:nvSpPr>
        <p:spPr>
          <a:xfrm>
            <a:off x="600075" y="3510260"/>
            <a:ext cx="4857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拓展 2</a:t>
            </a:r>
            <a:endParaRPr sz="9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l-1785489355973-23"/>
          <p:cNvSpPr txBox="1"/>
          <p:nvPr/>
        </p:nvSpPr>
        <p:spPr>
          <a:xfrm>
            <a:off x="1114425" y="3500735"/>
            <a:ext cx="751879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分别扫描非线性与高斯噪声，对比 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误差模式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与鲁棒迁移性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l-1785489355983-33"/>
          <p:cNvSpPr txBox="1"/>
          <p:nvPr/>
        </p:nvSpPr>
        <p:spPr>
          <a:xfrm>
            <a:off x="600075" y="3806726"/>
            <a:ext cx="4857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拓展 3</a:t>
            </a:r>
            <a:endParaRPr sz="9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l-1785489355974-24"/>
          <p:cNvSpPr txBox="1"/>
          <p:nvPr/>
        </p:nvSpPr>
        <p:spPr>
          <a:xfrm>
            <a:off x="1114425" y="3797201"/>
            <a:ext cx="751879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α × bit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网格扫描（7×5 = 35种组合），严格遵循“先非线性后量化”物理路径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l-1785489355934-9"/>
          <p:cNvSpPr txBox="1"/>
          <p:nvPr/>
        </p:nvSpPr>
        <p:spPr>
          <a:xfrm>
            <a:off x="6872585" y="4943475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13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4" name="el-1785489355915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6315-6"/>
          <p:cNvSpPr/>
          <p:nvPr/>
        </p:nvSpPr>
        <p:spPr>
          <a:xfrm>
            <a:off x="0" y="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27500"/>
                </a:moveTo>
                <a:lnTo>
                  <a:pt x="99650" y="34607"/>
                </a:lnTo>
                <a:lnTo>
                  <a:pt x="98607" y="41643"/>
                </a:lnTo>
                <a:lnTo>
                  <a:pt x="96877" y="48547"/>
                </a:lnTo>
                <a:lnTo>
                  <a:pt x="94480" y="55243"/>
                </a:lnTo>
                <a:lnTo>
                  <a:pt x="91440" y="61677"/>
                </a:lnTo>
                <a:lnTo>
                  <a:pt x="87780" y="67780"/>
                </a:lnTo>
                <a:lnTo>
                  <a:pt x="83543" y="73493"/>
                </a:lnTo>
                <a:lnTo>
                  <a:pt x="78767" y="78767"/>
                </a:lnTo>
                <a:lnTo>
                  <a:pt x="73493" y="83543"/>
                </a:lnTo>
                <a:lnTo>
                  <a:pt x="67780" y="87780"/>
                </a:lnTo>
                <a:lnTo>
                  <a:pt x="61677" y="91440"/>
                </a:lnTo>
                <a:lnTo>
                  <a:pt x="55243" y="94480"/>
                </a:lnTo>
                <a:lnTo>
                  <a:pt x="48547" y="96877"/>
                </a:lnTo>
                <a:lnTo>
                  <a:pt x="41643" y="98607"/>
                </a:lnTo>
                <a:lnTo>
                  <a:pt x="34607" y="99650"/>
                </a:lnTo>
                <a:lnTo>
                  <a:pt x="27500" y="100000"/>
                </a:lnTo>
                <a:lnTo>
                  <a:pt x="20393" y="99650"/>
                </a:lnTo>
                <a:lnTo>
                  <a:pt x="13357" y="98607"/>
                </a:lnTo>
                <a:lnTo>
                  <a:pt x="6453" y="96877"/>
                </a:lnTo>
                <a:lnTo>
                  <a:pt x="0" y="94567"/>
                </a:lnTo>
                <a:lnTo>
                  <a:pt x="0" y="0"/>
                </a:lnTo>
                <a:lnTo>
                  <a:pt x="94567" y="0"/>
                </a:lnTo>
                <a:lnTo>
                  <a:pt x="96877" y="6453"/>
                </a:lnTo>
                <a:lnTo>
                  <a:pt x="98607" y="13357"/>
                </a:lnTo>
                <a:lnTo>
                  <a:pt x="99650" y="20393"/>
                </a:lnTo>
                <a:close/>
              </a:path>
            </a:pathLst>
          </a:custGeom>
          <a:solidFill>
            <a:srgbClr val="B8C5D1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6316-7"/>
          <p:cNvSpPr/>
          <p:nvPr/>
        </p:nvSpPr>
        <p:spPr>
          <a:xfrm>
            <a:off x="5715000" y="17145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100000"/>
                </a:moveTo>
                <a:lnTo>
                  <a:pt x="6367" y="100000"/>
                </a:lnTo>
                <a:lnTo>
                  <a:pt x="5392" y="97939"/>
                </a:lnTo>
                <a:lnTo>
                  <a:pt x="3050" y="91394"/>
                </a:lnTo>
                <a:lnTo>
                  <a:pt x="1361" y="84653"/>
                </a:lnTo>
                <a:lnTo>
                  <a:pt x="342" y="77775"/>
                </a:lnTo>
                <a:lnTo>
                  <a:pt x="0" y="70833"/>
                </a:lnTo>
                <a:lnTo>
                  <a:pt x="342" y="63892"/>
                </a:lnTo>
                <a:lnTo>
                  <a:pt x="1361" y="57014"/>
                </a:lnTo>
                <a:lnTo>
                  <a:pt x="3050" y="50272"/>
                </a:lnTo>
                <a:lnTo>
                  <a:pt x="5392" y="43728"/>
                </a:lnTo>
                <a:lnTo>
                  <a:pt x="8364" y="37442"/>
                </a:lnTo>
                <a:lnTo>
                  <a:pt x="11939" y="31481"/>
                </a:lnTo>
                <a:lnTo>
                  <a:pt x="16078" y="25897"/>
                </a:lnTo>
                <a:lnTo>
                  <a:pt x="20747" y="20747"/>
                </a:lnTo>
                <a:lnTo>
                  <a:pt x="25897" y="16078"/>
                </a:lnTo>
                <a:lnTo>
                  <a:pt x="31481" y="11939"/>
                </a:lnTo>
                <a:lnTo>
                  <a:pt x="37442" y="8364"/>
                </a:lnTo>
                <a:lnTo>
                  <a:pt x="43728" y="5392"/>
                </a:lnTo>
                <a:lnTo>
                  <a:pt x="50272" y="3050"/>
                </a:lnTo>
                <a:lnTo>
                  <a:pt x="57014" y="1361"/>
                </a:lnTo>
                <a:lnTo>
                  <a:pt x="63892" y="342"/>
                </a:lnTo>
                <a:lnTo>
                  <a:pt x="70833" y="0"/>
                </a:lnTo>
                <a:lnTo>
                  <a:pt x="77775" y="342"/>
                </a:lnTo>
                <a:lnTo>
                  <a:pt x="84653" y="1361"/>
                </a:lnTo>
                <a:lnTo>
                  <a:pt x="91394" y="3050"/>
                </a:lnTo>
                <a:lnTo>
                  <a:pt x="97939" y="5392"/>
                </a:lnTo>
                <a:lnTo>
                  <a:pt x="100000" y="6367"/>
                </a:lnTo>
                <a:close/>
              </a:path>
            </a:pathLst>
          </a:custGeom>
          <a:solidFill>
            <a:srgbClr val="F0E4E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6317-8"/>
          <p:cNvSpPr/>
          <p:nvPr/>
        </p:nvSpPr>
        <p:spPr>
          <a:xfrm>
            <a:off x="3586163" y="600075"/>
            <a:ext cx="3286125" cy="3286125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489356319-9"/>
          <p:cNvSpPr/>
          <p:nvPr/>
        </p:nvSpPr>
        <p:spPr>
          <a:xfrm>
            <a:off x="7189515" y="1131540"/>
            <a:ext cx="857250" cy="857250"/>
          </a:xfrm>
          <a:prstGeom prst="ellipse">
            <a:avLst/>
          </a:prstGeom>
          <a:solidFill>
            <a:srgbClr val="B8C5D1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489356320-10"/>
          <p:cNvSpPr/>
          <p:nvPr/>
        </p:nvSpPr>
        <p:spPr>
          <a:xfrm>
            <a:off x="914400" y="3646215"/>
            <a:ext cx="571500" cy="571500"/>
          </a:xfrm>
          <a:prstGeom prst="ellipse">
            <a:avLst/>
          </a:prstGeom>
          <a:solidFill>
            <a:srgbClr val="B8C5D1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489356308-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063" y="38889"/>
                </a:moveTo>
                <a:cubicBezTo>
                  <a:pt x="23438" y="24074"/>
                  <a:pt x="35417" y="26852"/>
                  <a:pt x="50000" y="47222"/>
                </a:cubicBezTo>
                <a:cubicBezTo>
                  <a:pt x="64583" y="67593"/>
                  <a:pt x="77083" y="64815"/>
                  <a:pt x="87500" y="38889"/>
                </a:cubicBezTo>
              </a:path>
            </a:pathLst>
          </a:custGeom>
          <a:noFill/>
          <a:ln w="17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489356308-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813" y="66667"/>
                </a:moveTo>
                <a:cubicBezTo>
                  <a:pt x="18229" y="53704"/>
                  <a:pt x="30208" y="55556"/>
                  <a:pt x="43750" y="72222"/>
                </a:cubicBezTo>
                <a:cubicBezTo>
                  <a:pt x="57292" y="88889"/>
                  <a:pt x="73438" y="83333"/>
                  <a:pt x="92188" y="55556"/>
                </a:cubicBezTo>
              </a:path>
            </a:pathLst>
          </a:custGeom>
          <a:noFill/>
          <a:ln w="12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489356307-1"/>
          <p:cNvCxnSpPr/>
          <p:nvPr/>
        </p:nvCxnSpPr>
        <p:spPr>
          <a:xfrm>
            <a:off x="400050" y="4911328"/>
            <a:ext cx="8343900" cy="914"/>
          </a:xfrm>
          <a:prstGeom prst="line">
            <a:avLst/>
          </a:prstGeom>
          <a:ln w="9525" cap="flat">
            <a:solidFill>
              <a:srgbClr val="D8D8D8">
                <a:alpha val="5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6325-13"/>
          <p:cNvSpPr/>
          <p:nvPr/>
        </p:nvSpPr>
        <p:spPr>
          <a:xfrm>
            <a:off x="4143375" y="3367683"/>
            <a:ext cx="857250" cy="21431"/>
          </a:xfrm>
          <a:prstGeom prst="roundRect">
            <a:avLst>
              <a:gd name="adj" fmla="val 50000"/>
            </a:avLst>
          </a:prstGeom>
          <a:solidFill>
            <a:srgbClr val="4A7C9B">
              <a:alpha val="6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56323-11"/>
          <p:cNvSpPr txBox="1"/>
          <p:nvPr/>
        </p:nvSpPr>
        <p:spPr>
          <a:xfrm>
            <a:off x="3580358" y="1754386"/>
            <a:ext cx="198320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50" b="1" spc="270">
                <a:solidFill>
                  <a:srgbClr val="4A7C9B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6750" b="1" spc="270">
              <a:solidFill>
                <a:srgbClr val="4A7C9B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l-1785489356323-12"/>
          <p:cNvSpPr txBox="1"/>
          <p:nvPr/>
        </p:nvSpPr>
        <p:spPr>
          <a:xfrm>
            <a:off x="2278380" y="2765896"/>
            <a:ext cx="4587240" cy="4160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510" b="1" spc="5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第四章 · 核心实验结果与分析</a:t>
            </a:r>
            <a:endParaRPr sz="2510" b="1" spc="5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l-1785489356310-5"/>
          <p:cNvSpPr/>
          <p:nvPr/>
        </p:nvSpPr>
        <p:spPr>
          <a:xfrm>
            <a:off x="285750" y="200025"/>
            <a:ext cx="1883048" cy="260747"/>
          </a:xfrm>
          <a:prstGeom prst="roundRect">
            <a:avLst>
              <a:gd name="adj" fmla="val 50000"/>
            </a:avLst>
          </a:prstGeom>
          <a:solidFill>
            <a:srgbClr val="FFFFFF">
              <a:alpha val="37500"/>
            </a:srgbClr>
          </a:solidFill>
          <a:ln w="7144" algn="in">
            <a:solidFill>
              <a:srgbClr val="4A7C9B">
                <a:alpha val="1125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489356344-14"/>
          <p:cNvSpPr/>
          <p:nvPr/>
        </p:nvSpPr>
        <p:spPr>
          <a:xfrm>
            <a:off x="421481" y="288131"/>
            <a:ext cx="92869" cy="928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3500" y="4600"/>
                </a:moveTo>
                <a:lnTo>
                  <a:pt x="33500" y="4600"/>
                </a:lnTo>
                <a:cubicBezTo>
                  <a:pt x="33233" y="1800"/>
                  <a:pt x="31700" y="267"/>
                  <a:pt x="28900" y="0"/>
                </a:cubicBezTo>
                <a:lnTo>
                  <a:pt x="28900" y="0"/>
                </a:lnTo>
                <a:cubicBezTo>
                  <a:pt x="26167" y="267"/>
                  <a:pt x="24667" y="1800"/>
                  <a:pt x="24400" y="4600"/>
                </a:cubicBezTo>
                <a:lnTo>
                  <a:pt x="24400" y="4600"/>
                </a:lnTo>
                <a:lnTo>
                  <a:pt x="24400" y="12200"/>
                </a:lnTo>
                <a:cubicBezTo>
                  <a:pt x="20933" y="12333"/>
                  <a:pt x="18067" y="13533"/>
                  <a:pt x="15800" y="15800"/>
                </a:cubicBezTo>
                <a:lnTo>
                  <a:pt x="15800" y="15800"/>
                </a:lnTo>
                <a:cubicBezTo>
                  <a:pt x="13533" y="18067"/>
                  <a:pt x="12333" y="20933"/>
                  <a:pt x="12200" y="24400"/>
                </a:cubicBezTo>
                <a:lnTo>
                  <a:pt x="12200" y="24400"/>
                </a:lnTo>
                <a:lnTo>
                  <a:pt x="4600" y="24400"/>
                </a:lnTo>
                <a:cubicBezTo>
                  <a:pt x="1800" y="24667"/>
                  <a:pt x="267" y="26167"/>
                  <a:pt x="0" y="28900"/>
                </a:cubicBezTo>
                <a:lnTo>
                  <a:pt x="0" y="28900"/>
                </a:lnTo>
                <a:cubicBezTo>
                  <a:pt x="267" y="31700"/>
                  <a:pt x="1800" y="33233"/>
                  <a:pt x="4600" y="33500"/>
                </a:cubicBezTo>
                <a:lnTo>
                  <a:pt x="4600" y="33500"/>
                </a:lnTo>
                <a:lnTo>
                  <a:pt x="12200" y="33500"/>
                </a:lnTo>
                <a:lnTo>
                  <a:pt x="12200" y="44200"/>
                </a:lnTo>
                <a:lnTo>
                  <a:pt x="4600" y="44200"/>
                </a:lnTo>
                <a:cubicBezTo>
                  <a:pt x="1800" y="44467"/>
                  <a:pt x="267" y="46000"/>
                  <a:pt x="0" y="48800"/>
                </a:cubicBezTo>
                <a:lnTo>
                  <a:pt x="0" y="48800"/>
                </a:lnTo>
                <a:cubicBezTo>
                  <a:pt x="267" y="51533"/>
                  <a:pt x="1800" y="53033"/>
                  <a:pt x="4600" y="53300"/>
                </a:cubicBezTo>
                <a:lnTo>
                  <a:pt x="4600" y="53300"/>
                </a:lnTo>
                <a:lnTo>
                  <a:pt x="12200" y="53300"/>
                </a:lnTo>
                <a:lnTo>
                  <a:pt x="12200" y="64000"/>
                </a:lnTo>
                <a:lnTo>
                  <a:pt x="4600" y="64000"/>
                </a:lnTo>
                <a:cubicBezTo>
                  <a:pt x="1800" y="64267"/>
                  <a:pt x="267" y="65800"/>
                  <a:pt x="0" y="68600"/>
                </a:cubicBezTo>
                <a:lnTo>
                  <a:pt x="0" y="68600"/>
                </a:lnTo>
                <a:cubicBezTo>
                  <a:pt x="267" y="71333"/>
                  <a:pt x="1800" y="72833"/>
                  <a:pt x="4600" y="73100"/>
                </a:cubicBezTo>
                <a:lnTo>
                  <a:pt x="4600" y="73100"/>
                </a:lnTo>
                <a:lnTo>
                  <a:pt x="12200" y="73100"/>
                </a:lnTo>
                <a:cubicBezTo>
                  <a:pt x="12333" y="76567"/>
                  <a:pt x="13533" y="79433"/>
                  <a:pt x="15800" y="81700"/>
                </a:cubicBezTo>
                <a:lnTo>
                  <a:pt x="15800" y="81700"/>
                </a:lnTo>
                <a:cubicBezTo>
                  <a:pt x="18067" y="83967"/>
                  <a:pt x="20933" y="85167"/>
                  <a:pt x="24400" y="85300"/>
                </a:cubicBezTo>
                <a:lnTo>
                  <a:pt x="24400" y="85300"/>
                </a:lnTo>
                <a:lnTo>
                  <a:pt x="24400" y="92900"/>
                </a:lnTo>
                <a:cubicBezTo>
                  <a:pt x="24667" y="95700"/>
                  <a:pt x="26167" y="97233"/>
                  <a:pt x="28900" y="97500"/>
                </a:cubicBezTo>
                <a:lnTo>
                  <a:pt x="28900" y="97500"/>
                </a:lnTo>
                <a:cubicBezTo>
                  <a:pt x="31700" y="97233"/>
                  <a:pt x="33233" y="95700"/>
                  <a:pt x="33500" y="92900"/>
                </a:cubicBezTo>
                <a:lnTo>
                  <a:pt x="33500" y="92900"/>
                </a:lnTo>
                <a:lnTo>
                  <a:pt x="33500" y="85300"/>
                </a:lnTo>
                <a:lnTo>
                  <a:pt x="44200" y="85300"/>
                </a:lnTo>
                <a:lnTo>
                  <a:pt x="44200" y="92900"/>
                </a:lnTo>
                <a:cubicBezTo>
                  <a:pt x="44467" y="95700"/>
                  <a:pt x="46000" y="97233"/>
                  <a:pt x="48800" y="97500"/>
                </a:cubicBezTo>
                <a:lnTo>
                  <a:pt x="48800" y="97500"/>
                </a:lnTo>
                <a:cubicBezTo>
                  <a:pt x="51533" y="97233"/>
                  <a:pt x="53033" y="95700"/>
                  <a:pt x="53300" y="92900"/>
                </a:cubicBezTo>
                <a:lnTo>
                  <a:pt x="53300" y="92900"/>
                </a:lnTo>
                <a:lnTo>
                  <a:pt x="53300" y="85300"/>
                </a:lnTo>
                <a:lnTo>
                  <a:pt x="64000" y="85300"/>
                </a:lnTo>
                <a:lnTo>
                  <a:pt x="64000" y="92900"/>
                </a:lnTo>
                <a:cubicBezTo>
                  <a:pt x="64267" y="95700"/>
                  <a:pt x="65800" y="97233"/>
                  <a:pt x="68600" y="97500"/>
                </a:cubicBezTo>
                <a:lnTo>
                  <a:pt x="68600" y="97500"/>
                </a:lnTo>
                <a:cubicBezTo>
                  <a:pt x="71333" y="97233"/>
                  <a:pt x="72833" y="95700"/>
                  <a:pt x="73100" y="92900"/>
                </a:cubicBezTo>
                <a:lnTo>
                  <a:pt x="73100" y="92900"/>
                </a:lnTo>
                <a:lnTo>
                  <a:pt x="73100" y="85300"/>
                </a:lnTo>
                <a:cubicBezTo>
                  <a:pt x="76567" y="85167"/>
                  <a:pt x="79433" y="83967"/>
                  <a:pt x="81700" y="81700"/>
                </a:cubicBezTo>
                <a:lnTo>
                  <a:pt x="81700" y="81700"/>
                </a:lnTo>
                <a:cubicBezTo>
                  <a:pt x="83967" y="79433"/>
                  <a:pt x="85167" y="76567"/>
                  <a:pt x="85300" y="73100"/>
                </a:cubicBezTo>
                <a:lnTo>
                  <a:pt x="85300" y="73100"/>
                </a:lnTo>
                <a:lnTo>
                  <a:pt x="92900" y="73100"/>
                </a:lnTo>
                <a:cubicBezTo>
                  <a:pt x="95700" y="72833"/>
                  <a:pt x="97233" y="71333"/>
                  <a:pt x="97500" y="68600"/>
                </a:cubicBezTo>
                <a:lnTo>
                  <a:pt x="97500" y="68600"/>
                </a:lnTo>
                <a:cubicBezTo>
                  <a:pt x="97233" y="65800"/>
                  <a:pt x="95700" y="64267"/>
                  <a:pt x="92900" y="64000"/>
                </a:cubicBezTo>
                <a:lnTo>
                  <a:pt x="92900" y="64000"/>
                </a:lnTo>
                <a:lnTo>
                  <a:pt x="85300" y="64000"/>
                </a:lnTo>
                <a:lnTo>
                  <a:pt x="85300" y="53300"/>
                </a:lnTo>
                <a:lnTo>
                  <a:pt x="92900" y="53300"/>
                </a:lnTo>
                <a:cubicBezTo>
                  <a:pt x="95700" y="53033"/>
                  <a:pt x="97233" y="51533"/>
                  <a:pt x="97500" y="48800"/>
                </a:cubicBezTo>
                <a:lnTo>
                  <a:pt x="97500" y="48800"/>
                </a:lnTo>
                <a:cubicBezTo>
                  <a:pt x="97233" y="46000"/>
                  <a:pt x="95700" y="44467"/>
                  <a:pt x="92900" y="44200"/>
                </a:cubicBezTo>
                <a:lnTo>
                  <a:pt x="92900" y="44200"/>
                </a:lnTo>
                <a:lnTo>
                  <a:pt x="85300" y="44200"/>
                </a:lnTo>
                <a:lnTo>
                  <a:pt x="85300" y="33500"/>
                </a:lnTo>
                <a:lnTo>
                  <a:pt x="92900" y="33500"/>
                </a:lnTo>
                <a:cubicBezTo>
                  <a:pt x="95700" y="33233"/>
                  <a:pt x="97233" y="31700"/>
                  <a:pt x="97500" y="28900"/>
                </a:cubicBezTo>
                <a:lnTo>
                  <a:pt x="97500" y="28900"/>
                </a:lnTo>
                <a:cubicBezTo>
                  <a:pt x="97233" y="26167"/>
                  <a:pt x="95700" y="24667"/>
                  <a:pt x="92900" y="24400"/>
                </a:cubicBezTo>
                <a:lnTo>
                  <a:pt x="92900" y="24400"/>
                </a:lnTo>
                <a:lnTo>
                  <a:pt x="85300" y="24400"/>
                </a:lnTo>
                <a:cubicBezTo>
                  <a:pt x="85167" y="20933"/>
                  <a:pt x="83967" y="18067"/>
                  <a:pt x="81700" y="15800"/>
                </a:cubicBezTo>
                <a:lnTo>
                  <a:pt x="81700" y="15800"/>
                </a:lnTo>
                <a:cubicBezTo>
                  <a:pt x="79433" y="13533"/>
                  <a:pt x="76567" y="12333"/>
                  <a:pt x="73100" y="12200"/>
                </a:cubicBezTo>
                <a:lnTo>
                  <a:pt x="73100" y="12200"/>
                </a:lnTo>
                <a:lnTo>
                  <a:pt x="73100" y="4600"/>
                </a:lnTo>
                <a:cubicBezTo>
                  <a:pt x="72833" y="1800"/>
                  <a:pt x="71333" y="267"/>
                  <a:pt x="68600" y="0"/>
                </a:cubicBezTo>
                <a:lnTo>
                  <a:pt x="68600" y="0"/>
                </a:lnTo>
                <a:cubicBezTo>
                  <a:pt x="65800" y="267"/>
                  <a:pt x="64267" y="1800"/>
                  <a:pt x="64000" y="4600"/>
                </a:cubicBezTo>
                <a:lnTo>
                  <a:pt x="64000" y="4600"/>
                </a:lnTo>
                <a:lnTo>
                  <a:pt x="64000" y="12200"/>
                </a:lnTo>
                <a:lnTo>
                  <a:pt x="53300" y="12200"/>
                </a:lnTo>
                <a:lnTo>
                  <a:pt x="53300" y="4600"/>
                </a:lnTo>
                <a:cubicBezTo>
                  <a:pt x="53033" y="1800"/>
                  <a:pt x="51533" y="267"/>
                  <a:pt x="48800" y="0"/>
                </a:cubicBezTo>
                <a:lnTo>
                  <a:pt x="48800" y="0"/>
                </a:lnTo>
                <a:cubicBezTo>
                  <a:pt x="46000" y="267"/>
                  <a:pt x="44467" y="1800"/>
                  <a:pt x="44200" y="4600"/>
                </a:cubicBezTo>
                <a:lnTo>
                  <a:pt x="44200" y="4600"/>
                </a:lnTo>
                <a:lnTo>
                  <a:pt x="44200" y="12200"/>
                </a:lnTo>
                <a:lnTo>
                  <a:pt x="33500" y="12200"/>
                </a:lnTo>
                <a:lnTo>
                  <a:pt x="33500" y="4600"/>
                </a:lnTo>
                <a:moveTo>
                  <a:pt x="30500" y="24400"/>
                </a:moveTo>
                <a:lnTo>
                  <a:pt x="30500" y="24400"/>
                </a:lnTo>
                <a:lnTo>
                  <a:pt x="67000" y="24400"/>
                </a:lnTo>
                <a:cubicBezTo>
                  <a:pt x="68800" y="24400"/>
                  <a:pt x="70267" y="24967"/>
                  <a:pt x="71400" y="26100"/>
                </a:cubicBezTo>
                <a:lnTo>
                  <a:pt x="71400" y="26100"/>
                </a:lnTo>
                <a:cubicBezTo>
                  <a:pt x="72533" y="27233"/>
                  <a:pt x="73100" y="28700"/>
                  <a:pt x="73100" y="30500"/>
                </a:cubicBezTo>
                <a:lnTo>
                  <a:pt x="73100" y="30500"/>
                </a:lnTo>
                <a:lnTo>
                  <a:pt x="73100" y="67000"/>
                </a:lnTo>
                <a:cubicBezTo>
                  <a:pt x="73100" y="68800"/>
                  <a:pt x="72533" y="70267"/>
                  <a:pt x="71400" y="71400"/>
                </a:cubicBezTo>
                <a:lnTo>
                  <a:pt x="71400" y="71400"/>
                </a:lnTo>
                <a:cubicBezTo>
                  <a:pt x="70267" y="72533"/>
                  <a:pt x="68800" y="73100"/>
                  <a:pt x="67000" y="73100"/>
                </a:cubicBezTo>
                <a:lnTo>
                  <a:pt x="67000" y="73100"/>
                </a:lnTo>
                <a:lnTo>
                  <a:pt x="30500" y="73100"/>
                </a:lnTo>
                <a:cubicBezTo>
                  <a:pt x="28700" y="73100"/>
                  <a:pt x="27233" y="72533"/>
                  <a:pt x="26100" y="71400"/>
                </a:cubicBezTo>
                <a:lnTo>
                  <a:pt x="26100" y="71400"/>
                </a:lnTo>
                <a:cubicBezTo>
                  <a:pt x="24967" y="70267"/>
                  <a:pt x="24400" y="68800"/>
                  <a:pt x="24400" y="67000"/>
                </a:cubicBezTo>
                <a:lnTo>
                  <a:pt x="24400" y="67000"/>
                </a:lnTo>
                <a:lnTo>
                  <a:pt x="24400" y="30500"/>
                </a:lnTo>
                <a:cubicBezTo>
                  <a:pt x="24400" y="28700"/>
                  <a:pt x="24967" y="27233"/>
                  <a:pt x="26100" y="26100"/>
                </a:cubicBezTo>
                <a:lnTo>
                  <a:pt x="26100" y="26100"/>
                </a:lnTo>
                <a:cubicBezTo>
                  <a:pt x="27233" y="24967"/>
                  <a:pt x="28700" y="24400"/>
                  <a:pt x="30500" y="24400"/>
                </a:cubicBezTo>
                <a:lnTo>
                  <a:pt x="30500" y="24400"/>
                </a:lnTo>
                <a:moveTo>
                  <a:pt x="67000" y="30500"/>
                </a:moveTo>
                <a:lnTo>
                  <a:pt x="67000" y="30500"/>
                </a:lnTo>
                <a:lnTo>
                  <a:pt x="30500" y="30500"/>
                </a:lnTo>
                <a:lnTo>
                  <a:pt x="30500" y="67000"/>
                </a:lnTo>
                <a:lnTo>
                  <a:pt x="67000" y="67000"/>
                </a:lnTo>
                <a:lnTo>
                  <a:pt x="67000" y="30500"/>
                </a:lnTo>
              </a:path>
            </a:pathLst>
          </a:custGeom>
          <a:solidFill>
            <a:srgbClr val="4A7C9B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489356309-4"/>
          <p:cNvSpPr txBox="1"/>
          <p:nvPr/>
        </p:nvSpPr>
        <p:spPr>
          <a:xfrm>
            <a:off x="421481" y="250031"/>
            <a:ext cx="1800895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53035" algn="l">
              <a:lnSpc>
                <a:spcPct val="100000"/>
              </a:lnSpc>
            </a:pPr>
            <a:r>
              <a:rPr sz="840" spc="25">
                <a:solidFill>
                  <a:srgbClr val="4A7C9B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存算一体 · 非线性鲁棒性研究</a:t>
            </a:r>
            <a:endParaRPr sz="840" spc="25">
              <a:solidFill>
                <a:srgbClr val="4A7C9B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6621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6625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6626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6629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6627-5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6630-7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6659-33"/>
          <p:cNvSpPr/>
          <p:nvPr/>
        </p:nvSpPr>
        <p:spPr>
          <a:xfrm>
            <a:off x="400069" y="2032425"/>
            <a:ext cx="2686050" cy="9679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6661-36"/>
          <p:cNvCxnSpPr/>
          <p:nvPr/>
        </p:nvCxnSpPr>
        <p:spPr>
          <a:xfrm>
            <a:off x="414357" y="2032425"/>
            <a:ext cx="914" cy="967978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6660-34"/>
          <p:cNvSpPr/>
          <p:nvPr/>
        </p:nvSpPr>
        <p:spPr>
          <a:xfrm>
            <a:off x="3228994" y="2032425"/>
            <a:ext cx="2686050" cy="9679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56662-37"/>
          <p:cNvCxnSpPr/>
          <p:nvPr/>
        </p:nvCxnSpPr>
        <p:spPr>
          <a:xfrm>
            <a:off x="3243282" y="2032425"/>
            <a:ext cx="914" cy="967978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56661-35"/>
          <p:cNvSpPr/>
          <p:nvPr/>
        </p:nvSpPr>
        <p:spPr>
          <a:xfrm>
            <a:off x="6057919" y="2032425"/>
            <a:ext cx="2686050" cy="9679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56663-38"/>
          <p:cNvCxnSpPr/>
          <p:nvPr/>
        </p:nvCxnSpPr>
        <p:spPr>
          <a:xfrm>
            <a:off x="6072207" y="2032425"/>
            <a:ext cx="914" cy="967978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56641-10"/>
          <p:cNvSpPr/>
          <p:nvPr/>
        </p:nvSpPr>
        <p:spPr>
          <a:xfrm>
            <a:off x="400069" y="3128991"/>
            <a:ext cx="8343900" cy="17573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8D8D8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5" name="el-1785489356656-32"/>
          <p:cNvGraphicFramePr/>
          <p:nvPr/>
        </p:nvGraphicFramePr>
        <p:xfrm>
          <a:off x="407213" y="3136135"/>
          <a:ext cx="8329613" cy="17430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97965"/>
                <a:gridCol w="1497965"/>
                <a:gridCol w="1830705"/>
                <a:gridCol w="1831340"/>
                <a:gridCol w="1664335"/>
              </a:tblGrid>
              <a:tr h="3714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85725" marB="85725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5E6E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参数量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85725" marB="85725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5E6E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干净精度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85725" marB="85725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5E6E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α=+0.3 精度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85725" marB="85725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5E6E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跌幅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85725" marB="85725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5E6E8"/>
                    </a:solidFill>
                  </a:tcPr>
                </a:tc>
              </a:tr>
              <a:tr h="35718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SimpleCNN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0.24M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84.90%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55.08%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−29.82%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35718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VGG-11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9.2M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89.80%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36.70%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−53.10%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35718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ResNet-18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11.17M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92.09%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D4565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17.08%</a:t>
                      </a:r>
                      <a:endParaRPr sz="970" b="1">
                        <a:solidFill>
                          <a:srgbClr val="D4565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D4565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−75.01%</a:t>
                      </a:r>
                      <a:endParaRPr sz="970" b="1">
                        <a:solidFill>
                          <a:srgbClr val="D4565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78581" marB="78581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292894">
                <a:tc gridSpan="5"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表1</a:t>
                      </a:r>
                      <a:r>
                        <a:rPr sz="90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三模型在 α=+0.3 下的精度对比 · 干净精度随参数量递增，鲁棒精度随参数量骤降</a:t>
                      </a:r>
                      <a:endParaRPr sz="900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7144">
                      <a:solidFill>
                        <a:srgbClr val="D8D8D8"/>
                      </a:solidFill>
                    </a:lnL>
                    <a:lnR w="7144">
                      <a:solidFill>
                        <a:srgbClr val="D8D8D8"/>
                      </a:solidFill>
                    </a:lnR>
                    <a:lnT w="7144">
                      <a:solidFill>
                        <a:srgbClr val="D8D8D8"/>
                      </a:solidFill>
                    </a:lnT>
                    <a:lnB w="7144">
                      <a:solidFill>
                        <a:srgbClr val="D8D8D8"/>
                      </a:solidFill>
                    </a:lnB>
                    <a:solidFill>
                      <a:srgbClr val="F9F4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6" name="el-1785489356635-8"/>
          <p:cNvSpPr txBox="1"/>
          <p:nvPr/>
        </p:nvSpPr>
        <p:spPr>
          <a:xfrm>
            <a:off x="400050" y="100013"/>
            <a:ext cx="2670125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任务1：三模型</a:t>
            </a:r>
            <a:r>
              <a:rPr sz="157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精度衰减</a:t>
            </a: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对比</a:t>
            </a:r>
            <a:endParaRPr sz="1570" b="1" spc="28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6678-42"/>
          <p:cNvSpPr txBox="1"/>
          <p:nvPr/>
        </p:nvSpPr>
        <p:spPr>
          <a:xfrm>
            <a:off x="557232" y="2132438"/>
            <a:ext cx="24645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干净精度趋势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6669-39"/>
          <p:cNvSpPr txBox="1"/>
          <p:nvPr/>
        </p:nvSpPr>
        <p:spPr>
          <a:xfrm>
            <a:off x="557232" y="2353894"/>
            <a:ext cx="2400300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SimpleCNN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84.90%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→ VGG-11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89.80%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→ ResNet-18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92.09%</a:t>
            </a:r>
            <a:endParaRPr sz="95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25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随参数量递增，干净精度稳步提升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6679-43"/>
          <p:cNvSpPr txBox="1"/>
          <p:nvPr/>
        </p:nvSpPr>
        <p:spPr>
          <a:xfrm>
            <a:off x="3386157" y="2132438"/>
            <a:ext cx="24645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鲁棒精度反转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6675-40"/>
          <p:cNvSpPr txBox="1"/>
          <p:nvPr/>
        </p:nvSpPr>
        <p:spPr>
          <a:xfrm>
            <a:off x="3386157" y="2353894"/>
            <a:ext cx="2400300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α=+0.3时：SimpleCNN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55.08%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&gt; VGG-11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36.70%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&gt; ResNet-18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17.08%</a:t>
            </a:r>
            <a:endParaRPr sz="95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25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深度越大，非线性鲁棒性反而越差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56680-44"/>
          <p:cNvSpPr txBox="1"/>
          <p:nvPr/>
        </p:nvSpPr>
        <p:spPr>
          <a:xfrm>
            <a:off x="6215082" y="2132438"/>
            <a:ext cx="24645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核心反直觉结论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56677-41"/>
          <p:cNvSpPr txBox="1"/>
          <p:nvPr/>
        </p:nvSpPr>
        <p:spPr>
          <a:xfrm>
            <a:off x="6215082" y="2353894"/>
            <a:ext cx="2400300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参数量越大、深度越深的模型，非线性鲁棒性反而越差； 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残差架构的放大效应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远超参数冗余容错收益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56637-9"/>
          <p:cNvSpPr txBox="1"/>
          <p:nvPr/>
        </p:nvSpPr>
        <p:spPr>
          <a:xfrm>
            <a:off x="6872585" y="4943475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" name="el-1785489356617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0409" y="514314"/>
            <a:ext cx="2087484" cy="13843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46" y="521388"/>
            <a:ext cx="2087484" cy="138433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623" y="521388"/>
            <a:ext cx="2087484" cy="13843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7566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7568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7568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7572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7569-5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7573-7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7586-10"/>
          <p:cNvSpPr/>
          <p:nvPr/>
        </p:nvSpPr>
        <p:spPr>
          <a:xfrm>
            <a:off x="400050" y="1250156"/>
            <a:ext cx="4510534" cy="7072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7590-13"/>
          <p:cNvCxnSpPr/>
          <p:nvPr/>
        </p:nvCxnSpPr>
        <p:spPr>
          <a:xfrm>
            <a:off x="414338" y="1250156"/>
            <a:ext cx="914" cy="707231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7587-11"/>
          <p:cNvSpPr/>
          <p:nvPr/>
        </p:nvSpPr>
        <p:spPr>
          <a:xfrm>
            <a:off x="400050" y="2043113"/>
            <a:ext cx="4510534" cy="7072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57591-14"/>
          <p:cNvCxnSpPr/>
          <p:nvPr/>
        </p:nvCxnSpPr>
        <p:spPr>
          <a:xfrm>
            <a:off x="414338" y="2043113"/>
            <a:ext cx="914" cy="707231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el-1785489357608-35"/>
          <p:cNvGraphicFramePr/>
          <p:nvPr/>
        </p:nvGraphicFramePr>
        <p:xfrm>
          <a:off x="400050" y="2864644"/>
          <a:ext cx="4510534" cy="12858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3577"/>
                <a:gridCol w="1312069"/>
                <a:gridCol w="1360512"/>
                <a:gridCol w="1314376"/>
              </a:tblGrid>
              <a:tr h="26431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  <a:endParaRPr sz="7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57150" marT="57150" marB="57150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SimpleCNN</a:t>
                      </a:r>
                      <a:endParaRPr sz="7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7150" marB="57150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VGG-11</a:t>
                      </a:r>
                      <a:endParaRPr sz="7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7150" marB="57150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ResNet-18</a:t>
                      </a:r>
                      <a:endParaRPr sz="7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7150" marB="57150" anchor="ctr">
                    <a:solidFill>
                      <a:srgbClr val="4A7C9B"/>
                    </a:solidFill>
                  </a:tcPr>
                </a:tc>
              </a:tr>
              <a:tr h="25360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浅层</a:t>
                      </a:r>
                      <a:endParaRPr sz="75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57150" marT="50006" marB="50006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0.9928</a:t>
                      </a:r>
                      <a:r>
                        <a:rPr sz="75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(conv1)</a:t>
                      </a:r>
                      <a:endParaRPr sz="75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0.9444</a:t>
                      </a:r>
                      <a:r>
                        <a:rPr sz="75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(block2)</a:t>
                      </a:r>
                      <a:endParaRPr sz="75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0.8710</a:t>
                      </a:r>
                      <a:r>
                        <a:rPr sz="75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(layer1)</a:t>
                      </a:r>
                      <a:endParaRPr sz="75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lnB w="7144">
                      <a:solidFill>
                        <a:srgbClr val="E5E7EB"/>
                      </a:solidFill>
                    </a:lnB>
                  </a:tcPr>
                </a:tc>
              </a:tr>
              <a:tr h="2571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中层</a:t>
                      </a:r>
                      <a:endParaRPr sz="75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57150" marT="50006" marB="50006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0.9476 (conv3)</a:t>
                      </a:r>
                      <a:endParaRPr sz="75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0.7564 (block4)</a:t>
                      </a:r>
                      <a:endParaRPr sz="75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0.5790 (layer3)</a:t>
                      </a:r>
                      <a:endParaRPr sz="75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</a:tr>
              <a:tr h="2571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深层</a:t>
                      </a:r>
                      <a:endParaRPr sz="75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57150" marT="50006" marB="50006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0.9010 (conv4)</a:t>
                      </a:r>
                      <a:endParaRPr sz="75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0.7324 (block5)</a:t>
                      </a:r>
                      <a:endParaRPr sz="75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0.4720 (layer4)</a:t>
                      </a:r>
                      <a:endParaRPr sz="75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lnB w="7144">
                      <a:solidFill>
                        <a:srgbClr val="E5E7EB"/>
                      </a:solidFill>
                    </a:lnB>
                  </a:tcPr>
                </a:tc>
              </a:tr>
              <a:tr h="25360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fc</a:t>
                      </a:r>
                      <a:endParaRPr sz="75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57150" marT="50006" marB="50006" anchor="ctr"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B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0.6786</a:t>
                      </a:r>
                      <a:endParaRPr sz="750" b="1">
                        <a:solidFill>
                          <a:srgbClr val="B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B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0.4120</a:t>
                      </a:r>
                      <a:endParaRPr sz="750" b="1">
                        <a:solidFill>
                          <a:srgbClr val="B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B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0.1273</a:t>
                      </a:r>
                      <a:endParaRPr sz="750" b="1">
                        <a:solidFill>
                          <a:srgbClr val="B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50006" marB="50006" anchor="ctr">
                    <a:solidFill>
                      <a:srgbClr val="F9F4EF"/>
                    </a:solidFill>
                  </a:tcPr>
                </a:tc>
              </a:tr>
            </a:tbl>
          </a:graphicData>
        </a:graphic>
      </p:graphicFrame>
      <p:sp>
        <p:nvSpPr>
          <p:cNvPr id="13" name="el-1785489357589-12"/>
          <p:cNvSpPr/>
          <p:nvPr/>
        </p:nvSpPr>
        <p:spPr>
          <a:xfrm>
            <a:off x="5110609" y="1316385"/>
            <a:ext cx="3690491" cy="27678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AF8F6"/>
          </a:solidFill>
          <a:ln>
            <a:noFill/>
          </a:ln>
          <a:effectLst>
            <a:outerShdw blurRad="142875" dist="28575" dir="5400000" algn="ctr">
              <a:srgbClr val="000000">
                <a:alpha val="6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el-1785489357578-8"/>
          <p:cNvSpPr txBox="1"/>
          <p:nvPr/>
        </p:nvSpPr>
        <p:spPr>
          <a:xfrm>
            <a:off x="400050" y="89297"/>
            <a:ext cx="2639690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任务1：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误差跨层累积规律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l-1785489357644-39"/>
          <p:cNvSpPr txBox="1"/>
          <p:nvPr/>
        </p:nvSpPr>
        <p:spPr>
          <a:xfrm>
            <a:off x="542925" y="1335881"/>
            <a:ext cx="430336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纯前馈网络（SimpleCNN / VGG-11）· 三阶段模式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7638-37"/>
          <p:cNvSpPr txBox="1"/>
          <p:nvPr/>
        </p:nvSpPr>
        <p:spPr>
          <a:xfrm>
            <a:off x="542925" y="1514475"/>
            <a:ext cx="4253359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50"/>
              </a:lnSpc>
            </a:pP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浅层卷积余弦 &gt;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0.99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（基础特征免疫）→ 中层语义逐步偏移 →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fc层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信息汇聚点余弦骤降（SimpleCNN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0.68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，VGG-11 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0.41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）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7645-40"/>
          <p:cNvSpPr txBox="1"/>
          <p:nvPr/>
        </p:nvSpPr>
        <p:spPr>
          <a:xfrm>
            <a:off x="542925" y="2128838"/>
            <a:ext cx="430336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残差网络（ResNet-18）· 全局侵蚀模式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7643-38"/>
          <p:cNvSpPr txBox="1"/>
          <p:nvPr/>
        </p:nvSpPr>
        <p:spPr>
          <a:xfrm>
            <a:off x="542925" y="2307431"/>
            <a:ext cx="4264789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50"/>
              </a:lnSpc>
            </a:pP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layer1 余弦仅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0.87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→ fc层崩溃至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0.13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，特征几乎正交。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35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残差连接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将失真信号直接传递，与主分支失真叠加，指数级放大误差。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7579-9"/>
          <p:cNvSpPr txBox="1"/>
          <p:nvPr/>
        </p:nvSpPr>
        <p:spPr>
          <a:xfrm>
            <a:off x="6872585" y="4943475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16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1" name="el-1785489357562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6640" y="681673"/>
            <a:ext cx="3398438" cy="201982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638" y="2701552"/>
            <a:ext cx="3388913" cy="20173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7428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7430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7431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7434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7432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7435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7467-28"/>
          <p:cNvSpPr/>
          <p:nvPr/>
        </p:nvSpPr>
        <p:spPr>
          <a:xfrm>
            <a:off x="400050" y="1112639"/>
            <a:ext cx="8343900" cy="5250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7470-31"/>
          <p:cNvCxnSpPr/>
          <p:nvPr/>
        </p:nvCxnSpPr>
        <p:spPr>
          <a:xfrm>
            <a:off x="421481" y="1112639"/>
            <a:ext cx="914" cy="525066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7468-29"/>
          <p:cNvSpPr/>
          <p:nvPr/>
        </p:nvSpPr>
        <p:spPr>
          <a:xfrm>
            <a:off x="400050" y="1694855"/>
            <a:ext cx="8343900" cy="5250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57470-32"/>
          <p:cNvCxnSpPr/>
          <p:nvPr/>
        </p:nvCxnSpPr>
        <p:spPr>
          <a:xfrm>
            <a:off x="421481" y="1694855"/>
            <a:ext cx="914" cy="525066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57469-30"/>
          <p:cNvSpPr/>
          <p:nvPr/>
        </p:nvSpPr>
        <p:spPr>
          <a:xfrm>
            <a:off x="400050" y="2277070"/>
            <a:ext cx="8343900" cy="5250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57471-33"/>
          <p:cNvCxnSpPr/>
          <p:nvPr/>
        </p:nvCxnSpPr>
        <p:spPr>
          <a:xfrm>
            <a:off x="421481" y="2277070"/>
            <a:ext cx="914" cy="525066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57447-10"/>
          <p:cNvSpPr/>
          <p:nvPr/>
        </p:nvSpPr>
        <p:spPr>
          <a:xfrm>
            <a:off x="400050" y="2887861"/>
            <a:ext cx="8343900" cy="14573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4288" algn="in">
            <a:solidFill>
              <a:srgbClr val="D8D8D8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5" name="el-1785489357464-27"/>
          <p:cNvGraphicFramePr/>
          <p:nvPr/>
        </p:nvGraphicFramePr>
        <p:xfrm>
          <a:off x="414338" y="2902148"/>
          <a:ext cx="8315326" cy="142875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3220"/>
                <a:gridCol w="1839144"/>
                <a:gridCol w="2213670"/>
                <a:gridCol w="1839292"/>
              </a:tblGrid>
              <a:tr h="35361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基线精度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NAT后精度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绝对提升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solidFill>
                      <a:srgbClr val="4A7C9B"/>
                    </a:solidFill>
                  </a:tcPr>
                </a:tc>
              </a:tr>
              <a:tr h="35718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SimpleCNN</a:t>
                      </a:r>
                      <a:endParaRPr sz="90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55.08%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64.23%</a:t>
                      </a:r>
                      <a:endParaRPr sz="90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+9.15%</a:t>
                      </a:r>
                      <a:endParaRPr sz="90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</a:tcPr>
                </a:tc>
              </a:tr>
              <a:tr h="36075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VGG-11</a:t>
                      </a:r>
                      <a:endParaRPr sz="90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36.70%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44.74%</a:t>
                      </a:r>
                      <a:endParaRPr sz="90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+8.04%</a:t>
                      </a:r>
                      <a:endParaRPr sz="90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</a:tr>
              <a:tr h="35718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ResNet-18</a:t>
                      </a:r>
                      <a:endParaRPr sz="90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17.08%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15.64%</a:t>
                      </a:r>
                      <a:endParaRPr sz="900" b="1">
                        <a:solidFill>
                          <a:srgbClr val="B91C1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-1.44%</a:t>
                      </a:r>
                      <a:endParaRPr sz="900" b="1">
                        <a:solidFill>
                          <a:srgbClr val="B91C1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/>
                </a:tc>
              </a:tr>
            </a:tbl>
          </a:graphicData>
        </a:graphic>
      </p:graphicFrame>
      <p:sp>
        <p:nvSpPr>
          <p:cNvPr id="16" name="el-1785489357440-8"/>
          <p:cNvSpPr txBox="1"/>
          <p:nvPr/>
        </p:nvSpPr>
        <p:spPr>
          <a:xfrm>
            <a:off x="400050" y="117872"/>
            <a:ext cx="3220194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任务2：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NAT-Scratch 效果对比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7475-34"/>
          <p:cNvSpPr txBox="1"/>
          <p:nvPr/>
        </p:nvSpPr>
        <p:spPr>
          <a:xfrm>
            <a:off x="614363" y="1277541"/>
            <a:ext cx="928688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SimpleCNN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7516-45"/>
          <p:cNvSpPr txBox="1"/>
          <p:nvPr/>
        </p:nvSpPr>
        <p:spPr>
          <a:xfrm>
            <a:off x="1614488" y="1198364"/>
            <a:ext cx="67620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基线 (α=+0.3)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7517-46"/>
          <p:cNvSpPr txBox="1"/>
          <p:nvPr/>
        </p:nvSpPr>
        <p:spPr>
          <a:xfrm>
            <a:off x="1614488" y="1337667"/>
            <a:ext cx="59776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55.08%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7518-47"/>
          <p:cNvSpPr txBox="1"/>
          <p:nvPr/>
        </p:nvSpPr>
        <p:spPr>
          <a:xfrm>
            <a:off x="2387129" y="1198364"/>
            <a:ext cx="62106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NAT-Scratch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57503-37"/>
          <p:cNvSpPr txBox="1"/>
          <p:nvPr/>
        </p:nvSpPr>
        <p:spPr>
          <a:xfrm>
            <a:off x="2387129" y="1337667"/>
            <a:ext cx="59776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64.23%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57519-48"/>
          <p:cNvSpPr txBox="1"/>
          <p:nvPr/>
        </p:nvSpPr>
        <p:spPr>
          <a:xfrm>
            <a:off x="3104629" y="1198364"/>
            <a:ext cx="42654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绝对提升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57504-38"/>
          <p:cNvSpPr txBox="1"/>
          <p:nvPr/>
        </p:nvSpPr>
        <p:spPr>
          <a:xfrm>
            <a:off x="3104629" y="1337667"/>
            <a:ext cx="618381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+9.15%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57520-49"/>
          <p:cNvSpPr txBox="1"/>
          <p:nvPr/>
        </p:nvSpPr>
        <p:spPr>
          <a:xfrm>
            <a:off x="3876154" y="1198364"/>
            <a:ext cx="61652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干净精度增益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57506-39"/>
          <p:cNvSpPr txBox="1"/>
          <p:nvPr/>
        </p:nvSpPr>
        <p:spPr>
          <a:xfrm>
            <a:off x="3876154" y="1337667"/>
            <a:ext cx="618381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+1.59%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57475-35"/>
          <p:cNvSpPr txBox="1"/>
          <p:nvPr/>
        </p:nvSpPr>
        <p:spPr>
          <a:xfrm>
            <a:off x="614363" y="1859756"/>
            <a:ext cx="928688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VGG-11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57520-50"/>
          <p:cNvSpPr txBox="1"/>
          <p:nvPr/>
        </p:nvSpPr>
        <p:spPr>
          <a:xfrm>
            <a:off x="1614488" y="1780580"/>
            <a:ext cx="67620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基线 (α=+0.3)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57521-51"/>
          <p:cNvSpPr txBox="1"/>
          <p:nvPr/>
        </p:nvSpPr>
        <p:spPr>
          <a:xfrm>
            <a:off x="1614488" y="1919883"/>
            <a:ext cx="59776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36.70%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57521-52"/>
          <p:cNvSpPr txBox="1"/>
          <p:nvPr/>
        </p:nvSpPr>
        <p:spPr>
          <a:xfrm>
            <a:off x="2387129" y="1780580"/>
            <a:ext cx="62106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NAT-Scratch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l-1785489357508-40"/>
          <p:cNvSpPr txBox="1"/>
          <p:nvPr/>
        </p:nvSpPr>
        <p:spPr>
          <a:xfrm>
            <a:off x="2387129" y="1919883"/>
            <a:ext cx="59776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44.74%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l-1785489357522-53"/>
          <p:cNvSpPr txBox="1"/>
          <p:nvPr/>
        </p:nvSpPr>
        <p:spPr>
          <a:xfrm>
            <a:off x="3104629" y="1780580"/>
            <a:ext cx="42654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绝对提升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l-1785489357510-41"/>
          <p:cNvSpPr txBox="1"/>
          <p:nvPr/>
        </p:nvSpPr>
        <p:spPr>
          <a:xfrm>
            <a:off x="3104629" y="1919883"/>
            <a:ext cx="618381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+8.04%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l-1785489357524-54"/>
          <p:cNvSpPr txBox="1"/>
          <p:nvPr/>
        </p:nvSpPr>
        <p:spPr>
          <a:xfrm>
            <a:off x="3876154" y="1780580"/>
            <a:ext cx="39551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全α区间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l-1785489357524-55"/>
          <p:cNvSpPr txBox="1"/>
          <p:nvPr/>
        </p:nvSpPr>
        <p:spPr>
          <a:xfrm>
            <a:off x="3876154" y="1919883"/>
            <a:ext cx="785813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稳健正收益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l-1785489357476-36"/>
          <p:cNvSpPr txBox="1"/>
          <p:nvPr/>
        </p:nvSpPr>
        <p:spPr>
          <a:xfrm>
            <a:off x="614363" y="2441972"/>
            <a:ext cx="928688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ResNet-18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l-1785489357525-56"/>
          <p:cNvSpPr txBox="1"/>
          <p:nvPr/>
        </p:nvSpPr>
        <p:spPr>
          <a:xfrm>
            <a:off x="1614488" y="2362795"/>
            <a:ext cx="67620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基线 (α=+0.3)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l-1785489357526-57"/>
          <p:cNvSpPr txBox="1"/>
          <p:nvPr/>
        </p:nvSpPr>
        <p:spPr>
          <a:xfrm>
            <a:off x="1614488" y="2502098"/>
            <a:ext cx="59776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17.08%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el-1785489357526-58"/>
          <p:cNvSpPr txBox="1"/>
          <p:nvPr/>
        </p:nvSpPr>
        <p:spPr>
          <a:xfrm>
            <a:off x="2387129" y="2362795"/>
            <a:ext cx="62106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NAT-Scratch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l-1785489357512-42"/>
          <p:cNvSpPr txBox="1"/>
          <p:nvPr/>
        </p:nvSpPr>
        <p:spPr>
          <a:xfrm>
            <a:off x="2387129" y="2502098"/>
            <a:ext cx="59776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15.64%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l-1785489357527-59"/>
          <p:cNvSpPr txBox="1"/>
          <p:nvPr/>
        </p:nvSpPr>
        <p:spPr>
          <a:xfrm>
            <a:off x="3104629" y="2362795"/>
            <a:ext cx="42654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绝对变化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l-1785489357514-43"/>
          <p:cNvSpPr txBox="1"/>
          <p:nvPr/>
        </p:nvSpPr>
        <p:spPr>
          <a:xfrm>
            <a:off x="3104629" y="2502098"/>
            <a:ext cx="572021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-1.44%</a:t>
            </a:r>
            <a:endParaRPr sz="112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el-1785489357528-60"/>
          <p:cNvSpPr txBox="1"/>
          <p:nvPr/>
        </p:nvSpPr>
        <p:spPr>
          <a:xfrm>
            <a:off x="3876154" y="2362795"/>
            <a:ext cx="83753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中等失真 (α=-0.2)</a:t>
            </a:r>
            <a:endParaRPr sz="730" spc="17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l-1785489357515-44"/>
          <p:cNvSpPr txBox="1"/>
          <p:nvPr/>
        </p:nvSpPr>
        <p:spPr>
          <a:xfrm>
            <a:off x="3876154" y="2502098"/>
            <a:ext cx="706562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+18.84%</a:t>
            </a:r>
            <a:endParaRPr sz="112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el-1785489357444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17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5" name="el-1785489357424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299" y="687583"/>
            <a:ext cx="3552286" cy="21145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8149-2"/>
          <p:cNvSpPr/>
          <p:nvPr/>
        </p:nvSpPr>
        <p:spPr>
          <a:xfrm>
            <a:off x="8215313" y="3714750"/>
            <a:ext cx="928688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490" y="94733"/>
                </a:moveTo>
                <a:lnTo>
                  <a:pt x="95235" y="96193"/>
                </a:lnTo>
                <a:lnTo>
                  <a:pt x="88867" y="97844"/>
                </a:lnTo>
                <a:lnTo>
                  <a:pt x="82316" y="99037"/>
                </a:lnTo>
                <a:lnTo>
                  <a:pt x="75633" y="99756"/>
                </a:lnTo>
                <a:lnTo>
                  <a:pt x="68878" y="100000"/>
                </a:lnTo>
                <a:lnTo>
                  <a:pt x="62122" y="99756"/>
                </a:lnTo>
                <a:lnTo>
                  <a:pt x="55439" y="99037"/>
                </a:lnTo>
                <a:lnTo>
                  <a:pt x="48888" y="97844"/>
                </a:lnTo>
                <a:lnTo>
                  <a:pt x="42520" y="96193"/>
                </a:lnTo>
                <a:lnTo>
                  <a:pt x="36408" y="94096"/>
                </a:lnTo>
                <a:lnTo>
                  <a:pt x="30612" y="91570"/>
                </a:lnTo>
                <a:lnTo>
                  <a:pt x="25184" y="88652"/>
                </a:lnTo>
                <a:lnTo>
                  <a:pt x="20173" y="85356"/>
                </a:lnTo>
                <a:lnTo>
                  <a:pt x="15633" y="81719"/>
                </a:lnTo>
                <a:lnTo>
                  <a:pt x="11612" y="77778"/>
                </a:lnTo>
                <a:lnTo>
                  <a:pt x="8133" y="73570"/>
                </a:lnTo>
                <a:lnTo>
                  <a:pt x="5245" y="69133"/>
                </a:lnTo>
                <a:lnTo>
                  <a:pt x="2969" y="64511"/>
                </a:lnTo>
                <a:lnTo>
                  <a:pt x="1327" y="59756"/>
                </a:lnTo>
                <a:lnTo>
                  <a:pt x="337" y="54904"/>
                </a:lnTo>
                <a:lnTo>
                  <a:pt x="0" y="50000"/>
                </a:lnTo>
                <a:lnTo>
                  <a:pt x="337" y="45096"/>
                </a:lnTo>
                <a:lnTo>
                  <a:pt x="1327" y="40244"/>
                </a:lnTo>
                <a:lnTo>
                  <a:pt x="2969" y="35489"/>
                </a:lnTo>
                <a:lnTo>
                  <a:pt x="5245" y="30867"/>
                </a:lnTo>
                <a:lnTo>
                  <a:pt x="8133" y="26430"/>
                </a:lnTo>
                <a:lnTo>
                  <a:pt x="11612" y="22222"/>
                </a:lnTo>
                <a:lnTo>
                  <a:pt x="15633" y="18281"/>
                </a:lnTo>
                <a:lnTo>
                  <a:pt x="20173" y="14644"/>
                </a:lnTo>
                <a:lnTo>
                  <a:pt x="25184" y="11348"/>
                </a:lnTo>
                <a:lnTo>
                  <a:pt x="30612" y="8430"/>
                </a:lnTo>
                <a:lnTo>
                  <a:pt x="36408" y="5904"/>
                </a:lnTo>
                <a:lnTo>
                  <a:pt x="42520" y="3807"/>
                </a:lnTo>
                <a:lnTo>
                  <a:pt x="48888" y="2156"/>
                </a:lnTo>
                <a:lnTo>
                  <a:pt x="55439" y="963"/>
                </a:lnTo>
                <a:lnTo>
                  <a:pt x="62122" y="244"/>
                </a:lnTo>
                <a:lnTo>
                  <a:pt x="68878" y="0"/>
                </a:lnTo>
                <a:lnTo>
                  <a:pt x="75633" y="244"/>
                </a:lnTo>
                <a:lnTo>
                  <a:pt x="82316" y="963"/>
                </a:lnTo>
                <a:lnTo>
                  <a:pt x="88867" y="2156"/>
                </a:lnTo>
                <a:lnTo>
                  <a:pt x="95235" y="3807"/>
                </a:lnTo>
                <a:lnTo>
                  <a:pt x="99490" y="5267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8155-3"/>
          <p:cNvSpPr/>
          <p:nvPr/>
        </p:nvSpPr>
        <p:spPr>
          <a:xfrm>
            <a:off x="0" y="428625"/>
            <a:ext cx="571500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50000"/>
                </a:moveTo>
                <a:lnTo>
                  <a:pt x="99633" y="54900"/>
                </a:lnTo>
                <a:lnTo>
                  <a:pt x="98567" y="59756"/>
                </a:lnTo>
                <a:lnTo>
                  <a:pt x="96767" y="64511"/>
                </a:lnTo>
                <a:lnTo>
                  <a:pt x="94283" y="69133"/>
                </a:lnTo>
                <a:lnTo>
                  <a:pt x="91150" y="73567"/>
                </a:lnTo>
                <a:lnTo>
                  <a:pt x="87367" y="77778"/>
                </a:lnTo>
                <a:lnTo>
                  <a:pt x="82983" y="81722"/>
                </a:lnTo>
                <a:lnTo>
                  <a:pt x="78033" y="85356"/>
                </a:lnTo>
                <a:lnTo>
                  <a:pt x="72583" y="88656"/>
                </a:lnTo>
                <a:lnTo>
                  <a:pt x="66667" y="91578"/>
                </a:lnTo>
                <a:lnTo>
                  <a:pt x="60350" y="94100"/>
                </a:lnTo>
                <a:lnTo>
                  <a:pt x="53700" y="96189"/>
                </a:lnTo>
                <a:lnTo>
                  <a:pt x="46767" y="97844"/>
                </a:lnTo>
                <a:lnTo>
                  <a:pt x="39633" y="99044"/>
                </a:lnTo>
                <a:lnTo>
                  <a:pt x="32350" y="99756"/>
                </a:lnTo>
                <a:lnTo>
                  <a:pt x="25000" y="100000"/>
                </a:lnTo>
                <a:lnTo>
                  <a:pt x="17650" y="99756"/>
                </a:lnTo>
                <a:lnTo>
                  <a:pt x="10367" y="99044"/>
                </a:lnTo>
                <a:lnTo>
                  <a:pt x="3233" y="97844"/>
                </a:lnTo>
                <a:lnTo>
                  <a:pt x="0" y="97078"/>
                </a:lnTo>
                <a:lnTo>
                  <a:pt x="0" y="2922"/>
                </a:lnTo>
                <a:lnTo>
                  <a:pt x="3233" y="2156"/>
                </a:lnTo>
                <a:lnTo>
                  <a:pt x="10367" y="956"/>
                </a:lnTo>
                <a:lnTo>
                  <a:pt x="17650" y="244"/>
                </a:lnTo>
                <a:lnTo>
                  <a:pt x="25000" y="0"/>
                </a:lnTo>
                <a:lnTo>
                  <a:pt x="32350" y="244"/>
                </a:lnTo>
                <a:lnTo>
                  <a:pt x="39633" y="956"/>
                </a:lnTo>
                <a:lnTo>
                  <a:pt x="46767" y="2156"/>
                </a:lnTo>
                <a:lnTo>
                  <a:pt x="53700" y="3811"/>
                </a:lnTo>
                <a:lnTo>
                  <a:pt x="60350" y="5900"/>
                </a:lnTo>
                <a:lnTo>
                  <a:pt x="66667" y="8422"/>
                </a:lnTo>
                <a:lnTo>
                  <a:pt x="72583" y="11344"/>
                </a:lnTo>
                <a:lnTo>
                  <a:pt x="78033" y="14644"/>
                </a:lnTo>
                <a:lnTo>
                  <a:pt x="82983" y="18278"/>
                </a:lnTo>
                <a:lnTo>
                  <a:pt x="87367" y="22222"/>
                </a:lnTo>
                <a:lnTo>
                  <a:pt x="91150" y="26433"/>
                </a:lnTo>
                <a:lnTo>
                  <a:pt x="94283" y="30867"/>
                </a:lnTo>
                <a:lnTo>
                  <a:pt x="96767" y="35489"/>
                </a:lnTo>
                <a:lnTo>
                  <a:pt x="98567" y="40244"/>
                </a:lnTo>
                <a:lnTo>
                  <a:pt x="99633" y="4510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8155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8159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8156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8159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el-1785489358185-26"/>
          <p:cNvGraphicFramePr/>
          <p:nvPr/>
        </p:nvGraphicFramePr>
        <p:xfrm>
          <a:off x="400069" y="619937"/>
          <a:ext cx="8343900" cy="14608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5785"/>
                <a:gridCol w="2002155"/>
                <a:gridCol w="2336165"/>
                <a:gridCol w="2169795"/>
              </a:tblGrid>
              <a:tr h="35361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基线精度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Finetune 后精度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绝对提升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solidFill>
                      <a:srgbClr val="4A7C9B"/>
                    </a:solidFill>
                  </a:tcPr>
                </a:tc>
              </a:tr>
              <a:tr h="36790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SimpleCNN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55.08%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56.08%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+1.00%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</a:tcPr>
                </a:tc>
              </a:tr>
              <a:tr h="3714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VGG-11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36.70%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39.96%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+3.26%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</a:tr>
              <a:tr h="36790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ResNet-18</a:t>
                      </a:r>
                      <a:endParaRPr sz="97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17.08%</a:t>
                      </a:r>
                      <a:endParaRPr sz="97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19.89%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7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+2.81%</a:t>
                      </a:r>
                      <a:endParaRPr sz="97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100013" marT="85725" marB="85725" anchor="ctr"/>
                </a:tc>
              </a:tr>
            </a:tbl>
          </a:graphicData>
        </a:graphic>
      </p:graphicFrame>
      <p:sp>
        <p:nvSpPr>
          <p:cNvPr id="9" name="el-1785489358187-27"/>
          <p:cNvSpPr/>
          <p:nvPr/>
        </p:nvSpPr>
        <p:spPr>
          <a:xfrm>
            <a:off x="400069" y="2209421"/>
            <a:ext cx="4071938" cy="1081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489358189-29"/>
          <p:cNvCxnSpPr/>
          <p:nvPr/>
        </p:nvCxnSpPr>
        <p:spPr>
          <a:xfrm>
            <a:off x="414357" y="2209421"/>
            <a:ext cx="914" cy="1081385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489358189-28"/>
          <p:cNvSpPr/>
          <p:nvPr/>
        </p:nvSpPr>
        <p:spPr>
          <a:xfrm>
            <a:off x="400069" y="3454133"/>
            <a:ext cx="4071938" cy="1081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5489358190-30"/>
          <p:cNvCxnSpPr/>
          <p:nvPr/>
        </p:nvCxnSpPr>
        <p:spPr>
          <a:xfrm>
            <a:off x="414356" y="3454133"/>
            <a:ext cx="914" cy="1081385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489358164-8"/>
          <p:cNvSpPr txBox="1"/>
          <p:nvPr/>
        </p:nvSpPr>
        <p:spPr>
          <a:xfrm>
            <a:off x="400050" y="100013"/>
            <a:ext cx="3730154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任务2：</a:t>
            </a:r>
            <a:r>
              <a:rPr sz="157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Finetune vs Scratch</a:t>
            </a: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 策略对比</a:t>
            </a:r>
            <a:endParaRPr sz="1570" b="1" spc="28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l-1785489358199-33"/>
          <p:cNvSpPr txBox="1"/>
          <p:nvPr/>
        </p:nvSpPr>
        <p:spPr>
          <a:xfrm>
            <a:off x="585807" y="2338009"/>
            <a:ext cx="37790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核心规律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l-1785489358195-31"/>
          <p:cNvSpPr txBox="1"/>
          <p:nvPr/>
        </p:nvSpPr>
        <p:spPr>
          <a:xfrm>
            <a:off x="585807" y="2530890"/>
            <a:ext cx="3741896" cy="6170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纯前馈网络优先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Scratch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；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残差网络极限失真下应改用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Finetune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保留干净特征基线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l-1785489358200-34"/>
          <p:cNvSpPr txBox="1"/>
          <p:nvPr/>
        </p:nvSpPr>
        <p:spPr>
          <a:xfrm>
            <a:off x="585806" y="3582721"/>
            <a:ext cx="37790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反常反超 · 物理机制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8198-32"/>
          <p:cNvSpPr txBox="1"/>
          <p:nvPr/>
        </p:nvSpPr>
        <p:spPr>
          <a:xfrm>
            <a:off x="585806" y="3775602"/>
            <a:ext cx="3729038" cy="6170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ResNet-18 上 Finetune（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19.89%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）反常优于 Scratch（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15.64%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）：低学习率限制权重更新幅度，保留预训练权重的干净特征编码能力，残差连接的恒等路径提供信息安全通道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8166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18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9" name="el-1785489358146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6404" y="2209407"/>
            <a:ext cx="3907570" cy="23260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8531-2"/>
          <p:cNvSpPr/>
          <p:nvPr/>
        </p:nvSpPr>
        <p:spPr>
          <a:xfrm>
            <a:off x="8001000" y="0"/>
            <a:ext cx="1143000" cy="1214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5500"/>
                </a:moveTo>
                <a:lnTo>
                  <a:pt x="96775" y="96578"/>
                </a:lnTo>
                <a:lnTo>
                  <a:pt x="89633" y="98258"/>
                </a:lnTo>
                <a:lnTo>
                  <a:pt x="82350" y="99273"/>
                </a:lnTo>
                <a:lnTo>
                  <a:pt x="75000" y="99609"/>
                </a:lnTo>
                <a:lnTo>
                  <a:pt x="67650" y="99273"/>
                </a:lnTo>
                <a:lnTo>
                  <a:pt x="60367" y="98258"/>
                </a:lnTo>
                <a:lnTo>
                  <a:pt x="53225" y="96578"/>
                </a:lnTo>
                <a:lnTo>
                  <a:pt x="46300" y="94258"/>
                </a:lnTo>
                <a:lnTo>
                  <a:pt x="39642" y="91305"/>
                </a:lnTo>
                <a:lnTo>
                  <a:pt x="33333" y="87758"/>
                </a:lnTo>
                <a:lnTo>
                  <a:pt x="27417" y="83648"/>
                </a:lnTo>
                <a:lnTo>
                  <a:pt x="21967" y="79016"/>
                </a:lnTo>
                <a:lnTo>
                  <a:pt x="17025" y="73906"/>
                </a:lnTo>
                <a:lnTo>
                  <a:pt x="12642" y="68359"/>
                </a:lnTo>
                <a:lnTo>
                  <a:pt x="8858" y="62445"/>
                </a:lnTo>
                <a:lnTo>
                  <a:pt x="5708" y="56203"/>
                </a:lnTo>
                <a:lnTo>
                  <a:pt x="3233" y="49711"/>
                </a:lnTo>
                <a:lnTo>
                  <a:pt x="1442" y="43016"/>
                </a:lnTo>
                <a:lnTo>
                  <a:pt x="358" y="36188"/>
                </a:lnTo>
                <a:lnTo>
                  <a:pt x="0" y="29297"/>
                </a:lnTo>
                <a:lnTo>
                  <a:pt x="358" y="22406"/>
                </a:lnTo>
                <a:lnTo>
                  <a:pt x="1442" y="15578"/>
                </a:lnTo>
                <a:lnTo>
                  <a:pt x="3233" y="8883"/>
                </a:lnTo>
                <a:lnTo>
                  <a:pt x="5708" y="2391"/>
                </a:lnTo>
                <a:lnTo>
                  <a:pt x="6917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8533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8534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8538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8535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8538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el-1785489358562-40"/>
          <p:cNvGraphicFramePr/>
          <p:nvPr/>
        </p:nvGraphicFramePr>
        <p:xfrm>
          <a:off x="400069" y="564362"/>
          <a:ext cx="8343900" cy="19252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99235"/>
                <a:gridCol w="1332865"/>
                <a:gridCol w="1499235"/>
                <a:gridCol w="1332865"/>
                <a:gridCol w="1332230"/>
                <a:gridCol w="1333500"/>
              </a:tblGrid>
              <a:tr h="350044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实验配置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71438" marT="85725" marB="85725" anchor="ctr">
                    <a:lnL w="7144">
                      <a:solidFill>
                        <a:srgbClr val="3E6B86"/>
                      </a:solidFill>
                    </a:lnL>
                    <a:lnR w="7144">
                      <a:solidFill>
                        <a:srgbClr val="3E6B86"/>
                      </a:solidFill>
                    </a:lnR>
                    <a:lnT w="7144">
                      <a:solidFill>
                        <a:srgbClr val="3E6B86"/>
                      </a:solidFill>
                    </a:lnT>
                    <a:lnB w="7144">
                      <a:solidFill>
                        <a:srgbClr val="3E6B86"/>
                      </a:solidFill>
                    </a:lnB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干净精度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85725" marB="85725" anchor="ctr">
                    <a:lnL w="7144">
                      <a:solidFill>
                        <a:srgbClr val="3E6B86"/>
                      </a:solidFill>
                    </a:lnL>
                    <a:lnR w="7144">
                      <a:solidFill>
                        <a:srgbClr val="3E6B86"/>
                      </a:solidFill>
                    </a:lnR>
                    <a:lnT w="7144">
                      <a:solidFill>
                        <a:srgbClr val="3E6B86"/>
                      </a:solidFill>
                    </a:lnT>
                    <a:lnB w="7144">
                      <a:solidFill>
                        <a:srgbClr val="3E6B86"/>
                      </a:solidFill>
                    </a:lnB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α=+0.3 精度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85725" marB="85725" anchor="ctr">
                    <a:lnL w="7144">
                      <a:solidFill>
                        <a:srgbClr val="3E6B86"/>
                      </a:solidFill>
                    </a:lnL>
                    <a:lnR w="7144">
                      <a:solidFill>
                        <a:srgbClr val="3E6B86"/>
                      </a:solidFill>
                    </a:lnR>
                    <a:lnT w="7144">
                      <a:solidFill>
                        <a:srgbClr val="3E6B86"/>
                      </a:solidFill>
                    </a:lnT>
                    <a:lnB w="7144">
                      <a:solidFill>
                        <a:srgbClr val="3E6B86"/>
                      </a:solidFill>
                    </a:lnB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精度跌幅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85725" marB="85725" anchor="ctr">
                    <a:lnL w="7144">
                      <a:solidFill>
                        <a:srgbClr val="3E6B86"/>
                      </a:solidFill>
                    </a:lnL>
                    <a:lnR w="7144">
                      <a:solidFill>
                        <a:srgbClr val="3E6B86"/>
                      </a:solidFill>
                    </a:lnR>
                    <a:lnT w="7144">
                      <a:solidFill>
                        <a:srgbClr val="3E6B86"/>
                      </a:solidFill>
                    </a:lnT>
                    <a:lnB w="7144">
                      <a:solidFill>
                        <a:srgbClr val="3E6B86"/>
                      </a:solidFill>
                    </a:lnB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较基线提升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85725" marB="85725" anchor="ctr">
                    <a:lnL w="7144">
                      <a:solidFill>
                        <a:srgbClr val="3E6B86"/>
                      </a:solidFill>
                    </a:lnL>
                    <a:lnR w="7144">
                      <a:solidFill>
                        <a:srgbClr val="3E6B86"/>
                      </a:solidFill>
                    </a:lnR>
                    <a:lnT w="7144">
                      <a:solidFill>
                        <a:srgbClr val="3E6B86"/>
                      </a:solidFill>
                    </a:lnT>
                    <a:lnB w="7144">
                      <a:solidFill>
                        <a:srgbClr val="3E6B86"/>
                      </a:solidFill>
                    </a:lnB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边际贡献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100013" marT="85725" marB="85725" anchor="ctr">
                    <a:lnL w="7144">
                      <a:solidFill>
                        <a:srgbClr val="3E6B86"/>
                      </a:solidFill>
                    </a:lnL>
                    <a:lnR w="7144">
                      <a:solidFill>
                        <a:srgbClr val="3E6B86"/>
                      </a:solidFill>
                    </a:lnR>
                    <a:lnT w="7144">
                      <a:solidFill>
                        <a:srgbClr val="3E6B86"/>
                      </a:solidFill>
                    </a:lnT>
                    <a:lnB w="7144">
                      <a:solidFill>
                        <a:srgbClr val="3E6B86"/>
                      </a:solidFill>
                    </a:lnB>
                    <a:solidFill>
                      <a:srgbClr val="4A7C9B"/>
                    </a:solidFill>
                  </a:tcPr>
                </a:tc>
              </a:tr>
              <a:tr h="346472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NAT-Scratch（基线）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86.49%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64.23%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23B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-22.26%</a:t>
                      </a:r>
                      <a:endParaRPr sz="900" b="1">
                        <a:solidFill>
                          <a:srgbClr val="B23B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100013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346472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Exp1（仅校准模块）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87.19%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63.63%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23B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-23.56%</a:t>
                      </a:r>
                      <a:endParaRPr sz="900" b="1">
                        <a:solidFill>
                          <a:srgbClr val="B23B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23B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-0.60%</a:t>
                      </a:r>
                      <a:endParaRPr sz="900" b="1">
                        <a:solidFill>
                          <a:srgbClr val="B23B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23B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-0.60%</a:t>
                      </a:r>
                      <a:endParaRPr sz="900" b="1">
                        <a:solidFill>
                          <a:srgbClr val="B23B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100013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</a:tr>
              <a:tr h="52863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9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Exp2（校准+分层加权）</a:t>
                      </a:r>
                      <a:endParaRPr sz="90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71438" marT="78581" marB="78581" anchor="ctr">
                    <a:lnL w="21431">
                      <a:solidFill>
                        <a:srgbClr val="4A7C9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87.37%</a:t>
                      </a:r>
                      <a:endParaRPr sz="90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68.76%</a:t>
                      </a:r>
                      <a:endParaRPr sz="90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23B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-18.61%</a:t>
                      </a:r>
                      <a:endParaRPr sz="900" b="1">
                        <a:solidFill>
                          <a:srgbClr val="B23B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D7D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+4.53%</a:t>
                      </a:r>
                      <a:endParaRPr sz="900" b="1">
                        <a:solidFill>
                          <a:srgbClr val="2D7D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D7D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+5.13%</a:t>
                      </a:r>
                      <a:endParaRPr sz="900" b="1">
                        <a:solidFill>
                          <a:srgbClr val="2D7D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100013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E8F0F5"/>
                    </a:solidFill>
                  </a:tcPr>
                </a:tc>
              </a:tr>
              <a:tr h="346472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Exp3（完整方案）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0013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87.59%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69.14%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23B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-18.45%</a:t>
                      </a:r>
                      <a:endParaRPr sz="900" b="1">
                        <a:solidFill>
                          <a:srgbClr val="B23B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D7D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+4.91%</a:t>
                      </a:r>
                      <a:endParaRPr sz="900" b="1">
                        <a:solidFill>
                          <a:srgbClr val="2D7D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71438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D7D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+0.38%</a:t>
                      </a:r>
                      <a:endParaRPr sz="900" b="1">
                        <a:solidFill>
                          <a:srgbClr val="2D7D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1438" marR="100013" marT="78581" marB="78581" anchor="ctr">
                    <a:lnL w="7144">
                      <a:solidFill>
                        <a:srgbClr val="E5E7EB"/>
                      </a:solidFill>
                    </a:lnL>
                    <a:lnR w="7144">
                      <a:solidFill>
                        <a:srgbClr val="E5E7EB"/>
                      </a:solidFill>
                    </a:lnR>
                    <a:lnT w="7144">
                      <a:solidFill>
                        <a:srgbClr val="E5E7EB"/>
                      </a:solidFill>
                    </a:lnT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</a:tr>
            </a:tbl>
          </a:graphicData>
        </a:graphic>
      </p:graphicFrame>
      <p:sp>
        <p:nvSpPr>
          <p:cNvPr id="9" name="el-1785489358564-41"/>
          <p:cNvSpPr/>
          <p:nvPr/>
        </p:nvSpPr>
        <p:spPr>
          <a:xfrm>
            <a:off x="896328" y="2482033"/>
            <a:ext cx="2695575" cy="7786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489358567-44"/>
          <p:cNvCxnSpPr/>
          <p:nvPr/>
        </p:nvCxnSpPr>
        <p:spPr>
          <a:xfrm>
            <a:off x="910616" y="2482033"/>
            <a:ext cx="914" cy="778669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489358565-42"/>
          <p:cNvSpPr/>
          <p:nvPr/>
        </p:nvSpPr>
        <p:spPr>
          <a:xfrm>
            <a:off x="896328" y="3260681"/>
            <a:ext cx="2695575" cy="7786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5489358568-45"/>
          <p:cNvCxnSpPr/>
          <p:nvPr/>
        </p:nvCxnSpPr>
        <p:spPr>
          <a:xfrm>
            <a:off x="910615" y="3260681"/>
            <a:ext cx="914" cy="778669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489358567-43"/>
          <p:cNvSpPr/>
          <p:nvPr/>
        </p:nvSpPr>
        <p:spPr>
          <a:xfrm>
            <a:off x="896328" y="4014395"/>
            <a:ext cx="2695575" cy="7786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489358569-46"/>
          <p:cNvCxnSpPr/>
          <p:nvPr/>
        </p:nvCxnSpPr>
        <p:spPr>
          <a:xfrm>
            <a:off x="910616" y="4014395"/>
            <a:ext cx="914" cy="778669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489358543-8"/>
          <p:cNvSpPr txBox="1"/>
          <p:nvPr/>
        </p:nvSpPr>
        <p:spPr>
          <a:xfrm>
            <a:off x="400050" y="117872"/>
            <a:ext cx="2872234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任务3 · 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消融实验与边际贡献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l-1785489358581-50"/>
          <p:cNvSpPr txBox="1"/>
          <p:nvPr/>
        </p:nvSpPr>
        <p:spPr>
          <a:xfrm>
            <a:off x="1053491" y="2582046"/>
            <a:ext cx="24598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3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最大贡献者</a:t>
            </a:r>
            <a:endParaRPr sz="780" b="1" spc="23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8574-47"/>
          <p:cNvSpPr txBox="1"/>
          <p:nvPr/>
        </p:nvSpPr>
        <p:spPr>
          <a:xfrm>
            <a:off x="1053491" y="2760639"/>
            <a:ext cx="2409825" cy="385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分层加权（方案B）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是贡献最大的单项改进，绝对提升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+5.13%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8582-51"/>
          <p:cNvSpPr txBox="1"/>
          <p:nvPr/>
        </p:nvSpPr>
        <p:spPr>
          <a:xfrm>
            <a:off x="1053490" y="3360694"/>
            <a:ext cx="24598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3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边际收益</a:t>
            </a:r>
            <a:endParaRPr sz="780" b="1" spc="23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8577-48"/>
          <p:cNvSpPr txBox="1"/>
          <p:nvPr/>
        </p:nvSpPr>
        <p:spPr>
          <a:xfrm>
            <a:off x="1053490" y="3539287"/>
            <a:ext cx="2409825" cy="385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非对称采样（方案C）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边际收益可忽略，仅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+0.38%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8583-52"/>
          <p:cNvSpPr txBox="1"/>
          <p:nvPr/>
        </p:nvSpPr>
        <p:spPr>
          <a:xfrm>
            <a:off x="1053491" y="4114408"/>
            <a:ext cx="24598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3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最优性价比</a:t>
            </a:r>
            <a:endParaRPr sz="780" b="1" spc="23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58580-49"/>
          <p:cNvSpPr txBox="1"/>
          <p:nvPr/>
        </p:nvSpPr>
        <p:spPr>
          <a:xfrm>
            <a:off x="1053491" y="4293001"/>
            <a:ext cx="2409825" cy="385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Exp2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（校准+分层加权）是最优性价比配置，精度跌幅从 22.26% 收窄至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18.61%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58545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19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3" name="el-1785489358528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1290" y="2482033"/>
            <a:ext cx="4109668" cy="24425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8604-2"/>
          <p:cNvSpPr/>
          <p:nvPr/>
        </p:nvSpPr>
        <p:spPr>
          <a:xfrm>
            <a:off x="8072438" y="0"/>
            <a:ext cx="1071563" cy="1214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558" y="95141"/>
                </a:moveTo>
                <a:lnTo>
                  <a:pt x="94204" y="96836"/>
                </a:lnTo>
                <a:lnTo>
                  <a:pt x="87248" y="98367"/>
                </a:lnTo>
                <a:lnTo>
                  <a:pt x="80168" y="99297"/>
                </a:lnTo>
                <a:lnTo>
                  <a:pt x="73009" y="99609"/>
                </a:lnTo>
                <a:lnTo>
                  <a:pt x="65850" y="99297"/>
                </a:lnTo>
                <a:lnTo>
                  <a:pt x="58770" y="98367"/>
                </a:lnTo>
                <a:lnTo>
                  <a:pt x="51814" y="96836"/>
                </a:lnTo>
                <a:lnTo>
                  <a:pt x="45071" y="94703"/>
                </a:lnTo>
                <a:lnTo>
                  <a:pt x="38593" y="92000"/>
                </a:lnTo>
                <a:lnTo>
                  <a:pt x="32451" y="88750"/>
                </a:lnTo>
                <a:lnTo>
                  <a:pt x="26690" y="84977"/>
                </a:lnTo>
                <a:lnTo>
                  <a:pt x="21381" y="80734"/>
                </a:lnTo>
                <a:lnTo>
                  <a:pt x="16575" y="76047"/>
                </a:lnTo>
                <a:lnTo>
                  <a:pt x="12301" y="70961"/>
                </a:lnTo>
                <a:lnTo>
                  <a:pt x="8619" y="65539"/>
                </a:lnTo>
                <a:lnTo>
                  <a:pt x="5558" y="59820"/>
                </a:lnTo>
                <a:lnTo>
                  <a:pt x="3142" y="53867"/>
                </a:lnTo>
                <a:lnTo>
                  <a:pt x="1407" y="47727"/>
                </a:lnTo>
                <a:lnTo>
                  <a:pt x="354" y="41477"/>
                </a:lnTo>
                <a:lnTo>
                  <a:pt x="0" y="35156"/>
                </a:lnTo>
                <a:lnTo>
                  <a:pt x="354" y="28836"/>
                </a:lnTo>
                <a:lnTo>
                  <a:pt x="1407" y="22586"/>
                </a:lnTo>
                <a:lnTo>
                  <a:pt x="3142" y="16445"/>
                </a:lnTo>
                <a:lnTo>
                  <a:pt x="5558" y="10492"/>
                </a:lnTo>
                <a:lnTo>
                  <a:pt x="8619" y="4773"/>
                </a:lnTo>
                <a:lnTo>
                  <a:pt x="11858" y="0"/>
                </a:lnTo>
                <a:lnTo>
                  <a:pt x="99558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8606-3"/>
          <p:cNvSpPr/>
          <p:nvPr/>
        </p:nvSpPr>
        <p:spPr>
          <a:xfrm>
            <a:off x="0" y="4357688"/>
            <a:ext cx="714375" cy="7858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63253"/>
                </a:moveTo>
                <a:lnTo>
                  <a:pt x="99667" y="69458"/>
                </a:lnTo>
                <a:lnTo>
                  <a:pt x="98653" y="75590"/>
                </a:lnTo>
                <a:lnTo>
                  <a:pt x="96987" y="81614"/>
                </a:lnTo>
                <a:lnTo>
                  <a:pt x="94667" y="87458"/>
                </a:lnTo>
                <a:lnTo>
                  <a:pt x="91733" y="93072"/>
                </a:lnTo>
                <a:lnTo>
                  <a:pt x="88200" y="98398"/>
                </a:lnTo>
                <a:lnTo>
                  <a:pt x="87373" y="99398"/>
                </a:lnTo>
                <a:lnTo>
                  <a:pt x="0" y="99398"/>
                </a:lnTo>
                <a:lnTo>
                  <a:pt x="0" y="6193"/>
                </a:lnTo>
                <a:lnTo>
                  <a:pt x="3213" y="4819"/>
                </a:lnTo>
                <a:lnTo>
                  <a:pt x="9680" y="2723"/>
                </a:lnTo>
                <a:lnTo>
                  <a:pt x="16347" y="1217"/>
                </a:lnTo>
                <a:lnTo>
                  <a:pt x="23133" y="301"/>
                </a:lnTo>
                <a:lnTo>
                  <a:pt x="30000" y="0"/>
                </a:lnTo>
                <a:lnTo>
                  <a:pt x="36867" y="301"/>
                </a:lnTo>
                <a:lnTo>
                  <a:pt x="43653" y="1217"/>
                </a:lnTo>
                <a:lnTo>
                  <a:pt x="50320" y="2723"/>
                </a:lnTo>
                <a:lnTo>
                  <a:pt x="56787" y="4819"/>
                </a:lnTo>
                <a:lnTo>
                  <a:pt x="63000" y="7470"/>
                </a:lnTo>
                <a:lnTo>
                  <a:pt x="68893" y="10663"/>
                </a:lnTo>
                <a:lnTo>
                  <a:pt x="74413" y="14361"/>
                </a:lnTo>
                <a:lnTo>
                  <a:pt x="79493" y="18530"/>
                </a:lnTo>
                <a:lnTo>
                  <a:pt x="84107" y="23120"/>
                </a:lnTo>
                <a:lnTo>
                  <a:pt x="88200" y="28108"/>
                </a:lnTo>
                <a:lnTo>
                  <a:pt x="91733" y="33434"/>
                </a:lnTo>
                <a:lnTo>
                  <a:pt x="94667" y="39048"/>
                </a:lnTo>
                <a:lnTo>
                  <a:pt x="96987" y="44892"/>
                </a:lnTo>
                <a:lnTo>
                  <a:pt x="98653" y="50916"/>
                </a:lnTo>
                <a:lnTo>
                  <a:pt x="99667" y="57048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8607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8611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8608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8612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489358641-14"/>
          <p:cNvCxnSpPr/>
          <p:nvPr/>
        </p:nvCxnSpPr>
        <p:spPr>
          <a:xfrm>
            <a:off x="860078" y="2564606"/>
            <a:ext cx="3108945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5489358642-15"/>
          <p:cNvCxnSpPr/>
          <p:nvPr/>
        </p:nvCxnSpPr>
        <p:spPr>
          <a:xfrm>
            <a:off x="860078" y="3659014"/>
            <a:ext cx="3108945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8635-12"/>
          <p:cNvSpPr/>
          <p:nvPr/>
        </p:nvSpPr>
        <p:spPr>
          <a:xfrm>
            <a:off x="4714875" y="2660303"/>
            <a:ext cx="4029075" cy="9972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58637-13"/>
          <p:cNvCxnSpPr/>
          <p:nvPr/>
        </p:nvCxnSpPr>
        <p:spPr>
          <a:xfrm>
            <a:off x="4729163" y="2660303"/>
            <a:ext cx="914" cy="997223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58616-8"/>
          <p:cNvSpPr txBox="1"/>
          <p:nvPr/>
        </p:nvSpPr>
        <p:spPr>
          <a:xfrm>
            <a:off x="400050" y="100013"/>
            <a:ext cx="2466529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任务3：</a:t>
            </a:r>
            <a:r>
              <a:rPr sz="157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最优方案效果分析</a:t>
            </a:r>
            <a:endParaRPr sz="157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l-1785489358644-16"/>
          <p:cNvSpPr txBox="1"/>
          <p:nvPr/>
        </p:nvSpPr>
        <p:spPr>
          <a:xfrm>
            <a:off x="1281782" y="1705942"/>
            <a:ext cx="2265536" cy="5657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405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13.68</a:t>
            </a:r>
            <a:r>
              <a:rPr sz="90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 </a:t>
            </a:r>
            <a:r>
              <a:rPr sz="202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pp</a:t>
            </a:r>
            <a:endParaRPr sz="2020" b="1" spc="-56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l-1785489358647-18"/>
          <p:cNvSpPr txBox="1"/>
          <p:nvPr/>
        </p:nvSpPr>
        <p:spPr>
          <a:xfrm>
            <a:off x="1502048" y="2300288"/>
            <a:ext cx="1825005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spc="17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累计精度提升（α=+0.3）</a:t>
            </a:r>
            <a:endParaRPr sz="1120" spc="17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l-1785489358645-17"/>
          <p:cNvSpPr txBox="1"/>
          <p:nvPr/>
        </p:nvSpPr>
        <p:spPr>
          <a:xfrm>
            <a:off x="1484784" y="2800350"/>
            <a:ext cx="1859607" cy="5657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405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37.6</a:t>
            </a:r>
            <a:r>
              <a:rPr sz="90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 </a:t>
            </a:r>
            <a:r>
              <a:rPr sz="202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%</a:t>
            </a:r>
            <a:endParaRPr sz="2020" b="1" spc="-56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l-1785489358648-19"/>
          <p:cNvSpPr txBox="1"/>
          <p:nvPr/>
        </p:nvSpPr>
        <p:spPr>
          <a:xfrm>
            <a:off x="1763018" y="3394695"/>
            <a:ext cx="1303065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spc="17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相对精度改善幅度</a:t>
            </a:r>
            <a:endParaRPr sz="1120" spc="17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58626-10"/>
          <p:cNvSpPr txBox="1"/>
          <p:nvPr/>
        </p:nvSpPr>
        <p:spPr>
          <a:xfrm>
            <a:off x="4714875" y="1714574"/>
            <a:ext cx="4114800" cy="22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最优性价比配置：</a:t>
            </a:r>
            <a:r>
              <a:rPr sz="13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Exp2</a:t>
            </a:r>
            <a:endParaRPr sz="135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8631-11"/>
          <p:cNvSpPr txBox="1"/>
          <p:nvPr/>
        </p:nvSpPr>
        <p:spPr>
          <a:xfrm>
            <a:off x="4714875" y="2066032"/>
            <a:ext cx="4029075" cy="4371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残差校准 + 分层加权，α=+0.3 精度从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55.08%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提升至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68.76%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，跌幅从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29.82%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收窄至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18.61%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58654-21"/>
          <p:cNvSpPr txBox="1"/>
          <p:nvPr/>
        </p:nvSpPr>
        <p:spPr>
          <a:xfrm>
            <a:off x="4886325" y="2760315"/>
            <a:ext cx="37719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分层加权核心机制</a:t>
            </a:r>
            <a:endParaRPr sz="90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8652-20"/>
          <p:cNvSpPr txBox="1"/>
          <p:nvPr/>
        </p:nvSpPr>
        <p:spPr>
          <a:xfrm>
            <a:off x="4886325" y="2960340"/>
            <a:ext cx="3726894" cy="5828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解耦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“浅层保护”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“深层强化”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浅层轻失真（α∈[-0.15, 0.15]）保护基础特征；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深层强失真（α=±0.3）强化瓶颈适应能力。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58618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20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2" name="el-1785489358601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8680-2"/>
          <p:cNvSpPr/>
          <p:nvPr/>
        </p:nvSpPr>
        <p:spPr>
          <a:xfrm>
            <a:off x="7929563" y="0"/>
            <a:ext cx="1214438" cy="13573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609" y="96287"/>
                </a:moveTo>
                <a:lnTo>
                  <a:pt x="98281" y="96713"/>
                </a:lnTo>
                <a:lnTo>
                  <a:pt x="91031" y="98343"/>
                </a:lnTo>
                <a:lnTo>
                  <a:pt x="83641" y="99322"/>
                </a:lnTo>
                <a:lnTo>
                  <a:pt x="76172" y="99650"/>
                </a:lnTo>
                <a:lnTo>
                  <a:pt x="68703" y="99322"/>
                </a:lnTo>
                <a:lnTo>
                  <a:pt x="61313" y="98343"/>
                </a:lnTo>
                <a:lnTo>
                  <a:pt x="54063" y="96713"/>
                </a:lnTo>
                <a:lnTo>
                  <a:pt x="47023" y="94462"/>
                </a:lnTo>
                <a:lnTo>
                  <a:pt x="40266" y="91601"/>
                </a:lnTo>
                <a:lnTo>
                  <a:pt x="33852" y="88161"/>
                </a:lnTo>
                <a:lnTo>
                  <a:pt x="27852" y="84175"/>
                </a:lnTo>
                <a:lnTo>
                  <a:pt x="22313" y="79678"/>
                </a:lnTo>
                <a:lnTo>
                  <a:pt x="17289" y="74720"/>
                </a:lnTo>
                <a:lnTo>
                  <a:pt x="12836" y="69350"/>
                </a:lnTo>
                <a:lnTo>
                  <a:pt x="8992" y="63608"/>
                </a:lnTo>
                <a:lnTo>
                  <a:pt x="5797" y="57559"/>
                </a:lnTo>
                <a:lnTo>
                  <a:pt x="3281" y="51259"/>
                </a:lnTo>
                <a:lnTo>
                  <a:pt x="1461" y="44769"/>
                </a:lnTo>
                <a:lnTo>
                  <a:pt x="367" y="38154"/>
                </a:lnTo>
                <a:lnTo>
                  <a:pt x="0" y="31469"/>
                </a:lnTo>
                <a:lnTo>
                  <a:pt x="367" y="24783"/>
                </a:lnTo>
                <a:lnTo>
                  <a:pt x="1461" y="18168"/>
                </a:lnTo>
                <a:lnTo>
                  <a:pt x="3281" y="11678"/>
                </a:lnTo>
                <a:lnTo>
                  <a:pt x="5797" y="5378"/>
                </a:lnTo>
                <a:lnTo>
                  <a:pt x="8641" y="0"/>
                </a:lnTo>
                <a:lnTo>
                  <a:pt x="99609" y="0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8683-3"/>
          <p:cNvSpPr/>
          <p:nvPr/>
        </p:nvSpPr>
        <p:spPr>
          <a:xfrm>
            <a:off x="0" y="4143375"/>
            <a:ext cx="928688" cy="10001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490" y="64286"/>
                </a:moveTo>
                <a:lnTo>
                  <a:pt x="99153" y="70590"/>
                </a:lnTo>
                <a:lnTo>
                  <a:pt x="98163" y="76829"/>
                </a:lnTo>
                <a:lnTo>
                  <a:pt x="96520" y="82943"/>
                </a:lnTo>
                <a:lnTo>
                  <a:pt x="94245" y="88886"/>
                </a:lnTo>
                <a:lnTo>
                  <a:pt x="91357" y="94590"/>
                </a:lnTo>
                <a:lnTo>
                  <a:pt x="87878" y="100000"/>
                </a:lnTo>
                <a:lnTo>
                  <a:pt x="0" y="100000"/>
                </a:lnTo>
                <a:lnTo>
                  <a:pt x="0" y="6771"/>
                </a:lnTo>
                <a:lnTo>
                  <a:pt x="4255" y="4895"/>
                </a:lnTo>
                <a:lnTo>
                  <a:pt x="10622" y="2771"/>
                </a:lnTo>
                <a:lnTo>
                  <a:pt x="17173" y="1238"/>
                </a:lnTo>
                <a:lnTo>
                  <a:pt x="23857" y="314"/>
                </a:lnTo>
                <a:lnTo>
                  <a:pt x="30612" y="0"/>
                </a:lnTo>
                <a:lnTo>
                  <a:pt x="37367" y="314"/>
                </a:lnTo>
                <a:lnTo>
                  <a:pt x="44051" y="1238"/>
                </a:lnTo>
                <a:lnTo>
                  <a:pt x="50602" y="2771"/>
                </a:lnTo>
                <a:lnTo>
                  <a:pt x="56969" y="4895"/>
                </a:lnTo>
                <a:lnTo>
                  <a:pt x="63082" y="7590"/>
                </a:lnTo>
                <a:lnTo>
                  <a:pt x="68878" y="10838"/>
                </a:lnTo>
                <a:lnTo>
                  <a:pt x="74306" y="14590"/>
                </a:lnTo>
                <a:lnTo>
                  <a:pt x="79316" y="18829"/>
                </a:lnTo>
                <a:lnTo>
                  <a:pt x="83857" y="23505"/>
                </a:lnTo>
                <a:lnTo>
                  <a:pt x="87878" y="28571"/>
                </a:lnTo>
                <a:lnTo>
                  <a:pt x="91357" y="33981"/>
                </a:lnTo>
                <a:lnTo>
                  <a:pt x="94245" y="39686"/>
                </a:lnTo>
                <a:lnTo>
                  <a:pt x="96520" y="45629"/>
                </a:lnTo>
                <a:lnTo>
                  <a:pt x="98163" y="51743"/>
                </a:lnTo>
                <a:lnTo>
                  <a:pt x="99153" y="57981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8684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8687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8685-5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8688-7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8701-10"/>
          <p:cNvSpPr/>
          <p:nvPr/>
        </p:nvSpPr>
        <p:spPr>
          <a:xfrm>
            <a:off x="561628" y="778070"/>
            <a:ext cx="3369469" cy="15799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8704-13"/>
          <p:cNvCxnSpPr/>
          <p:nvPr/>
        </p:nvCxnSpPr>
        <p:spPr>
          <a:xfrm>
            <a:off x="575916" y="778070"/>
            <a:ext cx="914" cy="1579959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8702-11"/>
          <p:cNvSpPr/>
          <p:nvPr/>
        </p:nvSpPr>
        <p:spPr>
          <a:xfrm>
            <a:off x="4287570" y="907275"/>
            <a:ext cx="3369469" cy="13215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58705-14"/>
          <p:cNvCxnSpPr/>
          <p:nvPr/>
        </p:nvCxnSpPr>
        <p:spPr>
          <a:xfrm>
            <a:off x="4301858" y="907275"/>
            <a:ext cx="914" cy="1321594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58703-12"/>
          <p:cNvSpPr/>
          <p:nvPr/>
        </p:nvSpPr>
        <p:spPr>
          <a:xfrm>
            <a:off x="4287560" y="2364610"/>
            <a:ext cx="4688682" cy="25217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58706-15"/>
          <p:cNvCxnSpPr/>
          <p:nvPr/>
        </p:nvCxnSpPr>
        <p:spPr>
          <a:xfrm>
            <a:off x="4301847" y="2364610"/>
            <a:ext cx="914" cy="2521744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489358724-20"/>
          <p:cNvCxnSpPr/>
          <p:nvPr/>
        </p:nvCxnSpPr>
        <p:spPr>
          <a:xfrm>
            <a:off x="4487585" y="3046838"/>
            <a:ext cx="4317207" cy="914"/>
          </a:xfrm>
          <a:prstGeom prst="line">
            <a:avLst/>
          </a:prstGeom>
          <a:ln w="7144" cap="flat">
            <a:solidFill>
              <a:srgbClr val="E5E0D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489358753-36"/>
          <p:cNvSpPr/>
          <p:nvPr/>
        </p:nvSpPr>
        <p:spPr>
          <a:xfrm>
            <a:off x="4487585" y="2814666"/>
            <a:ext cx="185738" cy="185738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489358725-21"/>
          <p:cNvCxnSpPr/>
          <p:nvPr/>
        </p:nvCxnSpPr>
        <p:spPr>
          <a:xfrm>
            <a:off x="4487585" y="3325444"/>
            <a:ext cx="4317207" cy="914"/>
          </a:xfrm>
          <a:prstGeom prst="line">
            <a:avLst/>
          </a:prstGeom>
          <a:ln w="7144" cap="flat">
            <a:solidFill>
              <a:srgbClr val="E5E0D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489358757-38"/>
          <p:cNvSpPr/>
          <p:nvPr/>
        </p:nvSpPr>
        <p:spPr>
          <a:xfrm>
            <a:off x="4487585" y="3093272"/>
            <a:ext cx="185738" cy="185738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8" name="el-1785489358726-22"/>
          <p:cNvCxnSpPr/>
          <p:nvPr/>
        </p:nvCxnSpPr>
        <p:spPr>
          <a:xfrm>
            <a:off x="4487585" y="3604050"/>
            <a:ext cx="4317207" cy="914"/>
          </a:xfrm>
          <a:prstGeom prst="line">
            <a:avLst/>
          </a:prstGeom>
          <a:ln w="7144" cap="flat">
            <a:solidFill>
              <a:srgbClr val="E5E0D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5489358760-40"/>
          <p:cNvSpPr/>
          <p:nvPr/>
        </p:nvSpPr>
        <p:spPr>
          <a:xfrm>
            <a:off x="4487585" y="3371878"/>
            <a:ext cx="185738" cy="185738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l-1785489358726-23"/>
          <p:cNvCxnSpPr/>
          <p:nvPr/>
        </p:nvCxnSpPr>
        <p:spPr>
          <a:xfrm>
            <a:off x="4487585" y="3882657"/>
            <a:ext cx="4317207" cy="914"/>
          </a:xfrm>
          <a:prstGeom prst="line">
            <a:avLst/>
          </a:prstGeom>
          <a:ln w="7144" cap="flat">
            <a:solidFill>
              <a:srgbClr val="E5E0D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489358764-42"/>
          <p:cNvSpPr/>
          <p:nvPr/>
        </p:nvSpPr>
        <p:spPr>
          <a:xfrm>
            <a:off x="4487585" y="3650485"/>
            <a:ext cx="185738" cy="185738"/>
          </a:xfrm>
          <a:prstGeom prst="ellipse">
            <a:avLst/>
          </a:prstGeom>
          <a:solidFill>
            <a:srgbClr val="B8C5D1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5489358727-24"/>
          <p:cNvCxnSpPr/>
          <p:nvPr/>
        </p:nvCxnSpPr>
        <p:spPr>
          <a:xfrm>
            <a:off x="4487585" y="4161263"/>
            <a:ext cx="4317207" cy="914"/>
          </a:xfrm>
          <a:prstGeom prst="line">
            <a:avLst/>
          </a:prstGeom>
          <a:ln w="7144" cap="flat">
            <a:solidFill>
              <a:srgbClr val="E5E0D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5489358768-45"/>
          <p:cNvSpPr/>
          <p:nvPr/>
        </p:nvSpPr>
        <p:spPr>
          <a:xfrm>
            <a:off x="4487585" y="3929091"/>
            <a:ext cx="185738" cy="185738"/>
          </a:xfrm>
          <a:prstGeom prst="ellipse">
            <a:avLst/>
          </a:prstGeom>
          <a:solidFill>
            <a:srgbClr val="B8C5D1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4" name="el-1785489358728-25"/>
          <p:cNvCxnSpPr/>
          <p:nvPr/>
        </p:nvCxnSpPr>
        <p:spPr>
          <a:xfrm>
            <a:off x="4487585" y="4439869"/>
            <a:ext cx="4317207" cy="914"/>
          </a:xfrm>
          <a:prstGeom prst="line">
            <a:avLst/>
          </a:prstGeom>
          <a:ln w="7144" cap="flat">
            <a:solidFill>
              <a:srgbClr val="E5E0D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5489358772-48"/>
          <p:cNvSpPr/>
          <p:nvPr/>
        </p:nvSpPr>
        <p:spPr>
          <a:xfrm>
            <a:off x="4487585" y="4207697"/>
            <a:ext cx="185738" cy="185738"/>
          </a:xfrm>
          <a:prstGeom prst="ellipse">
            <a:avLst/>
          </a:prstGeom>
          <a:solidFill>
            <a:srgbClr val="B8C5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489358775-51"/>
          <p:cNvSpPr/>
          <p:nvPr/>
        </p:nvSpPr>
        <p:spPr>
          <a:xfrm>
            <a:off x="4487585" y="4486303"/>
            <a:ext cx="185738" cy="185738"/>
          </a:xfrm>
          <a:prstGeom prst="ellipse">
            <a:avLst/>
          </a:prstGeom>
          <a:solidFill>
            <a:srgbClr val="B8C5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5489358693-8"/>
          <p:cNvSpPr txBox="1"/>
          <p:nvPr/>
        </p:nvSpPr>
        <p:spPr>
          <a:xfrm>
            <a:off x="400050" y="117872"/>
            <a:ext cx="2639690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拓展1：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跨架构鲁棒性对比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58717-17"/>
          <p:cNvSpPr txBox="1"/>
          <p:nvPr/>
        </p:nvSpPr>
        <p:spPr>
          <a:xfrm>
            <a:off x="747366" y="920945"/>
            <a:ext cx="3076575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核心发现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58717-18"/>
          <p:cNvSpPr txBox="1"/>
          <p:nvPr/>
        </p:nvSpPr>
        <p:spPr>
          <a:xfrm>
            <a:off x="747366" y="1099539"/>
            <a:ext cx="3105150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“剪刀差”现象</a:t>
            </a:r>
            <a:endParaRPr sz="123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l-1785489358715-16"/>
          <p:cNvSpPr txBox="1"/>
          <p:nvPr/>
        </p:nvSpPr>
        <p:spPr>
          <a:xfrm>
            <a:off x="747366" y="1378145"/>
            <a:ext cx="3026569" cy="822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干净精度随参数量上升，鲁棒精度随参数量下降 ——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参数量增长 46 倍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（0.24M→11.17M），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非线性脆弱性放大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3.4 倍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（跌幅 29.82% → 75.01%）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l-1785489358747-31"/>
          <p:cNvSpPr txBox="1"/>
          <p:nvPr/>
        </p:nvSpPr>
        <p:spPr>
          <a:xfrm>
            <a:off x="4473308" y="1021575"/>
            <a:ext cx="77866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过参数化</a:t>
            </a:r>
            <a:endParaRPr sz="101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l-1785489358747-32"/>
          <p:cNvSpPr txBox="1"/>
          <p:nvPr/>
        </p:nvSpPr>
        <p:spPr>
          <a:xfrm>
            <a:off x="5259120" y="1021575"/>
            <a:ext cx="212169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表达优势被结构性误差放大效应吞噬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l-1785489358748-33"/>
          <p:cNvSpPr txBox="1"/>
          <p:nvPr/>
        </p:nvSpPr>
        <p:spPr>
          <a:xfrm>
            <a:off x="4473308" y="1271607"/>
            <a:ext cx="77866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决定性因素</a:t>
            </a:r>
            <a:endParaRPr sz="101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l-1785489358738-26"/>
          <p:cNvSpPr txBox="1"/>
          <p:nvPr/>
        </p:nvSpPr>
        <p:spPr>
          <a:xfrm>
            <a:off x="5259120" y="1271607"/>
            <a:ext cx="151708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架构类型</a:t>
            </a: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 比参数量更关键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l-1785489358749-34"/>
          <p:cNvSpPr txBox="1"/>
          <p:nvPr/>
        </p:nvSpPr>
        <p:spPr>
          <a:xfrm>
            <a:off x="4473308" y="1521638"/>
            <a:ext cx="77866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核心启示</a:t>
            </a:r>
            <a:endParaRPr sz="101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l-1785489358740-27"/>
          <p:cNvSpPr txBox="1"/>
          <p:nvPr/>
        </p:nvSpPr>
        <p:spPr>
          <a:xfrm>
            <a:off x="5259120" y="1521638"/>
            <a:ext cx="2240756" cy="5786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最佳（SimpleCNN NAT, 64.23%）vs 最差（ResNet-18 NAT, 15.64%）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15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相差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48.59</a:t>
            </a: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个百分点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l-1785489358719-19"/>
          <p:cNvSpPr txBox="1"/>
          <p:nvPr/>
        </p:nvSpPr>
        <p:spPr>
          <a:xfrm>
            <a:off x="4487585" y="2507485"/>
            <a:ext cx="438150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综合表现排名（α=+0.3 精度）</a:t>
            </a:r>
            <a:endParaRPr sz="101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el-1785489358750-35"/>
          <p:cNvSpPr txBox="1"/>
          <p:nvPr/>
        </p:nvSpPr>
        <p:spPr>
          <a:xfrm>
            <a:off x="4437579" y="2814666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78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l-1785489358742-28"/>
          <p:cNvSpPr txBox="1"/>
          <p:nvPr/>
        </p:nvSpPr>
        <p:spPr>
          <a:xfrm>
            <a:off x="4759047" y="2817494"/>
            <a:ext cx="2240459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SimpleCNN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NAT-Scratch  ·  64.23%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l-1785489358754-37"/>
          <p:cNvSpPr txBox="1"/>
          <p:nvPr/>
        </p:nvSpPr>
        <p:spPr>
          <a:xfrm>
            <a:off x="4437579" y="3093272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78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l-1785489358744-29"/>
          <p:cNvSpPr txBox="1"/>
          <p:nvPr/>
        </p:nvSpPr>
        <p:spPr>
          <a:xfrm>
            <a:off x="4759047" y="3096100"/>
            <a:ext cx="1734666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SimpleCNN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干净  ·  55.08%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el-1785489358758-39"/>
          <p:cNvSpPr txBox="1"/>
          <p:nvPr/>
        </p:nvSpPr>
        <p:spPr>
          <a:xfrm>
            <a:off x="4437579" y="3371878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78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l-1785489358746-30"/>
          <p:cNvSpPr txBox="1"/>
          <p:nvPr/>
        </p:nvSpPr>
        <p:spPr>
          <a:xfrm>
            <a:off x="4759047" y="3374706"/>
            <a:ext cx="1996232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VGG-11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NAT-Scratch  ·  44.74%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el-1785489358761-41"/>
          <p:cNvSpPr txBox="1"/>
          <p:nvPr/>
        </p:nvSpPr>
        <p:spPr>
          <a:xfrm>
            <a:off x="4437579" y="3650485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78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el-1785489358764-43"/>
          <p:cNvSpPr txBox="1"/>
          <p:nvPr/>
        </p:nvSpPr>
        <p:spPr>
          <a:xfrm>
            <a:off x="4759047" y="3653312"/>
            <a:ext cx="1471464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VGG-11 干净  ·  36.70%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l-1785489358765-44"/>
          <p:cNvSpPr txBox="1"/>
          <p:nvPr/>
        </p:nvSpPr>
        <p:spPr>
          <a:xfrm>
            <a:off x="4437579" y="3929091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78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el-1785489358768-46"/>
          <p:cNvSpPr txBox="1"/>
          <p:nvPr/>
        </p:nvSpPr>
        <p:spPr>
          <a:xfrm>
            <a:off x="4759047" y="3931919"/>
            <a:ext cx="1979861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SimpleCNN Finetune  ·  56.08%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el-1785489358769-47"/>
          <p:cNvSpPr txBox="1"/>
          <p:nvPr/>
        </p:nvSpPr>
        <p:spPr>
          <a:xfrm>
            <a:off x="4437579" y="4207697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78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el-1785489358772-49"/>
          <p:cNvSpPr txBox="1"/>
          <p:nvPr/>
        </p:nvSpPr>
        <p:spPr>
          <a:xfrm>
            <a:off x="4759047" y="4210525"/>
            <a:ext cx="1748358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VGG-11 Finetune  ·  39.96%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el-1785489358773-50"/>
          <p:cNvSpPr txBox="1"/>
          <p:nvPr/>
        </p:nvSpPr>
        <p:spPr>
          <a:xfrm>
            <a:off x="4437579" y="4486303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78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el-1785489358776-52"/>
          <p:cNvSpPr txBox="1"/>
          <p:nvPr/>
        </p:nvSpPr>
        <p:spPr>
          <a:xfrm>
            <a:off x="4759047" y="4489131"/>
            <a:ext cx="1626394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ResNet-18 干净  ·  17.08%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el-1785489358695-9"/>
          <p:cNvSpPr txBox="1"/>
          <p:nvPr/>
        </p:nvSpPr>
        <p:spPr>
          <a:xfrm>
            <a:off x="6872585" y="4943475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21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3" name="el-1785489358676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963" y="2410959"/>
            <a:ext cx="3976803" cy="23860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0315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0316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0317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60320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60318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60320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60333-10"/>
          <p:cNvSpPr/>
          <p:nvPr/>
        </p:nvSpPr>
        <p:spPr>
          <a:xfrm>
            <a:off x="400050" y="1098203"/>
            <a:ext cx="4057650" cy="78998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60338-14"/>
          <p:cNvCxnSpPr/>
          <p:nvPr/>
        </p:nvCxnSpPr>
        <p:spPr>
          <a:xfrm>
            <a:off x="414338" y="1098203"/>
            <a:ext cx="914" cy="789980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60334-11"/>
          <p:cNvSpPr/>
          <p:nvPr/>
        </p:nvSpPr>
        <p:spPr>
          <a:xfrm>
            <a:off x="400050" y="1988195"/>
            <a:ext cx="4057650" cy="120134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60338-15"/>
          <p:cNvCxnSpPr/>
          <p:nvPr/>
        </p:nvCxnSpPr>
        <p:spPr>
          <a:xfrm>
            <a:off x="414338" y="1988195"/>
            <a:ext cx="914" cy="1201341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60335-12"/>
          <p:cNvSpPr/>
          <p:nvPr/>
        </p:nvSpPr>
        <p:spPr>
          <a:xfrm>
            <a:off x="400050" y="3289548"/>
            <a:ext cx="4057650" cy="10129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60339-16"/>
          <p:cNvCxnSpPr/>
          <p:nvPr/>
        </p:nvCxnSpPr>
        <p:spPr>
          <a:xfrm>
            <a:off x="414338" y="3289548"/>
            <a:ext cx="914" cy="1012924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489360381-25"/>
          <p:cNvCxnSpPr/>
          <p:nvPr/>
        </p:nvCxnSpPr>
        <p:spPr>
          <a:xfrm>
            <a:off x="571500" y="3805982"/>
            <a:ext cx="3743325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489360337-13"/>
          <p:cNvSpPr/>
          <p:nvPr/>
        </p:nvSpPr>
        <p:spPr>
          <a:xfrm>
            <a:off x="4686300" y="1200150"/>
            <a:ext cx="4057650" cy="30003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AF8F6"/>
          </a:solidFill>
          <a:ln>
            <a:noFill/>
          </a:ln>
          <a:effectLst>
            <a:outerShdw blurRad="142875" dist="28575" dir="5400000" algn="ctr">
              <a:srgbClr val="000000">
                <a:alpha val="6000"/>
              </a:srgbClr>
            </a:outerShdw>
          </a:effectLst>
        </p:spPr>
        <p:txBody>
          <a:bodyPr/>
          <a:lstStyle/>
          <a:p/>
        </p:txBody>
      </p:sp>
      <p:sp>
        <p:nvSpPr>
          <p:cNvPr id="17" name="el-1785489360325-8"/>
          <p:cNvSpPr txBox="1"/>
          <p:nvPr/>
        </p:nvSpPr>
        <p:spPr>
          <a:xfrm>
            <a:off x="400050" y="100013"/>
            <a:ext cx="2873722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拓展2：两种扰动</a:t>
            </a:r>
            <a:r>
              <a:rPr sz="157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破坏模式差异</a:t>
            </a:r>
            <a:endParaRPr sz="157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60376-21"/>
          <p:cNvSpPr txBox="1"/>
          <p:nvPr/>
        </p:nvSpPr>
        <p:spPr>
          <a:xfrm>
            <a:off x="571500" y="1198215"/>
            <a:ext cx="37933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破坏模式完全不同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60370-18"/>
          <p:cNvSpPr txBox="1"/>
          <p:nvPr/>
        </p:nvSpPr>
        <p:spPr>
          <a:xfrm>
            <a:off x="571500" y="1376809"/>
            <a:ext cx="3756184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非线性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：浅层免疫、深层爆发，输入相关的确定性系统误差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15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高斯噪声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：从浅层开始全面侵蚀，输入无关的随机加性扰动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60378-22"/>
          <p:cNvSpPr txBox="1"/>
          <p:nvPr/>
        </p:nvSpPr>
        <p:spPr>
          <a:xfrm>
            <a:off x="571500" y="2088207"/>
            <a:ext cx="37933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残差连接 · 双刃剑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60373-19"/>
          <p:cNvSpPr txBox="1"/>
          <p:nvPr/>
        </p:nvSpPr>
        <p:spPr>
          <a:xfrm>
            <a:off x="571500" y="2266801"/>
            <a:ext cx="3743325" cy="822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对非线性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：叠加放大，破坏力极强（ResNet-18 α=+0.3 仅 17.08%）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15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对高斯噪声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：平均缓冲，天然稀释噪声（ResNet-18 σ=0.3 仍 57.15%）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60380-23"/>
          <p:cNvSpPr txBox="1"/>
          <p:nvPr/>
        </p:nvSpPr>
        <p:spPr>
          <a:xfrm>
            <a:off x="571500" y="3389561"/>
            <a:ext cx="37933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VGG-11 特性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60380-24"/>
          <p:cNvSpPr txBox="1"/>
          <p:nvPr/>
        </p:nvSpPr>
        <p:spPr>
          <a:xfrm>
            <a:off x="571500" y="3568154"/>
            <a:ext cx="3807619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MaxPool 对高斯噪声天然滤波，却无法阻挡确定性非线性失真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60375-20"/>
          <p:cNvSpPr txBox="1"/>
          <p:nvPr/>
        </p:nvSpPr>
        <p:spPr>
          <a:xfrm>
            <a:off x="571500" y="3838129"/>
            <a:ext cx="3743325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鲁棒性负迁移</a:t>
            </a:r>
            <a:r>
              <a:rPr sz="95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：Exp2 模型在 σ=0.3 时精度 20.42%，低于 SimpleCNN 基线 37.02%</a:t>
            </a:r>
            <a:endParaRPr sz="950">
              <a:solidFill>
                <a:srgbClr val="4B55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60327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22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6" name="el-1785489360312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681" y="365454"/>
            <a:ext cx="4107650" cy="272402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708" y="3089475"/>
            <a:ext cx="4096510" cy="17434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9855-2"/>
          <p:cNvSpPr/>
          <p:nvPr/>
        </p:nvSpPr>
        <p:spPr>
          <a:xfrm>
            <a:off x="8072438" y="0"/>
            <a:ext cx="1071563" cy="1214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558" y="95141"/>
                </a:moveTo>
                <a:lnTo>
                  <a:pt x="94204" y="96836"/>
                </a:lnTo>
                <a:lnTo>
                  <a:pt x="87248" y="98367"/>
                </a:lnTo>
                <a:lnTo>
                  <a:pt x="80168" y="99297"/>
                </a:lnTo>
                <a:lnTo>
                  <a:pt x="73009" y="99609"/>
                </a:lnTo>
                <a:lnTo>
                  <a:pt x="65850" y="99297"/>
                </a:lnTo>
                <a:lnTo>
                  <a:pt x="58770" y="98367"/>
                </a:lnTo>
                <a:lnTo>
                  <a:pt x="51814" y="96836"/>
                </a:lnTo>
                <a:lnTo>
                  <a:pt x="45071" y="94703"/>
                </a:lnTo>
                <a:lnTo>
                  <a:pt x="38593" y="92000"/>
                </a:lnTo>
                <a:lnTo>
                  <a:pt x="32451" y="88750"/>
                </a:lnTo>
                <a:lnTo>
                  <a:pt x="26690" y="84977"/>
                </a:lnTo>
                <a:lnTo>
                  <a:pt x="21381" y="80734"/>
                </a:lnTo>
                <a:lnTo>
                  <a:pt x="16575" y="76047"/>
                </a:lnTo>
                <a:lnTo>
                  <a:pt x="12301" y="70961"/>
                </a:lnTo>
                <a:lnTo>
                  <a:pt x="8619" y="65539"/>
                </a:lnTo>
                <a:lnTo>
                  <a:pt x="5558" y="59820"/>
                </a:lnTo>
                <a:lnTo>
                  <a:pt x="3142" y="53867"/>
                </a:lnTo>
                <a:lnTo>
                  <a:pt x="1407" y="47727"/>
                </a:lnTo>
                <a:lnTo>
                  <a:pt x="354" y="41477"/>
                </a:lnTo>
                <a:lnTo>
                  <a:pt x="0" y="35156"/>
                </a:lnTo>
                <a:lnTo>
                  <a:pt x="354" y="28836"/>
                </a:lnTo>
                <a:lnTo>
                  <a:pt x="1407" y="22586"/>
                </a:lnTo>
                <a:lnTo>
                  <a:pt x="3142" y="16445"/>
                </a:lnTo>
                <a:lnTo>
                  <a:pt x="5558" y="10492"/>
                </a:lnTo>
                <a:lnTo>
                  <a:pt x="8619" y="4773"/>
                </a:lnTo>
                <a:lnTo>
                  <a:pt x="11858" y="0"/>
                </a:lnTo>
                <a:lnTo>
                  <a:pt x="99558" y="0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9858-3"/>
          <p:cNvSpPr/>
          <p:nvPr/>
        </p:nvSpPr>
        <p:spPr>
          <a:xfrm>
            <a:off x="0" y="4357688"/>
            <a:ext cx="714375" cy="7858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63253"/>
                </a:moveTo>
                <a:lnTo>
                  <a:pt x="99667" y="69458"/>
                </a:lnTo>
                <a:lnTo>
                  <a:pt x="98653" y="75590"/>
                </a:lnTo>
                <a:lnTo>
                  <a:pt x="96987" y="81614"/>
                </a:lnTo>
                <a:lnTo>
                  <a:pt x="94667" y="87458"/>
                </a:lnTo>
                <a:lnTo>
                  <a:pt x="91733" y="93072"/>
                </a:lnTo>
                <a:lnTo>
                  <a:pt x="88200" y="98398"/>
                </a:lnTo>
                <a:lnTo>
                  <a:pt x="87373" y="99398"/>
                </a:lnTo>
                <a:lnTo>
                  <a:pt x="0" y="99398"/>
                </a:lnTo>
                <a:lnTo>
                  <a:pt x="0" y="6193"/>
                </a:lnTo>
                <a:lnTo>
                  <a:pt x="3213" y="4819"/>
                </a:lnTo>
                <a:lnTo>
                  <a:pt x="9680" y="2723"/>
                </a:lnTo>
                <a:lnTo>
                  <a:pt x="16347" y="1217"/>
                </a:lnTo>
                <a:lnTo>
                  <a:pt x="23133" y="301"/>
                </a:lnTo>
                <a:lnTo>
                  <a:pt x="30000" y="0"/>
                </a:lnTo>
                <a:lnTo>
                  <a:pt x="36867" y="301"/>
                </a:lnTo>
                <a:lnTo>
                  <a:pt x="43653" y="1217"/>
                </a:lnTo>
                <a:lnTo>
                  <a:pt x="50320" y="2723"/>
                </a:lnTo>
                <a:lnTo>
                  <a:pt x="56787" y="4819"/>
                </a:lnTo>
                <a:lnTo>
                  <a:pt x="63000" y="7470"/>
                </a:lnTo>
                <a:lnTo>
                  <a:pt x="68893" y="10663"/>
                </a:lnTo>
                <a:lnTo>
                  <a:pt x="74413" y="14361"/>
                </a:lnTo>
                <a:lnTo>
                  <a:pt x="79493" y="18530"/>
                </a:lnTo>
                <a:lnTo>
                  <a:pt x="84107" y="23120"/>
                </a:lnTo>
                <a:lnTo>
                  <a:pt x="88200" y="28108"/>
                </a:lnTo>
                <a:lnTo>
                  <a:pt x="91733" y="33434"/>
                </a:lnTo>
                <a:lnTo>
                  <a:pt x="94667" y="39048"/>
                </a:lnTo>
                <a:lnTo>
                  <a:pt x="96987" y="44892"/>
                </a:lnTo>
                <a:lnTo>
                  <a:pt x="98653" y="50916"/>
                </a:lnTo>
                <a:lnTo>
                  <a:pt x="99667" y="57048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9859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59862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59860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59863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59904-35"/>
          <p:cNvSpPr/>
          <p:nvPr/>
        </p:nvSpPr>
        <p:spPr>
          <a:xfrm>
            <a:off x="400069" y="742652"/>
            <a:ext cx="2695575" cy="136802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59906-38"/>
          <p:cNvCxnSpPr/>
          <p:nvPr/>
        </p:nvCxnSpPr>
        <p:spPr>
          <a:xfrm>
            <a:off x="417928" y="742652"/>
            <a:ext cx="914" cy="1368028"/>
          </a:xfrm>
          <a:prstGeom prst="line">
            <a:avLst/>
          </a:prstGeom>
          <a:ln w="35719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9905-36"/>
          <p:cNvSpPr/>
          <p:nvPr/>
        </p:nvSpPr>
        <p:spPr>
          <a:xfrm>
            <a:off x="3224232" y="742652"/>
            <a:ext cx="2695575" cy="136802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59907-39"/>
          <p:cNvCxnSpPr/>
          <p:nvPr/>
        </p:nvCxnSpPr>
        <p:spPr>
          <a:xfrm>
            <a:off x="3242091" y="742652"/>
            <a:ext cx="914" cy="1368028"/>
          </a:xfrm>
          <a:prstGeom prst="line">
            <a:avLst/>
          </a:prstGeom>
          <a:ln w="35719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59906-37"/>
          <p:cNvSpPr/>
          <p:nvPr/>
        </p:nvSpPr>
        <p:spPr>
          <a:xfrm>
            <a:off x="6048394" y="742652"/>
            <a:ext cx="2695575" cy="136802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59908-40"/>
          <p:cNvCxnSpPr/>
          <p:nvPr/>
        </p:nvCxnSpPr>
        <p:spPr>
          <a:xfrm>
            <a:off x="6066254" y="742652"/>
            <a:ext cx="914" cy="1368028"/>
          </a:xfrm>
          <a:prstGeom prst="line">
            <a:avLst/>
          </a:prstGeom>
          <a:ln w="35719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59873-10"/>
          <p:cNvSpPr/>
          <p:nvPr/>
        </p:nvSpPr>
        <p:spPr>
          <a:xfrm>
            <a:off x="400069" y="2210692"/>
            <a:ext cx="4231820" cy="23523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144" algn="in">
            <a:solidFill>
              <a:srgbClr val="D8D8D8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5" name="el-1785489359897-31"/>
          <p:cNvGraphicFramePr/>
          <p:nvPr/>
        </p:nvGraphicFramePr>
        <p:xfrm>
          <a:off x="407213" y="2217836"/>
          <a:ext cx="4224655" cy="2418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5825"/>
                <a:gridCol w="925195"/>
                <a:gridCol w="676910"/>
                <a:gridCol w="1053465"/>
                <a:gridCol w="683260"/>
              </a:tblGrid>
              <a:tr h="54356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仅非线性精度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联合精度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联合效应类型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solidFill>
                      <a:srgbClr val="4A7C9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量化变化</a:t>
                      </a:r>
                      <a:endParaRPr sz="9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solidFill>
                      <a:srgbClr val="4A7C9B"/>
                    </a:solidFill>
                  </a:tcPr>
                </a:tc>
              </a:tr>
              <a:tr h="54991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VGG-11</a:t>
                      </a:r>
                      <a:endParaRPr sz="90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36.74%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43.27%</a:t>
                      </a:r>
                      <a:endParaRPr sz="90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5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4A7C9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+6.53%</a:t>
                      </a:r>
                      <a:endParaRPr sz="900" b="1">
                        <a:solidFill>
                          <a:srgbClr val="4A7C9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</a:tcPr>
                </a:tc>
              </a:tr>
              <a:tr h="77406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SimpleCNN</a:t>
                      </a:r>
                      <a:endParaRPr sz="90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55.08%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41.24%</a:t>
                      </a:r>
                      <a:endParaRPr sz="900" b="1">
                        <a:solidFill>
                          <a:srgbClr val="B91C1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5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-13.84%</a:t>
                      </a:r>
                      <a:endParaRPr sz="900" b="1">
                        <a:solidFill>
                          <a:srgbClr val="B91C1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>
                    <a:lnB w="7144">
                      <a:solidFill>
                        <a:srgbClr val="E5E7EB"/>
                      </a:solidFill>
                    </a:lnB>
                    <a:solidFill>
                      <a:srgbClr val="F9F4EF"/>
                    </a:solidFill>
                  </a:tcPr>
                </a:tc>
              </a:tr>
              <a:tr h="55054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ResNet-18</a:t>
                      </a:r>
                      <a:endParaRPr sz="90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17.08%</a:t>
                      </a:r>
                      <a:endParaRPr sz="900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17.38%</a:t>
                      </a:r>
                      <a:endParaRPr sz="9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50" b="1">
                        <a:solidFill>
                          <a:srgbClr val="2C2C2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+0.30%</a:t>
                      </a:r>
                      <a:endParaRPr sz="9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71438" marB="71438" anchor="ctr"/>
                </a:tc>
              </a:tr>
            </a:tbl>
          </a:graphicData>
        </a:graphic>
      </p:graphicFrame>
      <p:sp>
        <p:nvSpPr>
          <p:cNvPr id="16" name="el-1785489359899-32"/>
          <p:cNvSpPr/>
          <p:nvPr/>
        </p:nvSpPr>
        <p:spPr>
          <a:xfrm>
            <a:off x="2981354" y="2967780"/>
            <a:ext cx="819448" cy="1643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E6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489359899-32__text"/>
          <p:cNvSpPr txBox="1"/>
          <p:nvPr/>
        </p:nvSpPr>
        <p:spPr>
          <a:xfrm>
            <a:off x="2981354" y="2967780"/>
            <a:ext cx="819448" cy="1643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Dithering增益</a:t>
            </a:r>
            <a:endParaRPr sz="780" b="1" spc="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59900-33"/>
          <p:cNvSpPr/>
          <p:nvPr/>
        </p:nvSpPr>
        <p:spPr>
          <a:xfrm>
            <a:off x="3069562" y="3591595"/>
            <a:ext cx="642938" cy="1643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E6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489359900-33__text"/>
          <p:cNvSpPr txBox="1"/>
          <p:nvPr/>
        </p:nvSpPr>
        <p:spPr>
          <a:xfrm>
            <a:off x="3069562" y="3591595"/>
            <a:ext cx="642938" cy="1643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超加性恶化</a:t>
            </a:r>
            <a:endParaRPr sz="780" b="1" spc="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59902-34"/>
          <p:cNvSpPr/>
          <p:nvPr/>
        </p:nvSpPr>
        <p:spPr>
          <a:xfrm>
            <a:off x="3027812" y="4267352"/>
            <a:ext cx="742950" cy="1643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E6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5489359902-34__text"/>
          <p:cNvSpPr txBox="1"/>
          <p:nvPr/>
        </p:nvSpPr>
        <p:spPr>
          <a:xfrm>
            <a:off x="3027812" y="4267352"/>
            <a:ext cx="742950" cy="1643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地板效应抵消</a:t>
            </a:r>
            <a:endParaRPr sz="780" b="1" spc="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59867-8"/>
          <p:cNvSpPr txBox="1"/>
          <p:nvPr/>
        </p:nvSpPr>
        <p:spPr>
          <a:xfrm>
            <a:off x="400050" y="100013"/>
            <a:ext cx="2466529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拓展3：</a:t>
            </a:r>
            <a:r>
              <a:rPr sz="157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三种联合误差效应</a:t>
            </a:r>
            <a:endParaRPr sz="157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59920-44"/>
          <p:cNvSpPr txBox="1"/>
          <p:nvPr/>
        </p:nvSpPr>
        <p:spPr>
          <a:xfrm>
            <a:off x="550088" y="842664"/>
            <a:ext cx="247769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效应 1</a:t>
            </a:r>
            <a:endParaRPr sz="73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59920-45"/>
          <p:cNvSpPr txBox="1"/>
          <p:nvPr/>
        </p:nvSpPr>
        <p:spPr>
          <a:xfrm>
            <a:off x="550088" y="1024830"/>
            <a:ext cx="2502694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超加性恶化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59920-46"/>
          <p:cNvSpPr txBox="1"/>
          <p:nvPr/>
        </p:nvSpPr>
        <p:spPr>
          <a:xfrm>
            <a:off x="550088" y="1267717"/>
            <a:ext cx="248840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SimpleCNN</a:t>
            </a:r>
            <a:endParaRPr sz="9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59916-41"/>
          <p:cNvSpPr txBox="1"/>
          <p:nvPr/>
        </p:nvSpPr>
        <p:spPr>
          <a:xfrm>
            <a:off x="550088" y="1482030"/>
            <a:ext cx="2431256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50"/>
              </a:lnSpc>
            </a:pP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非线性改变激活分布，误导量化缩放，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联合跌幅 &gt; 单独之和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350"/>
              </a:lnSpc>
            </a:pPr>
            <a:r>
              <a:rPr sz="9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-13.84%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量化损失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59921-47"/>
          <p:cNvSpPr txBox="1"/>
          <p:nvPr/>
        </p:nvSpPr>
        <p:spPr>
          <a:xfrm>
            <a:off x="3374250" y="842664"/>
            <a:ext cx="247769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效应 2</a:t>
            </a:r>
            <a:endParaRPr sz="73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59921-48"/>
          <p:cNvSpPr txBox="1"/>
          <p:nvPr/>
        </p:nvSpPr>
        <p:spPr>
          <a:xfrm>
            <a:off x="3374250" y="1024830"/>
            <a:ext cx="2502694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地板效应抵消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59921-49"/>
          <p:cNvSpPr txBox="1"/>
          <p:nvPr/>
        </p:nvSpPr>
        <p:spPr>
          <a:xfrm>
            <a:off x="3374250" y="1267717"/>
            <a:ext cx="248840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ResNet-18</a:t>
            </a:r>
            <a:endParaRPr sz="9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l-1785489359918-42"/>
          <p:cNvSpPr txBox="1"/>
          <p:nvPr/>
        </p:nvSpPr>
        <p:spPr>
          <a:xfrm>
            <a:off x="3374250" y="1482030"/>
            <a:ext cx="2431256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50"/>
              </a:lnSpc>
            </a:pP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非线性已将精度打至底线（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17.08%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），量化无从进一步破坏。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350"/>
              </a:lnSpc>
            </a:pP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+0.30%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变化可忽略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l-1785489359922-50"/>
          <p:cNvSpPr txBox="1"/>
          <p:nvPr/>
        </p:nvSpPr>
        <p:spPr>
          <a:xfrm>
            <a:off x="6198413" y="842664"/>
            <a:ext cx="247769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效应 3</a:t>
            </a:r>
            <a:endParaRPr sz="73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l-1785489359923-51"/>
          <p:cNvSpPr txBox="1"/>
          <p:nvPr/>
        </p:nvSpPr>
        <p:spPr>
          <a:xfrm>
            <a:off x="6198413" y="1024830"/>
            <a:ext cx="2502694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Dithering 增益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l-1785489359924-52"/>
          <p:cNvSpPr txBox="1"/>
          <p:nvPr/>
        </p:nvSpPr>
        <p:spPr>
          <a:xfrm>
            <a:off x="6198413" y="1267717"/>
            <a:ext cx="248840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VGG-11</a:t>
            </a:r>
            <a:endParaRPr sz="90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l-1785489359920-43"/>
          <p:cNvSpPr txBox="1"/>
          <p:nvPr/>
        </p:nvSpPr>
        <p:spPr>
          <a:xfrm>
            <a:off x="6198413" y="1482030"/>
            <a:ext cx="2442686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50"/>
              </a:lnSpc>
            </a:pP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4bit 量化噪声打破确定性失真，</a:t>
            </a: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精度反升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350"/>
              </a:lnSpc>
            </a:pPr>
            <a:r>
              <a:rPr sz="90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+6.53%</a:t>
            </a:r>
            <a:r>
              <a:rPr sz="90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从 36.74% → 43.27%</a:t>
            </a:r>
            <a:endParaRPr sz="90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l-1785489359870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23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6" name="el-1785489359853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7274" y="2217854"/>
            <a:ext cx="3483858" cy="242522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59958-6"/>
          <p:cNvSpPr/>
          <p:nvPr/>
        </p:nvSpPr>
        <p:spPr>
          <a:xfrm>
            <a:off x="0" y="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27500"/>
                </a:moveTo>
                <a:lnTo>
                  <a:pt x="99650" y="34607"/>
                </a:lnTo>
                <a:lnTo>
                  <a:pt x="98607" y="41643"/>
                </a:lnTo>
                <a:lnTo>
                  <a:pt x="96877" y="48547"/>
                </a:lnTo>
                <a:lnTo>
                  <a:pt x="94480" y="55243"/>
                </a:lnTo>
                <a:lnTo>
                  <a:pt x="91440" y="61677"/>
                </a:lnTo>
                <a:lnTo>
                  <a:pt x="87780" y="67780"/>
                </a:lnTo>
                <a:lnTo>
                  <a:pt x="83543" y="73493"/>
                </a:lnTo>
                <a:lnTo>
                  <a:pt x="78767" y="78767"/>
                </a:lnTo>
                <a:lnTo>
                  <a:pt x="73493" y="83543"/>
                </a:lnTo>
                <a:lnTo>
                  <a:pt x="67780" y="87780"/>
                </a:lnTo>
                <a:lnTo>
                  <a:pt x="61677" y="91440"/>
                </a:lnTo>
                <a:lnTo>
                  <a:pt x="55243" y="94480"/>
                </a:lnTo>
                <a:lnTo>
                  <a:pt x="48547" y="96877"/>
                </a:lnTo>
                <a:lnTo>
                  <a:pt x="41643" y="98607"/>
                </a:lnTo>
                <a:lnTo>
                  <a:pt x="34607" y="99650"/>
                </a:lnTo>
                <a:lnTo>
                  <a:pt x="27500" y="100000"/>
                </a:lnTo>
                <a:lnTo>
                  <a:pt x="20393" y="99650"/>
                </a:lnTo>
                <a:lnTo>
                  <a:pt x="13357" y="98607"/>
                </a:lnTo>
                <a:lnTo>
                  <a:pt x="6453" y="96877"/>
                </a:lnTo>
                <a:lnTo>
                  <a:pt x="0" y="94567"/>
                </a:lnTo>
                <a:lnTo>
                  <a:pt x="0" y="0"/>
                </a:lnTo>
                <a:lnTo>
                  <a:pt x="94567" y="0"/>
                </a:lnTo>
                <a:lnTo>
                  <a:pt x="96877" y="6453"/>
                </a:lnTo>
                <a:lnTo>
                  <a:pt x="98607" y="13357"/>
                </a:lnTo>
                <a:lnTo>
                  <a:pt x="99650" y="20393"/>
                </a:lnTo>
                <a:close/>
              </a:path>
            </a:pathLst>
          </a:custGeom>
          <a:solidFill>
            <a:srgbClr val="B8C5D1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59960-7"/>
          <p:cNvSpPr/>
          <p:nvPr/>
        </p:nvSpPr>
        <p:spPr>
          <a:xfrm>
            <a:off x="5715000" y="17145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100000"/>
                </a:moveTo>
                <a:lnTo>
                  <a:pt x="6367" y="100000"/>
                </a:lnTo>
                <a:lnTo>
                  <a:pt x="5392" y="97939"/>
                </a:lnTo>
                <a:lnTo>
                  <a:pt x="3050" y="91394"/>
                </a:lnTo>
                <a:lnTo>
                  <a:pt x="1361" y="84653"/>
                </a:lnTo>
                <a:lnTo>
                  <a:pt x="342" y="77775"/>
                </a:lnTo>
                <a:lnTo>
                  <a:pt x="0" y="70833"/>
                </a:lnTo>
                <a:lnTo>
                  <a:pt x="342" y="63892"/>
                </a:lnTo>
                <a:lnTo>
                  <a:pt x="1361" y="57014"/>
                </a:lnTo>
                <a:lnTo>
                  <a:pt x="3050" y="50272"/>
                </a:lnTo>
                <a:lnTo>
                  <a:pt x="5392" y="43728"/>
                </a:lnTo>
                <a:lnTo>
                  <a:pt x="8364" y="37442"/>
                </a:lnTo>
                <a:lnTo>
                  <a:pt x="11939" y="31481"/>
                </a:lnTo>
                <a:lnTo>
                  <a:pt x="16078" y="25897"/>
                </a:lnTo>
                <a:lnTo>
                  <a:pt x="20747" y="20747"/>
                </a:lnTo>
                <a:lnTo>
                  <a:pt x="25897" y="16078"/>
                </a:lnTo>
                <a:lnTo>
                  <a:pt x="31481" y="11939"/>
                </a:lnTo>
                <a:lnTo>
                  <a:pt x="37442" y="8364"/>
                </a:lnTo>
                <a:lnTo>
                  <a:pt x="43728" y="5392"/>
                </a:lnTo>
                <a:lnTo>
                  <a:pt x="50272" y="3050"/>
                </a:lnTo>
                <a:lnTo>
                  <a:pt x="57014" y="1361"/>
                </a:lnTo>
                <a:lnTo>
                  <a:pt x="63892" y="342"/>
                </a:lnTo>
                <a:lnTo>
                  <a:pt x="70833" y="0"/>
                </a:lnTo>
                <a:lnTo>
                  <a:pt x="77775" y="342"/>
                </a:lnTo>
                <a:lnTo>
                  <a:pt x="84653" y="1361"/>
                </a:lnTo>
                <a:lnTo>
                  <a:pt x="91394" y="3050"/>
                </a:lnTo>
                <a:lnTo>
                  <a:pt x="97939" y="5392"/>
                </a:lnTo>
                <a:lnTo>
                  <a:pt x="100000" y="6367"/>
                </a:lnTo>
                <a:close/>
              </a:path>
            </a:pathLst>
          </a:custGeom>
          <a:solidFill>
            <a:srgbClr val="F0E4E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59962-8"/>
          <p:cNvSpPr/>
          <p:nvPr/>
        </p:nvSpPr>
        <p:spPr>
          <a:xfrm>
            <a:off x="3586163" y="600075"/>
            <a:ext cx="3286125" cy="3286125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489359964-9"/>
          <p:cNvSpPr/>
          <p:nvPr/>
        </p:nvSpPr>
        <p:spPr>
          <a:xfrm>
            <a:off x="7189515" y="1131540"/>
            <a:ext cx="857250" cy="857250"/>
          </a:xfrm>
          <a:prstGeom prst="ellipse">
            <a:avLst/>
          </a:prstGeom>
          <a:solidFill>
            <a:srgbClr val="B8C5D1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489359967-10"/>
          <p:cNvSpPr/>
          <p:nvPr/>
        </p:nvSpPr>
        <p:spPr>
          <a:xfrm>
            <a:off x="914400" y="3646215"/>
            <a:ext cx="571500" cy="571500"/>
          </a:xfrm>
          <a:prstGeom prst="ellipse">
            <a:avLst/>
          </a:prstGeom>
          <a:solidFill>
            <a:srgbClr val="B8C5D1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489359946-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063" y="38889"/>
                </a:moveTo>
                <a:cubicBezTo>
                  <a:pt x="23438" y="24074"/>
                  <a:pt x="35417" y="26852"/>
                  <a:pt x="50000" y="47222"/>
                </a:cubicBezTo>
                <a:cubicBezTo>
                  <a:pt x="64583" y="67593"/>
                  <a:pt x="77083" y="64815"/>
                  <a:pt x="87500" y="38889"/>
                </a:cubicBezTo>
              </a:path>
            </a:pathLst>
          </a:custGeom>
          <a:noFill/>
          <a:ln w="17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489359946-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813" y="66667"/>
                </a:moveTo>
                <a:cubicBezTo>
                  <a:pt x="18229" y="53704"/>
                  <a:pt x="30208" y="55556"/>
                  <a:pt x="43750" y="72222"/>
                </a:cubicBezTo>
                <a:cubicBezTo>
                  <a:pt x="57292" y="88889"/>
                  <a:pt x="73438" y="83333"/>
                  <a:pt x="92188" y="55556"/>
                </a:cubicBezTo>
              </a:path>
            </a:pathLst>
          </a:custGeom>
          <a:noFill/>
          <a:ln w="12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489359945-1"/>
          <p:cNvCxnSpPr/>
          <p:nvPr/>
        </p:nvCxnSpPr>
        <p:spPr>
          <a:xfrm>
            <a:off x="400050" y="4911328"/>
            <a:ext cx="8343900" cy="914"/>
          </a:xfrm>
          <a:prstGeom prst="line">
            <a:avLst/>
          </a:prstGeom>
          <a:ln w="9525" cap="flat">
            <a:solidFill>
              <a:srgbClr val="D8D8D8">
                <a:alpha val="5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59977-13"/>
          <p:cNvSpPr/>
          <p:nvPr/>
        </p:nvSpPr>
        <p:spPr>
          <a:xfrm>
            <a:off x="4143375" y="3367683"/>
            <a:ext cx="857250" cy="21431"/>
          </a:xfrm>
          <a:prstGeom prst="roundRect">
            <a:avLst>
              <a:gd name="adj" fmla="val 50000"/>
            </a:avLst>
          </a:prstGeom>
          <a:solidFill>
            <a:srgbClr val="4A7C9B">
              <a:alpha val="6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59972-11"/>
          <p:cNvSpPr txBox="1"/>
          <p:nvPr/>
        </p:nvSpPr>
        <p:spPr>
          <a:xfrm>
            <a:off x="3580358" y="1754386"/>
            <a:ext cx="198320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50" b="1" spc="270">
                <a:solidFill>
                  <a:srgbClr val="4A7C9B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6750" b="1" spc="270">
              <a:solidFill>
                <a:srgbClr val="4A7C9B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l-1785489359973-12"/>
          <p:cNvSpPr txBox="1"/>
          <p:nvPr/>
        </p:nvSpPr>
        <p:spPr>
          <a:xfrm>
            <a:off x="2441570" y="2765896"/>
            <a:ext cx="4260860" cy="4160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510" b="1" spc="5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第五章 · 创新点与工程启示</a:t>
            </a:r>
            <a:endParaRPr sz="2510" b="1" spc="5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l-1785489359952-5"/>
          <p:cNvSpPr/>
          <p:nvPr/>
        </p:nvSpPr>
        <p:spPr>
          <a:xfrm>
            <a:off x="285750" y="200025"/>
            <a:ext cx="1883048" cy="260747"/>
          </a:xfrm>
          <a:prstGeom prst="roundRect">
            <a:avLst>
              <a:gd name="adj" fmla="val 50000"/>
            </a:avLst>
          </a:prstGeom>
          <a:solidFill>
            <a:srgbClr val="FFFFFF">
              <a:alpha val="37500"/>
            </a:srgbClr>
          </a:solidFill>
          <a:ln w="7144" algn="in">
            <a:solidFill>
              <a:srgbClr val="4A7C9B">
                <a:alpha val="1125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489360416-26"/>
          <p:cNvSpPr/>
          <p:nvPr/>
        </p:nvSpPr>
        <p:spPr>
          <a:xfrm>
            <a:off x="421481" y="288131"/>
            <a:ext cx="92869" cy="928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3500" y="4600"/>
                </a:moveTo>
                <a:lnTo>
                  <a:pt x="33500" y="4600"/>
                </a:lnTo>
                <a:cubicBezTo>
                  <a:pt x="33233" y="1800"/>
                  <a:pt x="31700" y="267"/>
                  <a:pt x="28900" y="0"/>
                </a:cubicBezTo>
                <a:lnTo>
                  <a:pt x="28900" y="0"/>
                </a:lnTo>
                <a:cubicBezTo>
                  <a:pt x="26167" y="267"/>
                  <a:pt x="24667" y="1800"/>
                  <a:pt x="24400" y="4600"/>
                </a:cubicBezTo>
                <a:lnTo>
                  <a:pt x="24400" y="4600"/>
                </a:lnTo>
                <a:lnTo>
                  <a:pt x="24400" y="12200"/>
                </a:lnTo>
                <a:cubicBezTo>
                  <a:pt x="20933" y="12333"/>
                  <a:pt x="18067" y="13533"/>
                  <a:pt x="15800" y="15800"/>
                </a:cubicBezTo>
                <a:lnTo>
                  <a:pt x="15800" y="15800"/>
                </a:lnTo>
                <a:cubicBezTo>
                  <a:pt x="13533" y="18067"/>
                  <a:pt x="12333" y="20933"/>
                  <a:pt x="12200" y="24400"/>
                </a:cubicBezTo>
                <a:lnTo>
                  <a:pt x="12200" y="24400"/>
                </a:lnTo>
                <a:lnTo>
                  <a:pt x="4600" y="24400"/>
                </a:lnTo>
                <a:cubicBezTo>
                  <a:pt x="1800" y="24667"/>
                  <a:pt x="267" y="26167"/>
                  <a:pt x="0" y="28900"/>
                </a:cubicBezTo>
                <a:lnTo>
                  <a:pt x="0" y="28900"/>
                </a:lnTo>
                <a:cubicBezTo>
                  <a:pt x="267" y="31700"/>
                  <a:pt x="1800" y="33233"/>
                  <a:pt x="4600" y="33500"/>
                </a:cubicBezTo>
                <a:lnTo>
                  <a:pt x="4600" y="33500"/>
                </a:lnTo>
                <a:lnTo>
                  <a:pt x="12200" y="33500"/>
                </a:lnTo>
                <a:lnTo>
                  <a:pt x="12200" y="44200"/>
                </a:lnTo>
                <a:lnTo>
                  <a:pt x="4600" y="44200"/>
                </a:lnTo>
                <a:cubicBezTo>
                  <a:pt x="1800" y="44467"/>
                  <a:pt x="267" y="46000"/>
                  <a:pt x="0" y="48800"/>
                </a:cubicBezTo>
                <a:lnTo>
                  <a:pt x="0" y="48800"/>
                </a:lnTo>
                <a:cubicBezTo>
                  <a:pt x="267" y="51533"/>
                  <a:pt x="1800" y="53033"/>
                  <a:pt x="4600" y="53300"/>
                </a:cubicBezTo>
                <a:lnTo>
                  <a:pt x="4600" y="53300"/>
                </a:lnTo>
                <a:lnTo>
                  <a:pt x="12200" y="53300"/>
                </a:lnTo>
                <a:lnTo>
                  <a:pt x="12200" y="64000"/>
                </a:lnTo>
                <a:lnTo>
                  <a:pt x="4600" y="64000"/>
                </a:lnTo>
                <a:cubicBezTo>
                  <a:pt x="1800" y="64267"/>
                  <a:pt x="267" y="65800"/>
                  <a:pt x="0" y="68600"/>
                </a:cubicBezTo>
                <a:lnTo>
                  <a:pt x="0" y="68600"/>
                </a:lnTo>
                <a:cubicBezTo>
                  <a:pt x="267" y="71333"/>
                  <a:pt x="1800" y="72833"/>
                  <a:pt x="4600" y="73100"/>
                </a:cubicBezTo>
                <a:lnTo>
                  <a:pt x="4600" y="73100"/>
                </a:lnTo>
                <a:lnTo>
                  <a:pt x="12200" y="73100"/>
                </a:lnTo>
                <a:cubicBezTo>
                  <a:pt x="12333" y="76567"/>
                  <a:pt x="13533" y="79433"/>
                  <a:pt x="15800" y="81700"/>
                </a:cubicBezTo>
                <a:lnTo>
                  <a:pt x="15800" y="81700"/>
                </a:lnTo>
                <a:cubicBezTo>
                  <a:pt x="18067" y="83967"/>
                  <a:pt x="20933" y="85167"/>
                  <a:pt x="24400" y="85300"/>
                </a:cubicBezTo>
                <a:lnTo>
                  <a:pt x="24400" y="85300"/>
                </a:lnTo>
                <a:lnTo>
                  <a:pt x="24400" y="92900"/>
                </a:lnTo>
                <a:cubicBezTo>
                  <a:pt x="24667" y="95700"/>
                  <a:pt x="26167" y="97233"/>
                  <a:pt x="28900" y="97500"/>
                </a:cubicBezTo>
                <a:lnTo>
                  <a:pt x="28900" y="97500"/>
                </a:lnTo>
                <a:cubicBezTo>
                  <a:pt x="31700" y="97233"/>
                  <a:pt x="33233" y="95700"/>
                  <a:pt x="33500" y="92900"/>
                </a:cubicBezTo>
                <a:lnTo>
                  <a:pt x="33500" y="92900"/>
                </a:lnTo>
                <a:lnTo>
                  <a:pt x="33500" y="85300"/>
                </a:lnTo>
                <a:lnTo>
                  <a:pt x="44200" y="85300"/>
                </a:lnTo>
                <a:lnTo>
                  <a:pt x="44200" y="92900"/>
                </a:lnTo>
                <a:cubicBezTo>
                  <a:pt x="44467" y="95700"/>
                  <a:pt x="46000" y="97233"/>
                  <a:pt x="48800" y="97500"/>
                </a:cubicBezTo>
                <a:lnTo>
                  <a:pt x="48800" y="97500"/>
                </a:lnTo>
                <a:cubicBezTo>
                  <a:pt x="51533" y="97233"/>
                  <a:pt x="53033" y="95700"/>
                  <a:pt x="53300" y="92900"/>
                </a:cubicBezTo>
                <a:lnTo>
                  <a:pt x="53300" y="92900"/>
                </a:lnTo>
                <a:lnTo>
                  <a:pt x="53300" y="85300"/>
                </a:lnTo>
                <a:lnTo>
                  <a:pt x="64000" y="85300"/>
                </a:lnTo>
                <a:lnTo>
                  <a:pt x="64000" y="92900"/>
                </a:lnTo>
                <a:cubicBezTo>
                  <a:pt x="64267" y="95700"/>
                  <a:pt x="65800" y="97233"/>
                  <a:pt x="68600" y="97500"/>
                </a:cubicBezTo>
                <a:lnTo>
                  <a:pt x="68600" y="97500"/>
                </a:lnTo>
                <a:cubicBezTo>
                  <a:pt x="71333" y="97233"/>
                  <a:pt x="72833" y="95700"/>
                  <a:pt x="73100" y="92900"/>
                </a:cubicBezTo>
                <a:lnTo>
                  <a:pt x="73100" y="92900"/>
                </a:lnTo>
                <a:lnTo>
                  <a:pt x="73100" y="85300"/>
                </a:lnTo>
                <a:cubicBezTo>
                  <a:pt x="76567" y="85167"/>
                  <a:pt x="79433" y="83967"/>
                  <a:pt x="81700" y="81700"/>
                </a:cubicBezTo>
                <a:lnTo>
                  <a:pt x="81700" y="81700"/>
                </a:lnTo>
                <a:cubicBezTo>
                  <a:pt x="83967" y="79433"/>
                  <a:pt x="85167" y="76567"/>
                  <a:pt x="85300" y="73100"/>
                </a:cubicBezTo>
                <a:lnTo>
                  <a:pt x="85300" y="73100"/>
                </a:lnTo>
                <a:lnTo>
                  <a:pt x="92900" y="73100"/>
                </a:lnTo>
                <a:cubicBezTo>
                  <a:pt x="95700" y="72833"/>
                  <a:pt x="97233" y="71333"/>
                  <a:pt x="97500" y="68600"/>
                </a:cubicBezTo>
                <a:lnTo>
                  <a:pt x="97500" y="68600"/>
                </a:lnTo>
                <a:cubicBezTo>
                  <a:pt x="97233" y="65800"/>
                  <a:pt x="95700" y="64267"/>
                  <a:pt x="92900" y="64000"/>
                </a:cubicBezTo>
                <a:lnTo>
                  <a:pt x="92900" y="64000"/>
                </a:lnTo>
                <a:lnTo>
                  <a:pt x="85300" y="64000"/>
                </a:lnTo>
                <a:lnTo>
                  <a:pt x="85300" y="53300"/>
                </a:lnTo>
                <a:lnTo>
                  <a:pt x="92900" y="53300"/>
                </a:lnTo>
                <a:cubicBezTo>
                  <a:pt x="95700" y="53033"/>
                  <a:pt x="97233" y="51533"/>
                  <a:pt x="97500" y="48800"/>
                </a:cubicBezTo>
                <a:lnTo>
                  <a:pt x="97500" y="48800"/>
                </a:lnTo>
                <a:cubicBezTo>
                  <a:pt x="97233" y="46000"/>
                  <a:pt x="95700" y="44467"/>
                  <a:pt x="92900" y="44200"/>
                </a:cubicBezTo>
                <a:lnTo>
                  <a:pt x="92900" y="44200"/>
                </a:lnTo>
                <a:lnTo>
                  <a:pt x="85300" y="44200"/>
                </a:lnTo>
                <a:lnTo>
                  <a:pt x="85300" y="33500"/>
                </a:lnTo>
                <a:lnTo>
                  <a:pt x="92900" y="33500"/>
                </a:lnTo>
                <a:cubicBezTo>
                  <a:pt x="95700" y="33233"/>
                  <a:pt x="97233" y="31700"/>
                  <a:pt x="97500" y="28900"/>
                </a:cubicBezTo>
                <a:lnTo>
                  <a:pt x="97500" y="28900"/>
                </a:lnTo>
                <a:cubicBezTo>
                  <a:pt x="97233" y="26167"/>
                  <a:pt x="95700" y="24667"/>
                  <a:pt x="92900" y="24400"/>
                </a:cubicBezTo>
                <a:lnTo>
                  <a:pt x="92900" y="24400"/>
                </a:lnTo>
                <a:lnTo>
                  <a:pt x="85300" y="24400"/>
                </a:lnTo>
                <a:cubicBezTo>
                  <a:pt x="85167" y="20933"/>
                  <a:pt x="83967" y="18067"/>
                  <a:pt x="81700" y="15800"/>
                </a:cubicBezTo>
                <a:lnTo>
                  <a:pt x="81700" y="15800"/>
                </a:lnTo>
                <a:cubicBezTo>
                  <a:pt x="79433" y="13533"/>
                  <a:pt x="76567" y="12333"/>
                  <a:pt x="73100" y="12200"/>
                </a:cubicBezTo>
                <a:lnTo>
                  <a:pt x="73100" y="12200"/>
                </a:lnTo>
                <a:lnTo>
                  <a:pt x="73100" y="4600"/>
                </a:lnTo>
                <a:cubicBezTo>
                  <a:pt x="72833" y="1800"/>
                  <a:pt x="71333" y="267"/>
                  <a:pt x="68600" y="0"/>
                </a:cubicBezTo>
                <a:lnTo>
                  <a:pt x="68600" y="0"/>
                </a:lnTo>
                <a:cubicBezTo>
                  <a:pt x="65800" y="267"/>
                  <a:pt x="64267" y="1800"/>
                  <a:pt x="64000" y="4600"/>
                </a:cubicBezTo>
                <a:lnTo>
                  <a:pt x="64000" y="4600"/>
                </a:lnTo>
                <a:lnTo>
                  <a:pt x="64000" y="12200"/>
                </a:lnTo>
                <a:lnTo>
                  <a:pt x="53300" y="12200"/>
                </a:lnTo>
                <a:lnTo>
                  <a:pt x="53300" y="4600"/>
                </a:lnTo>
                <a:cubicBezTo>
                  <a:pt x="53033" y="1800"/>
                  <a:pt x="51533" y="267"/>
                  <a:pt x="48800" y="0"/>
                </a:cubicBezTo>
                <a:lnTo>
                  <a:pt x="48800" y="0"/>
                </a:lnTo>
                <a:cubicBezTo>
                  <a:pt x="46000" y="267"/>
                  <a:pt x="44467" y="1800"/>
                  <a:pt x="44200" y="4600"/>
                </a:cubicBezTo>
                <a:lnTo>
                  <a:pt x="44200" y="4600"/>
                </a:lnTo>
                <a:lnTo>
                  <a:pt x="44200" y="12200"/>
                </a:lnTo>
                <a:lnTo>
                  <a:pt x="33500" y="12200"/>
                </a:lnTo>
                <a:lnTo>
                  <a:pt x="33500" y="4600"/>
                </a:lnTo>
                <a:moveTo>
                  <a:pt x="30500" y="24400"/>
                </a:moveTo>
                <a:lnTo>
                  <a:pt x="30500" y="24400"/>
                </a:lnTo>
                <a:lnTo>
                  <a:pt x="67000" y="24400"/>
                </a:lnTo>
                <a:cubicBezTo>
                  <a:pt x="68800" y="24400"/>
                  <a:pt x="70267" y="24967"/>
                  <a:pt x="71400" y="26100"/>
                </a:cubicBezTo>
                <a:lnTo>
                  <a:pt x="71400" y="26100"/>
                </a:lnTo>
                <a:cubicBezTo>
                  <a:pt x="72533" y="27233"/>
                  <a:pt x="73100" y="28700"/>
                  <a:pt x="73100" y="30500"/>
                </a:cubicBezTo>
                <a:lnTo>
                  <a:pt x="73100" y="30500"/>
                </a:lnTo>
                <a:lnTo>
                  <a:pt x="73100" y="67000"/>
                </a:lnTo>
                <a:cubicBezTo>
                  <a:pt x="73100" y="68800"/>
                  <a:pt x="72533" y="70267"/>
                  <a:pt x="71400" y="71400"/>
                </a:cubicBezTo>
                <a:lnTo>
                  <a:pt x="71400" y="71400"/>
                </a:lnTo>
                <a:cubicBezTo>
                  <a:pt x="70267" y="72533"/>
                  <a:pt x="68800" y="73100"/>
                  <a:pt x="67000" y="73100"/>
                </a:cubicBezTo>
                <a:lnTo>
                  <a:pt x="67000" y="73100"/>
                </a:lnTo>
                <a:lnTo>
                  <a:pt x="30500" y="73100"/>
                </a:lnTo>
                <a:cubicBezTo>
                  <a:pt x="28700" y="73100"/>
                  <a:pt x="27233" y="72533"/>
                  <a:pt x="26100" y="71400"/>
                </a:cubicBezTo>
                <a:lnTo>
                  <a:pt x="26100" y="71400"/>
                </a:lnTo>
                <a:cubicBezTo>
                  <a:pt x="24967" y="70267"/>
                  <a:pt x="24400" y="68800"/>
                  <a:pt x="24400" y="67000"/>
                </a:cubicBezTo>
                <a:lnTo>
                  <a:pt x="24400" y="67000"/>
                </a:lnTo>
                <a:lnTo>
                  <a:pt x="24400" y="30500"/>
                </a:lnTo>
                <a:cubicBezTo>
                  <a:pt x="24400" y="28700"/>
                  <a:pt x="24967" y="27233"/>
                  <a:pt x="26100" y="26100"/>
                </a:cubicBezTo>
                <a:lnTo>
                  <a:pt x="26100" y="26100"/>
                </a:lnTo>
                <a:cubicBezTo>
                  <a:pt x="27233" y="24967"/>
                  <a:pt x="28700" y="24400"/>
                  <a:pt x="30500" y="24400"/>
                </a:cubicBezTo>
                <a:lnTo>
                  <a:pt x="30500" y="24400"/>
                </a:lnTo>
                <a:moveTo>
                  <a:pt x="67000" y="30500"/>
                </a:moveTo>
                <a:lnTo>
                  <a:pt x="67000" y="30500"/>
                </a:lnTo>
                <a:lnTo>
                  <a:pt x="30500" y="30500"/>
                </a:lnTo>
                <a:lnTo>
                  <a:pt x="30500" y="67000"/>
                </a:lnTo>
                <a:lnTo>
                  <a:pt x="67000" y="67000"/>
                </a:lnTo>
                <a:lnTo>
                  <a:pt x="67000" y="30500"/>
                </a:lnTo>
              </a:path>
            </a:pathLst>
          </a:custGeom>
          <a:solidFill>
            <a:srgbClr val="4A7C9B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489359949-4"/>
          <p:cNvSpPr txBox="1"/>
          <p:nvPr/>
        </p:nvSpPr>
        <p:spPr>
          <a:xfrm>
            <a:off x="421481" y="250031"/>
            <a:ext cx="1800895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53035" algn="l">
              <a:lnSpc>
                <a:spcPct val="100000"/>
              </a:lnSpc>
            </a:pPr>
            <a:r>
              <a:rPr sz="840" spc="25">
                <a:solidFill>
                  <a:srgbClr val="4A7C9B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存算一体 · 非线性鲁棒性研究</a:t>
            </a:r>
            <a:endParaRPr sz="840" spc="25">
              <a:solidFill>
                <a:srgbClr val="4A7C9B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0990-2"/>
          <p:cNvSpPr/>
          <p:nvPr/>
        </p:nvSpPr>
        <p:spPr>
          <a:xfrm>
            <a:off x="8072438" y="0"/>
            <a:ext cx="1071563" cy="1143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558" y="95233"/>
                </a:moveTo>
                <a:lnTo>
                  <a:pt x="94204" y="97042"/>
                </a:lnTo>
                <a:lnTo>
                  <a:pt x="87248" y="98675"/>
                </a:lnTo>
                <a:lnTo>
                  <a:pt x="80168" y="99667"/>
                </a:lnTo>
                <a:lnTo>
                  <a:pt x="73009" y="100000"/>
                </a:lnTo>
                <a:lnTo>
                  <a:pt x="65850" y="99667"/>
                </a:lnTo>
                <a:lnTo>
                  <a:pt x="58770" y="98675"/>
                </a:lnTo>
                <a:lnTo>
                  <a:pt x="51814" y="97042"/>
                </a:lnTo>
                <a:lnTo>
                  <a:pt x="45071" y="94767"/>
                </a:lnTo>
                <a:lnTo>
                  <a:pt x="38593" y="91883"/>
                </a:lnTo>
                <a:lnTo>
                  <a:pt x="32451" y="88417"/>
                </a:lnTo>
                <a:lnTo>
                  <a:pt x="26690" y="84392"/>
                </a:lnTo>
                <a:lnTo>
                  <a:pt x="21381" y="79867"/>
                </a:lnTo>
                <a:lnTo>
                  <a:pt x="16575" y="74867"/>
                </a:lnTo>
                <a:lnTo>
                  <a:pt x="12301" y="69442"/>
                </a:lnTo>
                <a:lnTo>
                  <a:pt x="8619" y="63658"/>
                </a:lnTo>
                <a:lnTo>
                  <a:pt x="5558" y="57558"/>
                </a:lnTo>
                <a:lnTo>
                  <a:pt x="3142" y="51208"/>
                </a:lnTo>
                <a:lnTo>
                  <a:pt x="1407" y="44658"/>
                </a:lnTo>
                <a:lnTo>
                  <a:pt x="354" y="37992"/>
                </a:lnTo>
                <a:lnTo>
                  <a:pt x="0" y="31250"/>
                </a:lnTo>
                <a:lnTo>
                  <a:pt x="354" y="24508"/>
                </a:lnTo>
                <a:lnTo>
                  <a:pt x="1407" y="17842"/>
                </a:lnTo>
                <a:lnTo>
                  <a:pt x="3142" y="11292"/>
                </a:lnTo>
                <a:lnTo>
                  <a:pt x="5558" y="4942"/>
                </a:lnTo>
                <a:lnTo>
                  <a:pt x="8035" y="0"/>
                </a:lnTo>
                <a:lnTo>
                  <a:pt x="99558" y="0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0991-3"/>
          <p:cNvSpPr/>
          <p:nvPr/>
        </p:nvSpPr>
        <p:spPr>
          <a:xfrm>
            <a:off x="0" y="4357688"/>
            <a:ext cx="714375" cy="7858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63253"/>
                </a:moveTo>
                <a:lnTo>
                  <a:pt x="99667" y="69458"/>
                </a:lnTo>
                <a:lnTo>
                  <a:pt x="98653" y="75590"/>
                </a:lnTo>
                <a:lnTo>
                  <a:pt x="96987" y="81614"/>
                </a:lnTo>
                <a:lnTo>
                  <a:pt x="94667" y="87458"/>
                </a:lnTo>
                <a:lnTo>
                  <a:pt x="91733" y="93072"/>
                </a:lnTo>
                <a:lnTo>
                  <a:pt x="88200" y="98398"/>
                </a:lnTo>
                <a:lnTo>
                  <a:pt x="87373" y="99398"/>
                </a:lnTo>
                <a:lnTo>
                  <a:pt x="0" y="99398"/>
                </a:lnTo>
                <a:lnTo>
                  <a:pt x="0" y="6193"/>
                </a:lnTo>
                <a:lnTo>
                  <a:pt x="3213" y="4819"/>
                </a:lnTo>
                <a:lnTo>
                  <a:pt x="9680" y="2723"/>
                </a:lnTo>
                <a:lnTo>
                  <a:pt x="16347" y="1217"/>
                </a:lnTo>
                <a:lnTo>
                  <a:pt x="23133" y="301"/>
                </a:lnTo>
                <a:lnTo>
                  <a:pt x="30000" y="0"/>
                </a:lnTo>
                <a:lnTo>
                  <a:pt x="36867" y="301"/>
                </a:lnTo>
                <a:lnTo>
                  <a:pt x="43653" y="1217"/>
                </a:lnTo>
                <a:lnTo>
                  <a:pt x="50320" y="2723"/>
                </a:lnTo>
                <a:lnTo>
                  <a:pt x="56787" y="4819"/>
                </a:lnTo>
                <a:lnTo>
                  <a:pt x="63000" y="7470"/>
                </a:lnTo>
                <a:lnTo>
                  <a:pt x="68893" y="10663"/>
                </a:lnTo>
                <a:lnTo>
                  <a:pt x="74413" y="14361"/>
                </a:lnTo>
                <a:lnTo>
                  <a:pt x="79493" y="18530"/>
                </a:lnTo>
                <a:lnTo>
                  <a:pt x="84107" y="23120"/>
                </a:lnTo>
                <a:lnTo>
                  <a:pt x="88200" y="28108"/>
                </a:lnTo>
                <a:lnTo>
                  <a:pt x="91733" y="33434"/>
                </a:lnTo>
                <a:lnTo>
                  <a:pt x="94667" y="39048"/>
                </a:lnTo>
                <a:lnTo>
                  <a:pt x="96987" y="44892"/>
                </a:lnTo>
                <a:lnTo>
                  <a:pt x="98653" y="50916"/>
                </a:lnTo>
                <a:lnTo>
                  <a:pt x="99667" y="57048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0992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60993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60992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60994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61000-10"/>
          <p:cNvSpPr/>
          <p:nvPr/>
        </p:nvSpPr>
        <p:spPr>
          <a:xfrm>
            <a:off x="400050" y="1557412"/>
            <a:ext cx="8343900" cy="6857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61002-13"/>
          <p:cNvCxnSpPr/>
          <p:nvPr/>
        </p:nvCxnSpPr>
        <p:spPr>
          <a:xfrm>
            <a:off x="421481" y="1557412"/>
            <a:ext cx="914" cy="685726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61026-20"/>
          <p:cNvSpPr/>
          <p:nvPr/>
        </p:nvSpPr>
        <p:spPr>
          <a:xfrm>
            <a:off x="642938" y="1785938"/>
            <a:ext cx="518889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4A7C9B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61001-11"/>
          <p:cNvSpPr/>
          <p:nvPr/>
        </p:nvSpPr>
        <p:spPr>
          <a:xfrm>
            <a:off x="400050" y="2371725"/>
            <a:ext cx="8343900" cy="6857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5489361003-14"/>
          <p:cNvCxnSpPr/>
          <p:nvPr/>
        </p:nvCxnSpPr>
        <p:spPr>
          <a:xfrm>
            <a:off x="421481" y="2371725"/>
            <a:ext cx="914" cy="685726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489361030-23"/>
          <p:cNvSpPr/>
          <p:nvPr/>
        </p:nvSpPr>
        <p:spPr>
          <a:xfrm>
            <a:off x="642938" y="2600251"/>
            <a:ext cx="518889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4A7C9B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489361002-12"/>
          <p:cNvSpPr/>
          <p:nvPr/>
        </p:nvSpPr>
        <p:spPr>
          <a:xfrm>
            <a:off x="400050" y="3186038"/>
            <a:ext cx="8343900" cy="6857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61004-15"/>
          <p:cNvCxnSpPr/>
          <p:nvPr/>
        </p:nvCxnSpPr>
        <p:spPr>
          <a:xfrm>
            <a:off x="421481" y="3186038"/>
            <a:ext cx="914" cy="685726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61033-26"/>
          <p:cNvSpPr/>
          <p:nvPr/>
        </p:nvSpPr>
        <p:spPr>
          <a:xfrm>
            <a:off x="642938" y="3414564"/>
            <a:ext cx="518889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4A7C9B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489360995-8"/>
          <p:cNvSpPr txBox="1"/>
          <p:nvPr/>
        </p:nvSpPr>
        <p:spPr>
          <a:xfrm>
            <a:off x="400050" y="128588"/>
            <a:ext cx="4375547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创新点一：</a:t>
            </a:r>
            <a:r>
              <a:rPr sz="157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首次系统性跨架构非线性鲁棒性对比</a:t>
            </a:r>
            <a:endParaRPr sz="157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61025-19"/>
          <p:cNvSpPr txBox="1"/>
          <p:nvPr/>
        </p:nvSpPr>
        <p:spPr>
          <a:xfrm>
            <a:off x="728663" y="1814513"/>
            <a:ext cx="49031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发现 1</a:t>
            </a:r>
            <a:endParaRPr sz="90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61027-21"/>
          <p:cNvSpPr txBox="1"/>
          <p:nvPr/>
        </p:nvSpPr>
        <p:spPr>
          <a:xfrm>
            <a:off x="1385888" y="1685999"/>
            <a:ext cx="7222331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首次系统对比三种典型架构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61018-16"/>
          <p:cNvSpPr txBox="1"/>
          <p:nvPr/>
        </p:nvSpPr>
        <p:spPr>
          <a:xfrm>
            <a:off x="1385888" y="1908870"/>
            <a:ext cx="722233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浅层纯前馈（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SimpleCNN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）、深层纯前馈（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VGG-11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）、深层残差（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ResNet-18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）在非线性失真下的表现差异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61028-22"/>
          <p:cNvSpPr txBox="1"/>
          <p:nvPr/>
        </p:nvSpPr>
        <p:spPr>
          <a:xfrm>
            <a:off x="728663" y="2628826"/>
            <a:ext cx="49031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发现 2</a:t>
            </a:r>
            <a:endParaRPr sz="90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61030-24"/>
          <p:cNvSpPr txBox="1"/>
          <p:nvPr/>
        </p:nvSpPr>
        <p:spPr>
          <a:xfrm>
            <a:off x="1385888" y="2500313"/>
            <a:ext cx="7222331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揭示“参数量越大鲁棒性越差”的反直觉现象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61021-17"/>
          <p:cNvSpPr txBox="1"/>
          <p:nvPr/>
        </p:nvSpPr>
        <p:spPr>
          <a:xfrm>
            <a:off x="1385888" y="2723183"/>
            <a:ext cx="722233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残差连接对确定性非线性失真的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放大效应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远超参数冗余容错收益；ResNet-18 在 α=+0.3 下精度仅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17.08%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，跌幅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75.01%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61031-25"/>
          <p:cNvSpPr txBox="1"/>
          <p:nvPr/>
        </p:nvSpPr>
        <p:spPr>
          <a:xfrm>
            <a:off x="728663" y="3443139"/>
            <a:ext cx="49031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发现 3</a:t>
            </a:r>
            <a:endParaRPr sz="90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61033-27"/>
          <p:cNvSpPr txBox="1"/>
          <p:nvPr/>
        </p:nvSpPr>
        <p:spPr>
          <a:xfrm>
            <a:off x="1385888" y="3314626"/>
            <a:ext cx="7222331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提出“失真注入点数量”为核心预测指标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61024-18"/>
          <p:cNvSpPr txBox="1"/>
          <p:nvPr/>
        </p:nvSpPr>
        <p:spPr>
          <a:xfrm>
            <a:off x="1385888" y="3537496"/>
            <a:ext cx="722233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明确约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个注入点是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NAT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有效性的临界阈值，为鲁棒训练提供可量化的架构选择依据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60996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25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8" name="el-1785489360986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1360-2"/>
          <p:cNvSpPr/>
          <p:nvPr/>
        </p:nvSpPr>
        <p:spPr>
          <a:xfrm>
            <a:off x="8072438" y="0"/>
            <a:ext cx="1071563" cy="1214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558" y="95141"/>
                </a:moveTo>
                <a:lnTo>
                  <a:pt x="94204" y="96836"/>
                </a:lnTo>
                <a:lnTo>
                  <a:pt x="87248" y="98367"/>
                </a:lnTo>
                <a:lnTo>
                  <a:pt x="80168" y="99297"/>
                </a:lnTo>
                <a:lnTo>
                  <a:pt x="73009" y="99609"/>
                </a:lnTo>
                <a:lnTo>
                  <a:pt x="65850" y="99297"/>
                </a:lnTo>
                <a:lnTo>
                  <a:pt x="58770" y="98367"/>
                </a:lnTo>
                <a:lnTo>
                  <a:pt x="51814" y="96836"/>
                </a:lnTo>
                <a:lnTo>
                  <a:pt x="45071" y="94703"/>
                </a:lnTo>
                <a:lnTo>
                  <a:pt x="38593" y="92000"/>
                </a:lnTo>
                <a:lnTo>
                  <a:pt x="32451" y="88750"/>
                </a:lnTo>
                <a:lnTo>
                  <a:pt x="26690" y="84977"/>
                </a:lnTo>
                <a:lnTo>
                  <a:pt x="21381" y="80734"/>
                </a:lnTo>
                <a:lnTo>
                  <a:pt x="16575" y="76047"/>
                </a:lnTo>
                <a:lnTo>
                  <a:pt x="12301" y="70961"/>
                </a:lnTo>
                <a:lnTo>
                  <a:pt x="8619" y="65539"/>
                </a:lnTo>
                <a:lnTo>
                  <a:pt x="5558" y="59820"/>
                </a:lnTo>
                <a:lnTo>
                  <a:pt x="3142" y="53867"/>
                </a:lnTo>
                <a:lnTo>
                  <a:pt x="1407" y="47727"/>
                </a:lnTo>
                <a:lnTo>
                  <a:pt x="354" y="41477"/>
                </a:lnTo>
                <a:lnTo>
                  <a:pt x="0" y="35156"/>
                </a:lnTo>
                <a:lnTo>
                  <a:pt x="354" y="28836"/>
                </a:lnTo>
                <a:lnTo>
                  <a:pt x="1407" y="22586"/>
                </a:lnTo>
                <a:lnTo>
                  <a:pt x="3142" y="16445"/>
                </a:lnTo>
                <a:lnTo>
                  <a:pt x="5558" y="10492"/>
                </a:lnTo>
                <a:lnTo>
                  <a:pt x="8619" y="4773"/>
                </a:lnTo>
                <a:lnTo>
                  <a:pt x="11858" y="0"/>
                </a:lnTo>
                <a:lnTo>
                  <a:pt x="99558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1363-3"/>
          <p:cNvSpPr/>
          <p:nvPr/>
        </p:nvSpPr>
        <p:spPr>
          <a:xfrm>
            <a:off x="0" y="4357688"/>
            <a:ext cx="714375" cy="7858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63253"/>
                </a:moveTo>
                <a:lnTo>
                  <a:pt x="99667" y="69458"/>
                </a:lnTo>
                <a:lnTo>
                  <a:pt x="98653" y="75590"/>
                </a:lnTo>
                <a:lnTo>
                  <a:pt x="96987" y="81614"/>
                </a:lnTo>
                <a:lnTo>
                  <a:pt x="94667" y="87458"/>
                </a:lnTo>
                <a:lnTo>
                  <a:pt x="91733" y="93072"/>
                </a:lnTo>
                <a:lnTo>
                  <a:pt x="88200" y="98398"/>
                </a:lnTo>
                <a:lnTo>
                  <a:pt x="87373" y="99398"/>
                </a:lnTo>
                <a:lnTo>
                  <a:pt x="0" y="99398"/>
                </a:lnTo>
                <a:lnTo>
                  <a:pt x="0" y="6193"/>
                </a:lnTo>
                <a:lnTo>
                  <a:pt x="3213" y="4819"/>
                </a:lnTo>
                <a:lnTo>
                  <a:pt x="9680" y="2723"/>
                </a:lnTo>
                <a:lnTo>
                  <a:pt x="16347" y="1217"/>
                </a:lnTo>
                <a:lnTo>
                  <a:pt x="23133" y="301"/>
                </a:lnTo>
                <a:lnTo>
                  <a:pt x="30000" y="0"/>
                </a:lnTo>
                <a:lnTo>
                  <a:pt x="36867" y="301"/>
                </a:lnTo>
                <a:lnTo>
                  <a:pt x="43653" y="1217"/>
                </a:lnTo>
                <a:lnTo>
                  <a:pt x="50320" y="2723"/>
                </a:lnTo>
                <a:lnTo>
                  <a:pt x="56787" y="4819"/>
                </a:lnTo>
                <a:lnTo>
                  <a:pt x="63000" y="7470"/>
                </a:lnTo>
                <a:lnTo>
                  <a:pt x="68893" y="10663"/>
                </a:lnTo>
                <a:lnTo>
                  <a:pt x="74413" y="14361"/>
                </a:lnTo>
                <a:lnTo>
                  <a:pt x="79493" y="18530"/>
                </a:lnTo>
                <a:lnTo>
                  <a:pt x="84107" y="23120"/>
                </a:lnTo>
                <a:lnTo>
                  <a:pt x="88200" y="28108"/>
                </a:lnTo>
                <a:lnTo>
                  <a:pt x="91733" y="33434"/>
                </a:lnTo>
                <a:lnTo>
                  <a:pt x="94667" y="39048"/>
                </a:lnTo>
                <a:lnTo>
                  <a:pt x="96987" y="44892"/>
                </a:lnTo>
                <a:lnTo>
                  <a:pt x="98653" y="50916"/>
                </a:lnTo>
                <a:lnTo>
                  <a:pt x="99667" y="57048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1364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61367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61365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61367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489361392-16"/>
          <p:cNvCxnSpPr/>
          <p:nvPr/>
        </p:nvCxnSpPr>
        <p:spPr>
          <a:xfrm>
            <a:off x="860078" y="2564606"/>
            <a:ext cx="3108945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5489361393-17"/>
          <p:cNvCxnSpPr/>
          <p:nvPr/>
        </p:nvCxnSpPr>
        <p:spPr>
          <a:xfrm>
            <a:off x="860078" y="3659014"/>
            <a:ext cx="3108945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61381-10"/>
          <p:cNvSpPr/>
          <p:nvPr/>
        </p:nvSpPr>
        <p:spPr>
          <a:xfrm>
            <a:off x="4714875" y="1478087"/>
            <a:ext cx="4029075" cy="738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61386-13"/>
          <p:cNvCxnSpPr/>
          <p:nvPr/>
        </p:nvCxnSpPr>
        <p:spPr>
          <a:xfrm>
            <a:off x="4729163" y="1478087"/>
            <a:ext cx="914" cy="738634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61383-11"/>
          <p:cNvSpPr/>
          <p:nvPr/>
        </p:nvSpPr>
        <p:spPr>
          <a:xfrm>
            <a:off x="4714875" y="2316733"/>
            <a:ext cx="4029075" cy="738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61387-14"/>
          <p:cNvCxnSpPr/>
          <p:nvPr/>
        </p:nvCxnSpPr>
        <p:spPr>
          <a:xfrm>
            <a:off x="4729163" y="2316733"/>
            <a:ext cx="914" cy="738634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61384-12"/>
          <p:cNvSpPr/>
          <p:nvPr/>
        </p:nvSpPr>
        <p:spPr>
          <a:xfrm>
            <a:off x="4714875" y="3155380"/>
            <a:ext cx="4029075" cy="738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61387-15"/>
          <p:cNvCxnSpPr/>
          <p:nvPr/>
        </p:nvCxnSpPr>
        <p:spPr>
          <a:xfrm>
            <a:off x="4729163" y="3155380"/>
            <a:ext cx="914" cy="738634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61372-8"/>
          <p:cNvSpPr txBox="1"/>
          <p:nvPr/>
        </p:nvSpPr>
        <p:spPr>
          <a:xfrm>
            <a:off x="400050" y="100013"/>
            <a:ext cx="4531444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创新点二：</a:t>
            </a:r>
            <a:r>
              <a:rPr sz="157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分层加权感知训练+残差校准</a:t>
            </a:r>
            <a:r>
              <a:rPr sz="157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组合方案</a:t>
            </a:r>
            <a:endParaRPr sz="1570" b="1" spc="28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61395-18"/>
          <p:cNvSpPr txBox="1"/>
          <p:nvPr/>
        </p:nvSpPr>
        <p:spPr>
          <a:xfrm>
            <a:off x="1281782" y="1705942"/>
            <a:ext cx="2265536" cy="5657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405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13.68</a:t>
            </a:r>
            <a:r>
              <a:rPr sz="90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 </a:t>
            </a:r>
            <a:r>
              <a:rPr sz="202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pp</a:t>
            </a:r>
            <a:endParaRPr sz="2020" b="1" spc="-56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61399-20"/>
          <p:cNvSpPr txBox="1"/>
          <p:nvPr/>
        </p:nvSpPr>
        <p:spPr>
          <a:xfrm>
            <a:off x="1624906" y="2300288"/>
            <a:ext cx="157936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spc="17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α=+0.3 累计精度提升</a:t>
            </a:r>
            <a:endParaRPr sz="1120" spc="17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61397-19"/>
          <p:cNvSpPr txBox="1"/>
          <p:nvPr/>
        </p:nvSpPr>
        <p:spPr>
          <a:xfrm>
            <a:off x="1484784" y="2800350"/>
            <a:ext cx="1859607" cy="5657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405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37.6</a:t>
            </a:r>
            <a:r>
              <a:rPr sz="90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 </a:t>
            </a:r>
            <a:r>
              <a:rPr sz="2020" b="1" spc="-56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%</a:t>
            </a:r>
            <a:endParaRPr sz="2020" b="1" spc="-56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61399-21"/>
          <p:cNvSpPr txBox="1"/>
          <p:nvPr/>
        </p:nvSpPr>
        <p:spPr>
          <a:xfrm>
            <a:off x="1763018" y="3394695"/>
            <a:ext cx="1303065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spc="17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相对精度改善幅度</a:t>
            </a:r>
            <a:endParaRPr sz="1120" spc="17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61409-25"/>
          <p:cNvSpPr txBox="1"/>
          <p:nvPr/>
        </p:nvSpPr>
        <p:spPr>
          <a:xfrm>
            <a:off x="4872038" y="1563812"/>
            <a:ext cx="37933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策略创新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61401-22"/>
          <p:cNvSpPr txBox="1"/>
          <p:nvPr/>
        </p:nvSpPr>
        <p:spPr>
          <a:xfrm>
            <a:off x="4872038" y="1728118"/>
            <a:ext cx="3743325" cy="38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首次提出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差异化分层加权训练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：浅层轻失真（α∈[-0.15,0.15]）保护基础特征，深层强失真（α=±0.3）强化瓶颈适应。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61410-26"/>
          <p:cNvSpPr txBox="1"/>
          <p:nvPr/>
        </p:nvSpPr>
        <p:spPr>
          <a:xfrm>
            <a:off x="4872038" y="2402458"/>
            <a:ext cx="37933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模块设计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61404-23"/>
          <p:cNvSpPr txBox="1"/>
          <p:nvPr/>
        </p:nvSpPr>
        <p:spPr>
          <a:xfrm>
            <a:off x="4872038" y="2566764"/>
            <a:ext cx="3743325" cy="38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配合轻量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残差校准模块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（FeatureCalibration），仅新增 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1.6万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参数，实现干净精度与鲁棒性双赢。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61411-27"/>
          <p:cNvSpPr txBox="1"/>
          <p:nvPr/>
        </p:nvSpPr>
        <p:spPr>
          <a:xfrm>
            <a:off x="4872038" y="3241105"/>
            <a:ext cx="37933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消融验证</a:t>
            </a:r>
            <a:endParaRPr sz="780" b="1" spc="17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61408-24"/>
          <p:cNvSpPr txBox="1"/>
          <p:nvPr/>
        </p:nvSpPr>
        <p:spPr>
          <a:xfrm>
            <a:off x="4872038" y="3405411"/>
            <a:ext cx="3743325" cy="38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消融实验量化各组件边际贡献：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分层加权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贡献 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+5.13%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，非对称采样边际 </a:t>
            </a:r>
            <a:r>
              <a:rPr sz="95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+0.38%</a:t>
            </a:r>
            <a:r>
              <a:rPr sz="95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，为工程取舍提供依据。</a:t>
            </a:r>
            <a:endParaRPr sz="95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61374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26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8" name="el-1785489361357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1430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1433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1434-4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61437-6"/>
          <p:cNvCxnSpPr/>
          <p:nvPr/>
        </p:nvCxnSpPr>
        <p:spPr>
          <a:xfrm>
            <a:off x="0" y="50720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61435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61438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61449-10"/>
          <p:cNvSpPr/>
          <p:nvPr/>
        </p:nvSpPr>
        <p:spPr>
          <a:xfrm>
            <a:off x="400050" y="1290340"/>
            <a:ext cx="8343900" cy="8828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61452-13"/>
          <p:cNvCxnSpPr/>
          <p:nvPr/>
        </p:nvCxnSpPr>
        <p:spPr>
          <a:xfrm>
            <a:off x="421481" y="1290340"/>
            <a:ext cx="914" cy="882848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61458-17"/>
          <p:cNvSpPr/>
          <p:nvPr/>
        </p:nvSpPr>
        <p:spPr>
          <a:xfrm>
            <a:off x="642938" y="1418927"/>
            <a:ext cx="642938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4A7C9B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61450-11"/>
          <p:cNvSpPr/>
          <p:nvPr/>
        </p:nvSpPr>
        <p:spPr>
          <a:xfrm>
            <a:off x="400050" y="2273201"/>
            <a:ext cx="8343900" cy="8828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5489361453-14"/>
          <p:cNvCxnSpPr/>
          <p:nvPr/>
        </p:nvCxnSpPr>
        <p:spPr>
          <a:xfrm>
            <a:off x="421481" y="2273201"/>
            <a:ext cx="914" cy="882848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489361460-19"/>
          <p:cNvSpPr/>
          <p:nvPr/>
        </p:nvSpPr>
        <p:spPr>
          <a:xfrm>
            <a:off x="642938" y="2401788"/>
            <a:ext cx="642938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4A7C9B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489361451-12"/>
          <p:cNvSpPr/>
          <p:nvPr/>
        </p:nvSpPr>
        <p:spPr>
          <a:xfrm>
            <a:off x="400050" y="3256062"/>
            <a:ext cx="8343900" cy="8828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61453-15"/>
          <p:cNvCxnSpPr/>
          <p:nvPr/>
        </p:nvCxnSpPr>
        <p:spPr>
          <a:xfrm>
            <a:off x="421481" y="3256062"/>
            <a:ext cx="914" cy="882848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61461-21"/>
          <p:cNvSpPr/>
          <p:nvPr/>
        </p:nvSpPr>
        <p:spPr>
          <a:xfrm>
            <a:off x="642938" y="3384649"/>
            <a:ext cx="642938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4A7C9B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489361442-8"/>
          <p:cNvSpPr txBox="1"/>
          <p:nvPr/>
        </p:nvSpPr>
        <p:spPr>
          <a:xfrm>
            <a:off x="400050" y="89297"/>
            <a:ext cx="3811191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创新点三：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多扰动耦合机制的系统揭示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61457-16"/>
          <p:cNvSpPr txBox="1"/>
          <p:nvPr/>
        </p:nvSpPr>
        <p:spPr>
          <a:xfrm>
            <a:off x="728663" y="1447502"/>
            <a:ext cx="6143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揭示 1</a:t>
            </a:r>
            <a:endParaRPr sz="90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61482-26"/>
          <p:cNvSpPr txBox="1"/>
          <p:nvPr/>
        </p:nvSpPr>
        <p:spPr>
          <a:xfrm>
            <a:off x="1457325" y="1404640"/>
            <a:ext cx="715803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破坏模式差异与鲁棒性负迁移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61471-22"/>
          <p:cNvSpPr txBox="1"/>
          <p:nvPr/>
        </p:nvSpPr>
        <p:spPr>
          <a:xfrm>
            <a:off x="1457325" y="1633240"/>
            <a:ext cx="7099459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系统对比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非线性失真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高斯噪声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量化误差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三种扰动的破坏模式差异，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证明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鲁棒性无法跨扰动迁移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——对非线性鲁棒的模型对高斯噪声反而脆弱。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61458-18"/>
          <p:cNvSpPr txBox="1"/>
          <p:nvPr/>
        </p:nvSpPr>
        <p:spPr>
          <a:xfrm>
            <a:off x="728663" y="2430363"/>
            <a:ext cx="6143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揭示 2</a:t>
            </a:r>
            <a:endParaRPr sz="90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61473-23"/>
          <p:cNvSpPr txBox="1"/>
          <p:nvPr/>
        </p:nvSpPr>
        <p:spPr>
          <a:xfrm>
            <a:off x="1457325" y="2387501"/>
            <a:ext cx="715803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Dithering 增益效应</a:t>
            </a: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的发现与解释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61476-24"/>
          <p:cNvSpPr txBox="1"/>
          <p:nvPr/>
        </p:nvSpPr>
        <p:spPr>
          <a:xfrm>
            <a:off x="1457325" y="2616101"/>
            <a:ext cx="7099459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在存算一体场景下发现：适量量化噪声可打破确定性非线性失真，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提升精度（VGG-11，α=+0.3 时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+6.53%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）—— 噪声从“敌人”变成“帮手”。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61460-20"/>
          <p:cNvSpPr txBox="1"/>
          <p:nvPr/>
        </p:nvSpPr>
        <p:spPr>
          <a:xfrm>
            <a:off x="728663" y="3413224"/>
            <a:ext cx="6143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揭示 3</a:t>
            </a:r>
            <a:endParaRPr sz="90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61484-27"/>
          <p:cNvSpPr txBox="1"/>
          <p:nvPr/>
        </p:nvSpPr>
        <p:spPr>
          <a:xfrm>
            <a:off x="1457325" y="3370362"/>
            <a:ext cx="715803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三种联合误差模式的归纳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61481-25"/>
          <p:cNvSpPr txBox="1"/>
          <p:nvPr/>
        </p:nvSpPr>
        <p:spPr>
          <a:xfrm>
            <a:off x="1457325" y="3598962"/>
            <a:ext cx="7099459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归纳出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超加性恶化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（SimpleCNN）、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地板效应抵消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（ResNet-18）、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15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Dithering 增益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（VGG-11）三种模式，对应不同的优化优先级与工程取舍路径。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61444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27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8" name="el-1785489361427-1"/>
          <p:cNvCxnSpPr/>
          <p:nvPr/>
        </p:nvCxnSpPr>
        <p:spPr>
          <a:xfrm>
            <a:off x="14288" y="0"/>
            <a:ext cx="914" cy="51435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1516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1518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1519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61522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61520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61523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61533-10"/>
          <p:cNvSpPr/>
          <p:nvPr/>
        </p:nvSpPr>
        <p:spPr>
          <a:xfrm>
            <a:off x="400050" y="1267420"/>
            <a:ext cx="8343900" cy="66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61536-14"/>
          <p:cNvCxnSpPr/>
          <p:nvPr/>
        </p:nvCxnSpPr>
        <p:spPr>
          <a:xfrm>
            <a:off x="421481" y="1267420"/>
            <a:ext cx="914" cy="662881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61534-11"/>
          <p:cNvSpPr/>
          <p:nvPr/>
        </p:nvSpPr>
        <p:spPr>
          <a:xfrm>
            <a:off x="400050" y="2016026"/>
            <a:ext cx="8343900" cy="66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61537-15"/>
          <p:cNvCxnSpPr/>
          <p:nvPr/>
        </p:nvCxnSpPr>
        <p:spPr>
          <a:xfrm>
            <a:off x="421481" y="2016026"/>
            <a:ext cx="914" cy="662881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61534-12"/>
          <p:cNvSpPr/>
          <p:nvPr/>
        </p:nvSpPr>
        <p:spPr>
          <a:xfrm>
            <a:off x="400050" y="2764631"/>
            <a:ext cx="8343900" cy="66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61538-16"/>
          <p:cNvCxnSpPr/>
          <p:nvPr/>
        </p:nvCxnSpPr>
        <p:spPr>
          <a:xfrm>
            <a:off x="421481" y="2764631"/>
            <a:ext cx="914" cy="662881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61536-13"/>
          <p:cNvSpPr/>
          <p:nvPr/>
        </p:nvSpPr>
        <p:spPr>
          <a:xfrm>
            <a:off x="400050" y="3513237"/>
            <a:ext cx="8343900" cy="66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61538-17"/>
          <p:cNvCxnSpPr/>
          <p:nvPr/>
        </p:nvCxnSpPr>
        <p:spPr>
          <a:xfrm>
            <a:off x="421481" y="3513237"/>
            <a:ext cx="914" cy="662881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61528-8"/>
          <p:cNvSpPr txBox="1"/>
          <p:nvPr/>
        </p:nvSpPr>
        <p:spPr>
          <a:xfrm>
            <a:off x="400050" y="117872"/>
            <a:ext cx="1414463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工程部署</a:t>
            </a: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启示</a:t>
            </a:r>
            <a:endParaRPr sz="1680" b="1" spc="28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61543-18"/>
          <p:cNvSpPr txBox="1"/>
          <p:nvPr/>
        </p:nvSpPr>
        <p:spPr>
          <a:xfrm>
            <a:off x="642938" y="1501229"/>
            <a:ext cx="1000125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启示 1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61562-26"/>
          <p:cNvSpPr txBox="1"/>
          <p:nvPr/>
        </p:nvSpPr>
        <p:spPr>
          <a:xfrm>
            <a:off x="1743075" y="1381720"/>
            <a:ext cx="687228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架构优先级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61555-22"/>
          <p:cNvSpPr txBox="1"/>
          <p:nvPr/>
        </p:nvSpPr>
        <p:spPr>
          <a:xfrm>
            <a:off x="1743075" y="1610320"/>
            <a:ext cx="6865144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纯前馈网络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优先于残差网络；</a:t>
            </a:r>
            <a:r>
              <a:rPr sz="101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VGG系列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在多扰动场景下综合鲁棒性最均衡。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61544-19"/>
          <p:cNvSpPr txBox="1"/>
          <p:nvPr/>
        </p:nvSpPr>
        <p:spPr>
          <a:xfrm>
            <a:off x="642938" y="2249835"/>
            <a:ext cx="1000125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启示 2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61563-27"/>
          <p:cNvSpPr txBox="1"/>
          <p:nvPr/>
        </p:nvSpPr>
        <p:spPr>
          <a:xfrm>
            <a:off x="1743075" y="2130326"/>
            <a:ext cx="687228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训练策略匹配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61558-23"/>
          <p:cNvSpPr txBox="1"/>
          <p:nvPr/>
        </p:nvSpPr>
        <p:spPr>
          <a:xfrm>
            <a:off x="1743075" y="2358926"/>
            <a:ext cx="6865144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纯前馈网络优先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NAT-Scratch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；残差网络中等失真用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Scratch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，极限失真改用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Finetune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61544-20"/>
          <p:cNvSpPr txBox="1"/>
          <p:nvPr/>
        </p:nvSpPr>
        <p:spPr>
          <a:xfrm>
            <a:off x="642938" y="2998440"/>
            <a:ext cx="1000125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启示 3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61564-28"/>
          <p:cNvSpPr txBox="1"/>
          <p:nvPr/>
        </p:nvSpPr>
        <p:spPr>
          <a:xfrm>
            <a:off x="1743075" y="2878931"/>
            <a:ext cx="687228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ADC优化策略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61560-24"/>
          <p:cNvSpPr txBox="1"/>
          <p:nvPr/>
        </p:nvSpPr>
        <p:spPr>
          <a:xfrm>
            <a:off x="1743075" y="3107531"/>
            <a:ext cx="6865144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≥6bit 时量化损失可忽略，优化资源应优先投入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MAC非线性校准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；4bit场景注意架构匹配。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61545-21"/>
          <p:cNvSpPr txBox="1"/>
          <p:nvPr/>
        </p:nvSpPr>
        <p:spPr>
          <a:xfrm>
            <a:off x="642938" y="3747046"/>
            <a:ext cx="1000125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启示 4</a:t>
            </a:r>
            <a:endParaRPr sz="112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61565-29"/>
          <p:cNvSpPr txBox="1"/>
          <p:nvPr/>
        </p:nvSpPr>
        <p:spPr>
          <a:xfrm>
            <a:off x="1743075" y="3627537"/>
            <a:ext cx="687228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Dithering效应利用</a:t>
            </a:r>
            <a:endParaRPr sz="112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61561-25"/>
          <p:cNvSpPr txBox="1"/>
          <p:nvPr/>
        </p:nvSpPr>
        <p:spPr>
          <a:xfrm>
            <a:off x="1743075" y="3856137"/>
            <a:ext cx="6865144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可主动注入可控随机噪声，以极低硬件成本抵消部分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非线性失真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，实现“变废为宝”。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61530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28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0" name="el-1785489361512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2441-6"/>
          <p:cNvSpPr/>
          <p:nvPr/>
        </p:nvSpPr>
        <p:spPr>
          <a:xfrm>
            <a:off x="0" y="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27500"/>
                </a:moveTo>
                <a:lnTo>
                  <a:pt x="99650" y="34607"/>
                </a:lnTo>
                <a:lnTo>
                  <a:pt x="98607" y="41643"/>
                </a:lnTo>
                <a:lnTo>
                  <a:pt x="96877" y="48547"/>
                </a:lnTo>
                <a:lnTo>
                  <a:pt x="94480" y="55243"/>
                </a:lnTo>
                <a:lnTo>
                  <a:pt x="91440" y="61677"/>
                </a:lnTo>
                <a:lnTo>
                  <a:pt x="87780" y="67780"/>
                </a:lnTo>
                <a:lnTo>
                  <a:pt x="83543" y="73493"/>
                </a:lnTo>
                <a:lnTo>
                  <a:pt x="78767" y="78767"/>
                </a:lnTo>
                <a:lnTo>
                  <a:pt x="73493" y="83543"/>
                </a:lnTo>
                <a:lnTo>
                  <a:pt x="67780" y="87780"/>
                </a:lnTo>
                <a:lnTo>
                  <a:pt x="61677" y="91440"/>
                </a:lnTo>
                <a:lnTo>
                  <a:pt x="55243" y="94480"/>
                </a:lnTo>
                <a:lnTo>
                  <a:pt x="48547" y="96877"/>
                </a:lnTo>
                <a:lnTo>
                  <a:pt x="41643" y="98607"/>
                </a:lnTo>
                <a:lnTo>
                  <a:pt x="34607" y="99650"/>
                </a:lnTo>
                <a:lnTo>
                  <a:pt x="27500" y="100000"/>
                </a:lnTo>
                <a:lnTo>
                  <a:pt x="20393" y="99650"/>
                </a:lnTo>
                <a:lnTo>
                  <a:pt x="13357" y="98607"/>
                </a:lnTo>
                <a:lnTo>
                  <a:pt x="6453" y="96877"/>
                </a:lnTo>
                <a:lnTo>
                  <a:pt x="0" y="94567"/>
                </a:lnTo>
                <a:lnTo>
                  <a:pt x="0" y="0"/>
                </a:lnTo>
                <a:lnTo>
                  <a:pt x="94567" y="0"/>
                </a:lnTo>
                <a:lnTo>
                  <a:pt x="96877" y="6453"/>
                </a:lnTo>
                <a:lnTo>
                  <a:pt x="98607" y="13357"/>
                </a:lnTo>
                <a:lnTo>
                  <a:pt x="99650" y="20393"/>
                </a:lnTo>
                <a:close/>
              </a:path>
            </a:pathLst>
          </a:custGeom>
          <a:solidFill>
            <a:srgbClr val="B8C5D1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2443-7"/>
          <p:cNvSpPr/>
          <p:nvPr/>
        </p:nvSpPr>
        <p:spPr>
          <a:xfrm>
            <a:off x="5715000" y="17145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100000"/>
                </a:moveTo>
                <a:lnTo>
                  <a:pt x="6367" y="100000"/>
                </a:lnTo>
                <a:lnTo>
                  <a:pt x="5392" y="97939"/>
                </a:lnTo>
                <a:lnTo>
                  <a:pt x="3050" y="91394"/>
                </a:lnTo>
                <a:lnTo>
                  <a:pt x="1361" y="84653"/>
                </a:lnTo>
                <a:lnTo>
                  <a:pt x="342" y="77775"/>
                </a:lnTo>
                <a:lnTo>
                  <a:pt x="0" y="70833"/>
                </a:lnTo>
                <a:lnTo>
                  <a:pt x="342" y="63892"/>
                </a:lnTo>
                <a:lnTo>
                  <a:pt x="1361" y="57014"/>
                </a:lnTo>
                <a:lnTo>
                  <a:pt x="3050" y="50272"/>
                </a:lnTo>
                <a:lnTo>
                  <a:pt x="5392" y="43728"/>
                </a:lnTo>
                <a:lnTo>
                  <a:pt x="8364" y="37442"/>
                </a:lnTo>
                <a:lnTo>
                  <a:pt x="11939" y="31481"/>
                </a:lnTo>
                <a:lnTo>
                  <a:pt x="16078" y="25897"/>
                </a:lnTo>
                <a:lnTo>
                  <a:pt x="20747" y="20747"/>
                </a:lnTo>
                <a:lnTo>
                  <a:pt x="25897" y="16078"/>
                </a:lnTo>
                <a:lnTo>
                  <a:pt x="31481" y="11939"/>
                </a:lnTo>
                <a:lnTo>
                  <a:pt x="37442" y="8364"/>
                </a:lnTo>
                <a:lnTo>
                  <a:pt x="43728" y="5392"/>
                </a:lnTo>
                <a:lnTo>
                  <a:pt x="50272" y="3050"/>
                </a:lnTo>
                <a:lnTo>
                  <a:pt x="57014" y="1361"/>
                </a:lnTo>
                <a:lnTo>
                  <a:pt x="63892" y="342"/>
                </a:lnTo>
                <a:lnTo>
                  <a:pt x="70833" y="0"/>
                </a:lnTo>
                <a:lnTo>
                  <a:pt x="77775" y="342"/>
                </a:lnTo>
                <a:lnTo>
                  <a:pt x="84653" y="1361"/>
                </a:lnTo>
                <a:lnTo>
                  <a:pt x="91394" y="3050"/>
                </a:lnTo>
                <a:lnTo>
                  <a:pt x="97939" y="5392"/>
                </a:lnTo>
                <a:lnTo>
                  <a:pt x="100000" y="6367"/>
                </a:lnTo>
                <a:close/>
              </a:path>
            </a:pathLst>
          </a:custGeom>
          <a:solidFill>
            <a:srgbClr val="F0E4E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2445-8"/>
          <p:cNvSpPr/>
          <p:nvPr/>
        </p:nvSpPr>
        <p:spPr>
          <a:xfrm>
            <a:off x="3586163" y="600075"/>
            <a:ext cx="3286125" cy="3286125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489362447-9"/>
          <p:cNvSpPr/>
          <p:nvPr/>
        </p:nvSpPr>
        <p:spPr>
          <a:xfrm>
            <a:off x="7189515" y="1131540"/>
            <a:ext cx="857250" cy="857250"/>
          </a:xfrm>
          <a:prstGeom prst="ellipse">
            <a:avLst/>
          </a:prstGeom>
          <a:solidFill>
            <a:srgbClr val="B8C5D1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489362449-10"/>
          <p:cNvSpPr/>
          <p:nvPr/>
        </p:nvSpPr>
        <p:spPr>
          <a:xfrm>
            <a:off x="914400" y="3646215"/>
            <a:ext cx="571500" cy="571500"/>
          </a:xfrm>
          <a:prstGeom prst="ellipse">
            <a:avLst/>
          </a:prstGeom>
          <a:solidFill>
            <a:srgbClr val="B8C5D1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489362431-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063" y="38889"/>
                </a:moveTo>
                <a:cubicBezTo>
                  <a:pt x="23438" y="24074"/>
                  <a:pt x="35417" y="26852"/>
                  <a:pt x="50000" y="47222"/>
                </a:cubicBezTo>
                <a:cubicBezTo>
                  <a:pt x="64583" y="67593"/>
                  <a:pt x="77083" y="64815"/>
                  <a:pt x="87500" y="38889"/>
                </a:cubicBezTo>
              </a:path>
            </a:pathLst>
          </a:custGeom>
          <a:noFill/>
          <a:ln w="17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489362431-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813" y="66667"/>
                </a:moveTo>
                <a:cubicBezTo>
                  <a:pt x="18229" y="53704"/>
                  <a:pt x="30208" y="55556"/>
                  <a:pt x="43750" y="72222"/>
                </a:cubicBezTo>
                <a:cubicBezTo>
                  <a:pt x="57292" y="88889"/>
                  <a:pt x="73438" y="83333"/>
                  <a:pt x="92188" y="55556"/>
                </a:cubicBezTo>
              </a:path>
            </a:pathLst>
          </a:custGeom>
          <a:noFill/>
          <a:ln w="12859" algn="ctr">
            <a:solidFill>
              <a:srgbClr val="B8C5D1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489362430-1"/>
          <p:cNvCxnSpPr/>
          <p:nvPr/>
        </p:nvCxnSpPr>
        <p:spPr>
          <a:xfrm>
            <a:off x="400050" y="4911328"/>
            <a:ext cx="8343900" cy="914"/>
          </a:xfrm>
          <a:prstGeom prst="line">
            <a:avLst/>
          </a:prstGeom>
          <a:ln w="9525" cap="flat">
            <a:solidFill>
              <a:srgbClr val="D8D8D8">
                <a:alpha val="5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62460-13"/>
          <p:cNvSpPr/>
          <p:nvPr/>
        </p:nvSpPr>
        <p:spPr>
          <a:xfrm>
            <a:off x="4143375" y="3367683"/>
            <a:ext cx="857250" cy="21431"/>
          </a:xfrm>
          <a:prstGeom prst="roundRect">
            <a:avLst>
              <a:gd name="adj" fmla="val 50000"/>
            </a:avLst>
          </a:prstGeom>
          <a:solidFill>
            <a:srgbClr val="4A7C9B">
              <a:alpha val="6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62455-11"/>
          <p:cNvSpPr txBox="1"/>
          <p:nvPr/>
        </p:nvSpPr>
        <p:spPr>
          <a:xfrm>
            <a:off x="3580358" y="1754386"/>
            <a:ext cx="198320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50" b="1" spc="270">
                <a:solidFill>
                  <a:srgbClr val="4A7C9B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6750" b="1" spc="270">
              <a:solidFill>
                <a:srgbClr val="4A7C9B">
                  <a:alpha val="9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l-1785489362456-12"/>
          <p:cNvSpPr txBox="1"/>
          <p:nvPr/>
        </p:nvSpPr>
        <p:spPr>
          <a:xfrm>
            <a:off x="2931140" y="2765896"/>
            <a:ext cx="3281645" cy="4160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510" b="1" spc="5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第六章 · 总结与展望</a:t>
            </a:r>
            <a:endParaRPr sz="2510" b="1" spc="5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l-1785489362436-5"/>
          <p:cNvSpPr/>
          <p:nvPr/>
        </p:nvSpPr>
        <p:spPr>
          <a:xfrm>
            <a:off x="285750" y="200025"/>
            <a:ext cx="1883048" cy="260747"/>
          </a:xfrm>
          <a:prstGeom prst="roundRect">
            <a:avLst>
              <a:gd name="adj" fmla="val 50000"/>
            </a:avLst>
          </a:prstGeom>
          <a:solidFill>
            <a:srgbClr val="FFFFFF">
              <a:alpha val="37500"/>
            </a:srgbClr>
          </a:solidFill>
          <a:ln w="7144" algn="in">
            <a:solidFill>
              <a:srgbClr val="4A7C9B">
                <a:alpha val="1125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489362482-14"/>
          <p:cNvSpPr/>
          <p:nvPr/>
        </p:nvSpPr>
        <p:spPr>
          <a:xfrm>
            <a:off x="421481" y="288131"/>
            <a:ext cx="92869" cy="928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3500" y="4600"/>
                </a:moveTo>
                <a:lnTo>
                  <a:pt x="33500" y="4600"/>
                </a:lnTo>
                <a:cubicBezTo>
                  <a:pt x="33233" y="1800"/>
                  <a:pt x="31700" y="267"/>
                  <a:pt x="28900" y="0"/>
                </a:cubicBezTo>
                <a:lnTo>
                  <a:pt x="28900" y="0"/>
                </a:lnTo>
                <a:cubicBezTo>
                  <a:pt x="26167" y="267"/>
                  <a:pt x="24667" y="1800"/>
                  <a:pt x="24400" y="4600"/>
                </a:cubicBezTo>
                <a:lnTo>
                  <a:pt x="24400" y="4600"/>
                </a:lnTo>
                <a:lnTo>
                  <a:pt x="24400" y="12200"/>
                </a:lnTo>
                <a:cubicBezTo>
                  <a:pt x="20933" y="12333"/>
                  <a:pt x="18067" y="13533"/>
                  <a:pt x="15800" y="15800"/>
                </a:cubicBezTo>
                <a:lnTo>
                  <a:pt x="15800" y="15800"/>
                </a:lnTo>
                <a:cubicBezTo>
                  <a:pt x="13533" y="18067"/>
                  <a:pt x="12333" y="20933"/>
                  <a:pt x="12200" y="24400"/>
                </a:cubicBezTo>
                <a:lnTo>
                  <a:pt x="12200" y="24400"/>
                </a:lnTo>
                <a:lnTo>
                  <a:pt x="4600" y="24400"/>
                </a:lnTo>
                <a:cubicBezTo>
                  <a:pt x="1800" y="24667"/>
                  <a:pt x="267" y="26167"/>
                  <a:pt x="0" y="28900"/>
                </a:cubicBezTo>
                <a:lnTo>
                  <a:pt x="0" y="28900"/>
                </a:lnTo>
                <a:cubicBezTo>
                  <a:pt x="267" y="31700"/>
                  <a:pt x="1800" y="33233"/>
                  <a:pt x="4600" y="33500"/>
                </a:cubicBezTo>
                <a:lnTo>
                  <a:pt x="4600" y="33500"/>
                </a:lnTo>
                <a:lnTo>
                  <a:pt x="12200" y="33500"/>
                </a:lnTo>
                <a:lnTo>
                  <a:pt x="12200" y="44200"/>
                </a:lnTo>
                <a:lnTo>
                  <a:pt x="4600" y="44200"/>
                </a:lnTo>
                <a:cubicBezTo>
                  <a:pt x="1800" y="44467"/>
                  <a:pt x="267" y="46000"/>
                  <a:pt x="0" y="48800"/>
                </a:cubicBezTo>
                <a:lnTo>
                  <a:pt x="0" y="48800"/>
                </a:lnTo>
                <a:cubicBezTo>
                  <a:pt x="267" y="51533"/>
                  <a:pt x="1800" y="53033"/>
                  <a:pt x="4600" y="53300"/>
                </a:cubicBezTo>
                <a:lnTo>
                  <a:pt x="4600" y="53300"/>
                </a:lnTo>
                <a:lnTo>
                  <a:pt x="12200" y="53300"/>
                </a:lnTo>
                <a:lnTo>
                  <a:pt x="12200" y="64000"/>
                </a:lnTo>
                <a:lnTo>
                  <a:pt x="4600" y="64000"/>
                </a:lnTo>
                <a:cubicBezTo>
                  <a:pt x="1800" y="64267"/>
                  <a:pt x="267" y="65800"/>
                  <a:pt x="0" y="68600"/>
                </a:cubicBezTo>
                <a:lnTo>
                  <a:pt x="0" y="68600"/>
                </a:lnTo>
                <a:cubicBezTo>
                  <a:pt x="267" y="71333"/>
                  <a:pt x="1800" y="72833"/>
                  <a:pt x="4600" y="73100"/>
                </a:cubicBezTo>
                <a:lnTo>
                  <a:pt x="4600" y="73100"/>
                </a:lnTo>
                <a:lnTo>
                  <a:pt x="12200" y="73100"/>
                </a:lnTo>
                <a:cubicBezTo>
                  <a:pt x="12333" y="76567"/>
                  <a:pt x="13533" y="79433"/>
                  <a:pt x="15800" y="81700"/>
                </a:cubicBezTo>
                <a:lnTo>
                  <a:pt x="15800" y="81700"/>
                </a:lnTo>
                <a:cubicBezTo>
                  <a:pt x="18067" y="83967"/>
                  <a:pt x="20933" y="85167"/>
                  <a:pt x="24400" y="85300"/>
                </a:cubicBezTo>
                <a:lnTo>
                  <a:pt x="24400" y="85300"/>
                </a:lnTo>
                <a:lnTo>
                  <a:pt x="24400" y="92900"/>
                </a:lnTo>
                <a:cubicBezTo>
                  <a:pt x="24667" y="95700"/>
                  <a:pt x="26167" y="97233"/>
                  <a:pt x="28900" y="97500"/>
                </a:cubicBezTo>
                <a:lnTo>
                  <a:pt x="28900" y="97500"/>
                </a:lnTo>
                <a:cubicBezTo>
                  <a:pt x="31700" y="97233"/>
                  <a:pt x="33233" y="95700"/>
                  <a:pt x="33500" y="92900"/>
                </a:cubicBezTo>
                <a:lnTo>
                  <a:pt x="33500" y="92900"/>
                </a:lnTo>
                <a:lnTo>
                  <a:pt x="33500" y="85300"/>
                </a:lnTo>
                <a:lnTo>
                  <a:pt x="44200" y="85300"/>
                </a:lnTo>
                <a:lnTo>
                  <a:pt x="44200" y="92900"/>
                </a:lnTo>
                <a:cubicBezTo>
                  <a:pt x="44467" y="95700"/>
                  <a:pt x="46000" y="97233"/>
                  <a:pt x="48800" y="97500"/>
                </a:cubicBezTo>
                <a:lnTo>
                  <a:pt x="48800" y="97500"/>
                </a:lnTo>
                <a:cubicBezTo>
                  <a:pt x="51533" y="97233"/>
                  <a:pt x="53033" y="95700"/>
                  <a:pt x="53300" y="92900"/>
                </a:cubicBezTo>
                <a:lnTo>
                  <a:pt x="53300" y="92900"/>
                </a:lnTo>
                <a:lnTo>
                  <a:pt x="53300" y="85300"/>
                </a:lnTo>
                <a:lnTo>
                  <a:pt x="64000" y="85300"/>
                </a:lnTo>
                <a:lnTo>
                  <a:pt x="64000" y="92900"/>
                </a:lnTo>
                <a:cubicBezTo>
                  <a:pt x="64267" y="95700"/>
                  <a:pt x="65800" y="97233"/>
                  <a:pt x="68600" y="97500"/>
                </a:cubicBezTo>
                <a:lnTo>
                  <a:pt x="68600" y="97500"/>
                </a:lnTo>
                <a:cubicBezTo>
                  <a:pt x="71333" y="97233"/>
                  <a:pt x="72833" y="95700"/>
                  <a:pt x="73100" y="92900"/>
                </a:cubicBezTo>
                <a:lnTo>
                  <a:pt x="73100" y="92900"/>
                </a:lnTo>
                <a:lnTo>
                  <a:pt x="73100" y="85300"/>
                </a:lnTo>
                <a:cubicBezTo>
                  <a:pt x="76567" y="85167"/>
                  <a:pt x="79433" y="83967"/>
                  <a:pt x="81700" y="81700"/>
                </a:cubicBezTo>
                <a:lnTo>
                  <a:pt x="81700" y="81700"/>
                </a:lnTo>
                <a:cubicBezTo>
                  <a:pt x="83967" y="79433"/>
                  <a:pt x="85167" y="76567"/>
                  <a:pt x="85300" y="73100"/>
                </a:cubicBezTo>
                <a:lnTo>
                  <a:pt x="85300" y="73100"/>
                </a:lnTo>
                <a:lnTo>
                  <a:pt x="92900" y="73100"/>
                </a:lnTo>
                <a:cubicBezTo>
                  <a:pt x="95700" y="72833"/>
                  <a:pt x="97233" y="71333"/>
                  <a:pt x="97500" y="68600"/>
                </a:cubicBezTo>
                <a:lnTo>
                  <a:pt x="97500" y="68600"/>
                </a:lnTo>
                <a:cubicBezTo>
                  <a:pt x="97233" y="65800"/>
                  <a:pt x="95700" y="64267"/>
                  <a:pt x="92900" y="64000"/>
                </a:cubicBezTo>
                <a:lnTo>
                  <a:pt x="92900" y="64000"/>
                </a:lnTo>
                <a:lnTo>
                  <a:pt x="85300" y="64000"/>
                </a:lnTo>
                <a:lnTo>
                  <a:pt x="85300" y="53300"/>
                </a:lnTo>
                <a:lnTo>
                  <a:pt x="92900" y="53300"/>
                </a:lnTo>
                <a:cubicBezTo>
                  <a:pt x="95700" y="53033"/>
                  <a:pt x="97233" y="51533"/>
                  <a:pt x="97500" y="48800"/>
                </a:cubicBezTo>
                <a:lnTo>
                  <a:pt x="97500" y="48800"/>
                </a:lnTo>
                <a:cubicBezTo>
                  <a:pt x="97233" y="46000"/>
                  <a:pt x="95700" y="44467"/>
                  <a:pt x="92900" y="44200"/>
                </a:cubicBezTo>
                <a:lnTo>
                  <a:pt x="92900" y="44200"/>
                </a:lnTo>
                <a:lnTo>
                  <a:pt x="85300" y="44200"/>
                </a:lnTo>
                <a:lnTo>
                  <a:pt x="85300" y="33500"/>
                </a:lnTo>
                <a:lnTo>
                  <a:pt x="92900" y="33500"/>
                </a:lnTo>
                <a:cubicBezTo>
                  <a:pt x="95700" y="33233"/>
                  <a:pt x="97233" y="31700"/>
                  <a:pt x="97500" y="28900"/>
                </a:cubicBezTo>
                <a:lnTo>
                  <a:pt x="97500" y="28900"/>
                </a:lnTo>
                <a:cubicBezTo>
                  <a:pt x="97233" y="26167"/>
                  <a:pt x="95700" y="24667"/>
                  <a:pt x="92900" y="24400"/>
                </a:cubicBezTo>
                <a:lnTo>
                  <a:pt x="92900" y="24400"/>
                </a:lnTo>
                <a:lnTo>
                  <a:pt x="85300" y="24400"/>
                </a:lnTo>
                <a:cubicBezTo>
                  <a:pt x="85167" y="20933"/>
                  <a:pt x="83967" y="18067"/>
                  <a:pt x="81700" y="15800"/>
                </a:cubicBezTo>
                <a:lnTo>
                  <a:pt x="81700" y="15800"/>
                </a:lnTo>
                <a:cubicBezTo>
                  <a:pt x="79433" y="13533"/>
                  <a:pt x="76567" y="12333"/>
                  <a:pt x="73100" y="12200"/>
                </a:cubicBezTo>
                <a:lnTo>
                  <a:pt x="73100" y="12200"/>
                </a:lnTo>
                <a:lnTo>
                  <a:pt x="73100" y="4600"/>
                </a:lnTo>
                <a:cubicBezTo>
                  <a:pt x="72833" y="1800"/>
                  <a:pt x="71333" y="267"/>
                  <a:pt x="68600" y="0"/>
                </a:cubicBezTo>
                <a:lnTo>
                  <a:pt x="68600" y="0"/>
                </a:lnTo>
                <a:cubicBezTo>
                  <a:pt x="65800" y="267"/>
                  <a:pt x="64267" y="1800"/>
                  <a:pt x="64000" y="4600"/>
                </a:cubicBezTo>
                <a:lnTo>
                  <a:pt x="64000" y="4600"/>
                </a:lnTo>
                <a:lnTo>
                  <a:pt x="64000" y="12200"/>
                </a:lnTo>
                <a:lnTo>
                  <a:pt x="53300" y="12200"/>
                </a:lnTo>
                <a:lnTo>
                  <a:pt x="53300" y="4600"/>
                </a:lnTo>
                <a:cubicBezTo>
                  <a:pt x="53033" y="1800"/>
                  <a:pt x="51533" y="267"/>
                  <a:pt x="48800" y="0"/>
                </a:cubicBezTo>
                <a:lnTo>
                  <a:pt x="48800" y="0"/>
                </a:lnTo>
                <a:cubicBezTo>
                  <a:pt x="46000" y="267"/>
                  <a:pt x="44467" y="1800"/>
                  <a:pt x="44200" y="4600"/>
                </a:cubicBezTo>
                <a:lnTo>
                  <a:pt x="44200" y="4600"/>
                </a:lnTo>
                <a:lnTo>
                  <a:pt x="44200" y="12200"/>
                </a:lnTo>
                <a:lnTo>
                  <a:pt x="33500" y="12200"/>
                </a:lnTo>
                <a:lnTo>
                  <a:pt x="33500" y="4600"/>
                </a:lnTo>
                <a:moveTo>
                  <a:pt x="30500" y="24400"/>
                </a:moveTo>
                <a:lnTo>
                  <a:pt x="30500" y="24400"/>
                </a:lnTo>
                <a:lnTo>
                  <a:pt x="67000" y="24400"/>
                </a:lnTo>
                <a:cubicBezTo>
                  <a:pt x="68800" y="24400"/>
                  <a:pt x="70267" y="24967"/>
                  <a:pt x="71400" y="26100"/>
                </a:cubicBezTo>
                <a:lnTo>
                  <a:pt x="71400" y="26100"/>
                </a:lnTo>
                <a:cubicBezTo>
                  <a:pt x="72533" y="27233"/>
                  <a:pt x="73100" y="28700"/>
                  <a:pt x="73100" y="30500"/>
                </a:cubicBezTo>
                <a:lnTo>
                  <a:pt x="73100" y="30500"/>
                </a:lnTo>
                <a:lnTo>
                  <a:pt x="73100" y="67000"/>
                </a:lnTo>
                <a:cubicBezTo>
                  <a:pt x="73100" y="68800"/>
                  <a:pt x="72533" y="70267"/>
                  <a:pt x="71400" y="71400"/>
                </a:cubicBezTo>
                <a:lnTo>
                  <a:pt x="71400" y="71400"/>
                </a:lnTo>
                <a:cubicBezTo>
                  <a:pt x="70267" y="72533"/>
                  <a:pt x="68800" y="73100"/>
                  <a:pt x="67000" y="73100"/>
                </a:cubicBezTo>
                <a:lnTo>
                  <a:pt x="67000" y="73100"/>
                </a:lnTo>
                <a:lnTo>
                  <a:pt x="30500" y="73100"/>
                </a:lnTo>
                <a:cubicBezTo>
                  <a:pt x="28700" y="73100"/>
                  <a:pt x="27233" y="72533"/>
                  <a:pt x="26100" y="71400"/>
                </a:cubicBezTo>
                <a:lnTo>
                  <a:pt x="26100" y="71400"/>
                </a:lnTo>
                <a:cubicBezTo>
                  <a:pt x="24967" y="70267"/>
                  <a:pt x="24400" y="68800"/>
                  <a:pt x="24400" y="67000"/>
                </a:cubicBezTo>
                <a:lnTo>
                  <a:pt x="24400" y="67000"/>
                </a:lnTo>
                <a:lnTo>
                  <a:pt x="24400" y="30500"/>
                </a:lnTo>
                <a:cubicBezTo>
                  <a:pt x="24400" y="28700"/>
                  <a:pt x="24967" y="27233"/>
                  <a:pt x="26100" y="26100"/>
                </a:cubicBezTo>
                <a:lnTo>
                  <a:pt x="26100" y="26100"/>
                </a:lnTo>
                <a:cubicBezTo>
                  <a:pt x="27233" y="24967"/>
                  <a:pt x="28700" y="24400"/>
                  <a:pt x="30500" y="24400"/>
                </a:cubicBezTo>
                <a:lnTo>
                  <a:pt x="30500" y="24400"/>
                </a:lnTo>
                <a:moveTo>
                  <a:pt x="67000" y="30500"/>
                </a:moveTo>
                <a:lnTo>
                  <a:pt x="67000" y="30500"/>
                </a:lnTo>
                <a:lnTo>
                  <a:pt x="30500" y="30500"/>
                </a:lnTo>
                <a:lnTo>
                  <a:pt x="30500" y="67000"/>
                </a:lnTo>
                <a:lnTo>
                  <a:pt x="67000" y="67000"/>
                </a:lnTo>
                <a:lnTo>
                  <a:pt x="67000" y="30500"/>
                </a:lnTo>
              </a:path>
            </a:pathLst>
          </a:custGeom>
          <a:solidFill>
            <a:srgbClr val="4A7C9B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489362433-4"/>
          <p:cNvSpPr txBox="1"/>
          <p:nvPr/>
        </p:nvSpPr>
        <p:spPr>
          <a:xfrm>
            <a:off x="421481" y="250031"/>
            <a:ext cx="1800895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53035" algn="l">
              <a:lnSpc>
                <a:spcPct val="100000"/>
              </a:lnSpc>
            </a:pPr>
            <a:r>
              <a:rPr sz="840" spc="25">
                <a:solidFill>
                  <a:srgbClr val="4A7C9B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存算一体 · 非线性鲁棒性研究</a:t>
            </a:r>
            <a:endParaRPr sz="840" spc="25">
              <a:solidFill>
                <a:srgbClr val="4A7C9B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2790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2793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2794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62797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62795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62798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62809-10"/>
          <p:cNvSpPr/>
          <p:nvPr/>
        </p:nvSpPr>
        <p:spPr>
          <a:xfrm>
            <a:off x="400050" y="1353890"/>
            <a:ext cx="8343900" cy="6000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62813-14"/>
          <p:cNvCxnSpPr/>
          <p:nvPr/>
        </p:nvCxnSpPr>
        <p:spPr>
          <a:xfrm>
            <a:off x="421481" y="1353890"/>
            <a:ext cx="914" cy="600001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62841-23"/>
          <p:cNvSpPr/>
          <p:nvPr/>
        </p:nvSpPr>
        <p:spPr>
          <a:xfrm>
            <a:off x="642938" y="1525265"/>
            <a:ext cx="257175" cy="257175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489362810-11"/>
          <p:cNvSpPr/>
          <p:nvPr/>
        </p:nvSpPr>
        <p:spPr>
          <a:xfrm>
            <a:off x="400050" y="2061046"/>
            <a:ext cx="8343900" cy="6000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5489362814-15"/>
          <p:cNvCxnSpPr/>
          <p:nvPr/>
        </p:nvCxnSpPr>
        <p:spPr>
          <a:xfrm>
            <a:off x="421481" y="2061046"/>
            <a:ext cx="914" cy="600001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489362845-26"/>
          <p:cNvSpPr/>
          <p:nvPr/>
        </p:nvSpPr>
        <p:spPr>
          <a:xfrm>
            <a:off x="642938" y="2232422"/>
            <a:ext cx="257175" cy="257175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489362811-12"/>
          <p:cNvSpPr/>
          <p:nvPr/>
        </p:nvSpPr>
        <p:spPr>
          <a:xfrm>
            <a:off x="400050" y="2768203"/>
            <a:ext cx="8343900" cy="6000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62814-16"/>
          <p:cNvCxnSpPr/>
          <p:nvPr/>
        </p:nvCxnSpPr>
        <p:spPr>
          <a:xfrm>
            <a:off x="421481" y="2768203"/>
            <a:ext cx="914" cy="600001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62848-29"/>
          <p:cNvSpPr/>
          <p:nvPr/>
        </p:nvSpPr>
        <p:spPr>
          <a:xfrm>
            <a:off x="642938" y="2939579"/>
            <a:ext cx="257175" cy="257175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489362812-13"/>
          <p:cNvSpPr/>
          <p:nvPr/>
        </p:nvSpPr>
        <p:spPr>
          <a:xfrm>
            <a:off x="400050" y="3475360"/>
            <a:ext cx="8343900" cy="6000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8" name="el-1785489362815-17"/>
          <p:cNvCxnSpPr/>
          <p:nvPr/>
        </p:nvCxnSpPr>
        <p:spPr>
          <a:xfrm>
            <a:off x="421481" y="3475360"/>
            <a:ext cx="914" cy="600001"/>
          </a:xfrm>
          <a:prstGeom prst="line">
            <a:avLst/>
          </a:prstGeom>
          <a:ln w="42863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5489362853-32"/>
          <p:cNvSpPr/>
          <p:nvPr/>
        </p:nvSpPr>
        <p:spPr>
          <a:xfrm>
            <a:off x="642938" y="3646736"/>
            <a:ext cx="257175" cy="257175"/>
          </a:xfrm>
          <a:prstGeom prst="ellipse">
            <a:avLst/>
          </a:pr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489362801-8"/>
          <p:cNvSpPr txBox="1"/>
          <p:nvPr/>
        </p:nvSpPr>
        <p:spPr>
          <a:xfrm>
            <a:off x="400050" y="117872"/>
            <a:ext cx="1414463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核心结论</a:t>
            </a: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速览</a:t>
            </a:r>
            <a:endParaRPr sz="16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62839-22"/>
          <p:cNvSpPr txBox="1"/>
          <p:nvPr/>
        </p:nvSpPr>
        <p:spPr>
          <a:xfrm>
            <a:off x="578644" y="1525265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01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62842-24"/>
          <p:cNvSpPr txBox="1"/>
          <p:nvPr/>
        </p:nvSpPr>
        <p:spPr>
          <a:xfrm>
            <a:off x="1114425" y="1453902"/>
            <a:ext cx="7493794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失真破坏规律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62829-18"/>
          <p:cNvSpPr txBox="1"/>
          <p:nvPr/>
        </p:nvSpPr>
        <p:spPr>
          <a:xfrm>
            <a:off x="1114425" y="1648197"/>
            <a:ext cx="7493794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正向失真破坏力约为负向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3.4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倍；误差呈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“浅层免疫-深层累积-fc层爆发”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模式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62843-25"/>
          <p:cNvSpPr txBox="1"/>
          <p:nvPr/>
        </p:nvSpPr>
        <p:spPr>
          <a:xfrm>
            <a:off x="578644" y="2232422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1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62846-27"/>
          <p:cNvSpPr txBox="1"/>
          <p:nvPr/>
        </p:nvSpPr>
        <p:spPr>
          <a:xfrm>
            <a:off x="1114425" y="2161059"/>
            <a:ext cx="7493794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架构决定上限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62832-19"/>
          <p:cNvSpPr txBox="1"/>
          <p:nvPr/>
        </p:nvSpPr>
        <p:spPr>
          <a:xfrm>
            <a:off x="1114425" y="2355354"/>
            <a:ext cx="7493794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残差网络对非线性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最脆弱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，纯前馈浅层网络鲁棒性最优；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架构选择比参数量重要得多</a:t>
            </a:r>
            <a:endParaRPr sz="101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62847-28"/>
          <p:cNvSpPr txBox="1"/>
          <p:nvPr/>
        </p:nvSpPr>
        <p:spPr>
          <a:xfrm>
            <a:off x="578644" y="2939579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1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62849-30"/>
          <p:cNvSpPr txBox="1"/>
          <p:nvPr/>
        </p:nvSpPr>
        <p:spPr>
          <a:xfrm>
            <a:off x="1114425" y="2868216"/>
            <a:ext cx="7493794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算法防御边界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62835-20"/>
          <p:cNvSpPr txBox="1"/>
          <p:nvPr/>
        </p:nvSpPr>
        <p:spPr>
          <a:xfrm>
            <a:off x="1114425" y="3062511"/>
            <a:ext cx="7493794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NAT 是有效基线手段，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分层加权+残差校准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可实现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37.6%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相对改善；存在策略-架构匹配规律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l-1785489362851-31"/>
          <p:cNvSpPr txBox="1"/>
          <p:nvPr/>
        </p:nvSpPr>
        <p:spPr>
          <a:xfrm>
            <a:off x="578644" y="3646736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1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l-1785489362853-33"/>
          <p:cNvSpPr txBox="1"/>
          <p:nvPr/>
        </p:nvSpPr>
        <p:spPr>
          <a:xfrm>
            <a:off x="1114425" y="3575373"/>
            <a:ext cx="7493794" cy="1800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多误差耦合</a:t>
            </a:r>
            <a:endParaRPr sz="101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l-1785489362838-21"/>
          <p:cNvSpPr txBox="1"/>
          <p:nvPr/>
        </p:nvSpPr>
        <p:spPr>
          <a:xfrm>
            <a:off x="1114425" y="3769668"/>
            <a:ext cx="7493794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三种联合效应对应不同优化路径；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Dithering 效应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为低精度 ADC 提供了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“变废为宝”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的可能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l-1785489362803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30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4" name="el-1785489362787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2903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2905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2906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62910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62907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62910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62932-10"/>
          <p:cNvSpPr/>
          <p:nvPr/>
        </p:nvSpPr>
        <p:spPr>
          <a:xfrm>
            <a:off x="400050" y="13858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62943-22"/>
          <p:cNvCxnSpPr/>
          <p:nvPr/>
        </p:nvCxnSpPr>
        <p:spPr>
          <a:xfrm>
            <a:off x="414338" y="1385888"/>
            <a:ext cx="914" cy="371475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62933-11"/>
          <p:cNvSpPr/>
          <p:nvPr/>
        </p:nvSpPr>
        <p:spPr>
          <a:xfrm>
            <a:off x="400050" y="18430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62944-23"/>
          <p:cNvCxnSpPr/>
          <p:nvPr/>
        </p:nvCxnSpPr>
        <p:spPr>
          <a:xfrm>
            <a:off x="414338" y="1843088"/>
            <a:ext cx="914" cy="371475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62935-12"/>
          <p:cNvSpPr/>
          <p:nvPr/>
        </p:nvSpPr>
        <p:spPr>
          <a:xfrm>
            <a:off x="400050" y="23002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62944-24"/>
          <p:cNvCxnSpPr/>
          <p:nvPr/>
        </p:nvCxnSpPr>
        <p:spPr>
          <a:xfrm>
            <a:off x="414338" y="2300288"/>
            <a:ext cx="914" cy="371475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62936-13"/>
          <p:cNvSpPr/>
          <p:nvPr/>
        </p:nvSpPr>
        <p:spPr>
          <a:xfrm>
            <a:off x="400050" y="27574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62944-25"/>
          <p:cNvCxnSpPr/>
          <p:nvPr/>
        </p:nvCxnSpPr>
        <p:spPr>
          <a:xfrm>
            <a:off x="414338" y="2757488"/>
            <a:ext cx="914" cy="371475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62937-14"/>
          <p:cNvSpPr/>
          <p:nvPr/>
        </p:nvSpPr>
        <p:spPr>
          <a:xfrm>
            <a:off x="400050" y="32146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489362945-26"/>
          <p:cNvCxnSpPr/>
          <p:nvPr/>
        </p:nvCxnSpPr>
        <p:spPr>
          <a:xfrm>
            <a:off x="414338" y="3214688"/>
            <a:ext cx="914" cy="371475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489362938-15"/>
          <p:cNvSpPr/>
          <p:nvPr/>
        </p:nvSpPr>
        <p:spPr>
          <a:xfrm>
            <a:off x="400050" y="36718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489362945-27"/>
          <p:cNvCxnSpPr/>
          <p:nvPr/>
        </p:nvCxnSpPr>
        <p:spPr>
          <a:xfrm>
            <a:off x="414338" y="3671888"/>
            <a:ext cx="914" cy="371475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489362939-16"/>
          <p:cNvSpPr/>
          <p:nvPr/>
        </p:nvSpPr>
        <p:spPr>
          <a:xfrm>
            <a:off x="4714875" y="13858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489362946-28"/>
          <p:cNvCxnSpPr/>
          <p:nvPr/>
        </p:nvCxnSpPr>
        <p:spPr>
          <a:xfrm>
            <a:off x="4729163" y="1385888"/>
            <a:ext cx="914" cy="371475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489362940-17"/>
          <p:cNvSpPr/>
          <p:nvPr/>
        </p:nvSpPr>
        <p:spPr>
          <a:xfrm>
            <a:off x="4714875" y="18430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3" name="el-1785489362947-29"/>
          <p:cNvCxnSpPr/>
          <p:nvPr/>
        </p:nvCxnSpPr>
        <p:spPr>
          <a:xfrm>
            <a:off x="4729163" y="1843088"/>
            <a:ext cx="914" cy="371475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489362941-18"/>
          <p:cNvSpPr/>
          <p:nvPr/>
        </p:nvSpPr>
        <p:spPr>
          <a:xfrm>
            <a:off x="4714875" y="23002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5" name="el-1785489362947-30"/>
          <p:cNvCxnSpPr/>
          <p:nvPr/>
        </p:nvCxnSpPr>
        <p:spPr>
          <a:xfrm>
            <a:off x="4729163" y="2300288"/>
            <a:ext cx="914" cy="371475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5489362942-19"/>
          <p:cNvSpPr/>
          <p:nvPr/>
        </p:nvSpPr>
        <p:spPr>
          <a:xfrm>
            <a:off x="4714875" y="27574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7" name="el-1785489362948-31"/>
          <p:cNvCxnSpPr/>
          <p:nvPr/>
        </p:nvCxnSpPr>
        <p:spPr>
          <a:xfrm>
            <a:off x="4729163" y="2757488"/>
            <a:ext cx="914" cy="371475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-1785489362943-20"/>
          <p:cNvSpPr/>
          <p:nvPr/>
        </p:nvSpPr>
        <p:spPr>
          <a:xfrm>
            <a:off x="4714875" y="32146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9" name="el-1785489362949-32"/>
          <p:cNvCxnSpPr/>
          <p:nvPr/>
        </p:nvCxnSpPr>
        <p:spPr>
          <a:xfrm>
            <a:off x="4729163" y="3214688"/>
            <a:ext cx="914" cy="371475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489362943-21"/>
          <p:cNvSpPr/>
          <p:nvPr/>
        </p:nvSpPr>
        <p:spPr>
          <a:xfrm>
            <a:off x="4714875" y="3671888"/>
            <a:ext cx="4029075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1" name="el-1785489362950-33"/>
          <p:cNvCxnSpPr/>
          <p:nvPr/>
        </p:nvCxnSpPr>
        <p:spPr>
          <a:xfrm>
            <a:off x="4729163" y="3671888"/>
            <a:ext cx="914" cy="371475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5489362916-8"/>
          <p:cNvSpPr txBox="1"/>
          <p:nvPr/>
        </p:nvSpPr>
        <p:spPr>
          <a:xfrm>
            <a:off x="400050" y="117872"/>
            <a:ext cx="1632347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核心数据</a:t>
            </a: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速查表</a:t>
            </a:r>
            <a:endParaRPr sz="1680" b="1" spc="28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l-1785489362971-40"/>
          <p:cNvSpPr txBox="1"/>
          <p:nvPr/>
        </p:nvSpPr>
        <p:spPr>
          <a:xfrm>
            <a:off x="542925" y="1471613"/>
            <a:ext cx="395763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最优方案 α=+0.3 精度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l-1785489362971-41"/>
          <p:cNvSpPr txBox="1"/>
          <p:nvPr/>
        </p:nvSpPr>
        <p:spPr>
          <a:xfrm>
            <a:off x="542925" y="1928813"/>
            <a:ext cx="395763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相对原始模型累计提升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l-1785489362972-42"/>
          <p:cNvSpPr txBox="1"/>
          <p:nvPr/>
        </p:nvSpPr>
        <p:spPr>
          <a:xfrm>
            <a:off x="542925" y="2386013"/>
            <a:ext cx="395763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精度跌幅相对改善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l-1785489362973-43"/>
          <p:cNvSpPr txBox="1"/>
          <p:nvPr/>
        </p:nvSpPr>
        <p:spPr>
          <a:xfrm>
            <a:off x="542925" y="2843213"/>
            <a:ext cx="395763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三模型 α=+0.3 干净精度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l-1785489362973-44"/>
          <p:cNvSpPr txBox="1"/>
          <p:nvPr/>
        </p:nvSpPr>
        <p:spPr>
          <a:xfrm>
            <a:off x="542925" y="3300413"/>
            <a:ext cx="395763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NAT-Scratch 提升幅度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el-1785489362974-45"/>
          <p:cNvSpPr txBox="1"/>
          <p:nvPr/>
        </p:nvSpPr>
        <p:spPr>
          <a:xfrm>
            <a:off x="542925" y="3757613"/>
            <a:ext cx="395763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Dithering 效应最大增益</a:t>
            </a:r>
            <a:endParaRPr sz="112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l-1785489362959-34"/>
          <p:cNvSpPr txBox="1"/>
          <p:nvPr/>
        </p:nvSpPr>
        <p:spPr>
          <a:xfrm>
            <a:off x="4886325" y="1469455"/>
            <a:ext cx="3821906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68.76%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(SimpleCNN Exp2)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l-1785489362961-35"/>
          <p:cNvSpPr txBox="1"/>
          <p:nvPr/>
        </p:nvSpPr>
        <p:spPr>
          <a:xfrm>
            <a:off x="4886325" y="1926655"/>
            <a:ext cx="3821906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13.68</a:t>
            </a:r>
            <a:r>
              <a:rPr sz="60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 </a:t>
            </a:r>
            <a:r>
              <a:rPr sz="101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pp</a:t>
            </a:r>
            <a:endParaRPr sz="101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l-1785489362962-36"/>
          <p:cNvSpPr txBox="1"/>
          <p:nvPr/>
        </p:nvSpPr>
        <p:spPr>
          <a:xfrm>
            <a:off x="4886325" y="2383855"/>
            <a:ext cx="3821906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37.6%</a:t>
            </a:r>
            <a:endParaRPr sz="1230" b="1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el-1785489362965-37"/>
          <p:cNvSpPr txBox="1"/>
          <p:nvPr/>
        </p:nvSpPr>
        <p:spPr>
          <a:xfrm>
            <a:off x="4886325" y="2841055"/>
            <a:ext cx="3821906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55.08%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/ 36.70% / 17.08%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l-1785489362968-38"/>
          <p:cNvSpPr txBox="1"/>
          <p:nvPr/>
        </p:nvSpPr>
        <p:spPr>
          <a:xfrm>
            <a:off x="4886325" y="3298255"/>
            <a:ext cx="3821906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+9.15%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/ +8.04% / −1.44%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el-1785489362970-39"/>
          <p:cNvSpPr txBox="1"/>
          <p:nvPr/>
        </p:nvSpPr>
        <p:spPr>
          <a:xfrm>
            <a:off x="4886325" y="3755455"/>
            <a:ext cx="3821906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+6.53%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(VGG-11, 4bit)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el-1785489362918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31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6" name="el-1785489362900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3279-2"/>
          <p:cNvSpPr/>
          <p:nvPr/>
        </p:nvSpPr>
        <p:spPr>
          <a:xfrm>
            <a:off x="8001000" y="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6104"/>
                </a:moveTo>
                <a:lnTo>
                  <a:pt x="96775" y="97126"/>
                </a:lnTo>
                <a:lnTo>
                  <a:pt x="89633" y="98719"/>
                </a:lnTo>
                <a:lnTo>
                  <a:pt x="82350" y="99681"/>
                </a:lnTo>
                <a:lnTo>
                  <a:pt x="75000" y="100000"/>
                </a:lnTo>
                <a:lnTo>
                  <a:pt x="67650" y="99681"/>
                </a:lnTo>
                <a:lnTo>
                  <a:pt x="60367" y="98719"/>
                </a:lnTo>
                <a:lnTo>
                  <a:pt x="53225" y="97126"/>
                </a:lnTo>
                <a:lnTo>
                  <a:pt x="46300" y="94926"/>
                </a:lnTo>
                <a:lnTo>
                  <a:pt x="39642" y="92126"/>
                </a:lnTo>
                <a:lnTo>
                  <a:pt x="33333" y="88763"/>
                </a:lnTo>
                <a:lnTo>
                  <a:pt x="27417" y="84867"/>
                </a:lnTo>
                <a:lnTo>
                  <a:pt x="21967" y="80474"/>
                </a:lnTo>
                <a:lnTo>
                  <a:pt x="17025" y="75630"/>
                </a:lnTo>
                <a:lnTo>
                  <a:pt x="12642" y="70370"/>
                </a:lnTo>
                <a:lnTo>
                  <a:pt x="8858" y="64763"/>
                </a:lnTo>
                <a:lnTo>
                  <a:pt x="5708" y="58844"/>
                </a:lnTo>
                <a:lnTo>
                  <a:pt x="3233" y="52689"/>
                </a:lnTo>
                <a:lnTo>
                  <a:pt x="1442" y="46341"/>
                </a:lnTo>
                <a:lnTo>
                  <a:pt x="358" y="39867"/>
                </a:lnTo>
                <a:lnTo>
                  <a:pt x="0" y="33333"/>
                </a:lnTo>
                <a:lnTo>
                  <a:pt x="358" y="26800"/>
                </a:lnTo>
                <a:lnTo>
                  <a:pt x="1442" y="20326"/>
                </a:lnTo>
                <a:lnTo>
                  <a:pt x="3233" y="13978"/>
                </a:lnTo>
                <a:lnTo>
                  <a:pt x="5708" y="7822"/>
                </a:lnTo>
                <a:lnTo>
                  <a:pt x="8858" y="1904"/>
                </a:lnTo>
                <a:lnTo>
                  <a:pt x="10142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3281-3"/>
          <p:cNvSpPr/>
          <p:nvPr/>
        </p:nvSpPr>
        <p:spPr>
          <a:xfrm>
            <a:off x="0" y="4286250"/>
            <a:ext cx="785813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98" y="66667"/>
                </a:moveTo>
                <a:lnTo>
                  <a:pt x="99048" y="73200"/>
                </a:lnTo>
                <a:lnTo>
                  <a:pt x="98012" y="79678"/>
                </a:lnTo>
                <a:lnTo>
                  <a:pt x="96289" y="86022"/>
                </a:lnTo>
                <a:lnTo>
                  <a:pt x="93892" y="92178"/>
                </a:lnTo>
                <a:lnTo>
                  <a:pt x="90867" y="98089"/>
                </a:lnTo>
                <a:lnTo>
                  <a:pt x="89627" y="100000"/>
                </a:lnTo>
                <a:lnTo>
                  <a:pt x="0" y="100000"/>
                </a:lnTo>
                <a:lnTo>
                  <a:pt x="0" y="4889"/>
                </a:lnTo>
                <a:lnTo>
                  <a:pt x="6120" y="2867"/>
                </a:lnTo>
                <a:lnTo>
                  <a:pt x="13000" y="1278"/>
                </a:lnTo>
                <a:lnTo>
                  <a:pt x="20024" y="322"/>
                </a:lnTo>
                <a:lnTo>
                  <a:pt x="27108" y="0"/>
                </a:lnTo>
                <a:lnTo>
                  <a:pt x="34193" y="322"/>
                </a:lnTo>
                <a:lnTo>
                  <a:pt x="41217" y="1278"/>
                </a:lnTo>
                <a:lnTo>
                  <a:pt x="48096" y="2867"/>
                </a:lnTo>
                <a:lnTo>
                  <a:pt x="54771" y="5078"/>
                </a:lnTo>
                <a:lnTo>
                  <a:pt x="61181" y="7867"/>
                </a:lnTo>
                <a:lnTo>
                  <a:pt x="67265" y="11233"/>
                </a:lnTo>
                <a:lnTo>
                  <a:pt x="72964" y="15133"/>
                </a:lnTo>
                <a:lnTo>
                  <a:pt x="78229" y="19522"/>
                </a:lnTo>
                <a:lnTo>
                  <a:pt x="82988" y="24378"/>
                </a:lnTo>
                <a:lnTo>
                  <a:pt x="87217" y="29633"/>
                </a:lnTo>
                <a:lnTo>
                  <a:pt x="90867" y="35244"/>
                </a:lnTo>
                <a:lnTo>
                  <a:pt x="93892" y="41156"/>
                </a:lnTo>
                <a:lnTo>
                  <a:pt x="96289" y="47311"/>
                </a:lnTo>
                <a:lnTo>
                  <a:pt x="98012" y="53656"/>
                </a:lnTo>
                <a:lnTo>
                  <a:pt x="99048" y="60133"/>
                </a:lnTo>
                <a:close/>
              </a:path>
            </a:pathLst>
          </a:custGeom>
          <a:solidFill>
            <a:srgbClr val="B8C5D1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3282-4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489363285-6"/>
          <p:cNvCxnSpPr/>
          <p:nvPr/>
        </p:nvCxnSpPr>
        <p:spPr>
          <a:xfrm>
            <a:off x="0" y="564356"/>
            <a:ext cx="9144000" cy="914"/>
          </a:xfrm>
          <a:prstGeom prst="line">
            <a:avLst/>
          </a:prstGeom>
          <a:ln w="14288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489363283-5"/>
          <p:cNvSpPr/>
          <p:nvPr/>
        </p:nvSpPr>
        <p:spPr>
          <a:xfrm>
            <a:off x="0" y="4857750"/>
            <a:ext cx="9144000" cy="285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489363286-7"/>
          <p:cNvCxnSpPr/>
          <p:nvPr/>
        </p:nvCxnSpPr>
        <p:spPr>
          <a:xfrm>
            <a:off x="0" y="4861322"/>
            <a:ext cx="9144000" cy="914"/>
          </a:xfrm>
          <a:prstGeom prst="line">
            <a:avLst/>
          </a:prstGeom>
          <a:ln w="7144" cap="flat">
            <a:solidFill>
              <a:srgbClr val="D8D8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489363297-10"/>
          <p:cNvSpPr/>
          <p:nvPr/>
        </p:nvSpPr>
        <p:spPr>
          <a:xfrm>
            <a:off x="400050" y="1506066"/>
            <a:ext cx="4071938" cy="116569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489363301-14"/>
          <p:cNvCxnSpPr/>
          <p:nvPr/>
        </p:nvCxnSpPr>
        <p:spPr>
          <a:xfrm>
            <a:off x="414338" y="1506066"/>
            <a:ext cx="914" cy="1165696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489363298-11"/>
          <p:cNvSpPr/>
          <p:nvPr/>
        </p:nvSpPr>
        <p:spPr>
          <a:xfrm>
            <a:off x="4672013" y="1506066"/>
            <a:ext cx="4071938" cy="116569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489363301-15"/>
          <p:cNvCxnSpPr/>
          <p:nvPr/>
        </p:nvCxnSpPr>
        <p:spPr>
          <a:xfrm>
            <a:off x="4686300" y="1506066"/>
            <a:ext cx="914" cy="1165696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489363299-12"/>
          <p:cNvSpPr/>
          <p:nvPr/>
        </p:nvSpPr>
        <p:spPr>
          <a:xfrm>
            <a:off x="400050" y="2814638"/>
            <a:ext cx="4071938" cy="116569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489363302-16"/>
          <p:cNvCxnSpPr/>
          <p:nvPr/>
        </p:nvCxnSpPr>
        <p:spPr>
          <a:xfrm>
            <a:off x="414338" y="2814638"/>
            <a:ext cx="914" cy="1165696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489363300-13"/>
          <p:cNvSpPr/>
          <p:nvPr/>
        </p:nvSpPr>
        <p:spPr>
          <a:xfrm>
            <a:off x="4672013" y="2814638"/>
            <a:ext cx="4071938" cy="116569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F4E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489363303-17"/>
          <p:cNvCxnSpPr/>
          <p:nvPr/>
        </p:nvCxnSpPr>
        <p:spPr>
          <a:xfrm>
            <a:off x="4686300" y="2814638"/>
            <a:ext cx="914" cy="1165696"/>
          </a:xfrm>
          <a:prstGeom prst="line">
            <a:avLst/>
          </a:prstGeom>
          <a:ln w="28575" cap="flat">
            <a:solidFill>
              <a:srgbClr val="B8C5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489363290-8"/>
          <p:cNvSpPr txBox="1"/>
          <p:nvPr/>
        </p:nvSpPr>
        <p:spPr>
          <a:xfrm>
            <a:off x="400050" y="117872"/>
            <a:ext cx="1414463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未来工作</a:t>
            </a:r>
            <a:r>
              <a:rPr sz="1680" b="1" spc="28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展望</a:t>
            </a:r>
            <a:endParaRPr sz="1680" b="1" spc="28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l-1785489363316-22"/>
          <p:cNvSpPr txBox="1"/>
          <p:nvPr/>
        </p:nvSpPr>
        <p:spPr>
          <a:xfrm>
            <a:off x="600075" y="1648941"/>
            <a:ext cx="37504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方向 · 架构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63316-23"/>
          <p:cNvSpPr txBox="1"/>
          <p:nvPr/>
        </p:nvSpPr>
        <p:spPr>
          <a:xfrm>
            <a:off x="600075" y="1841823"/>
            <a:ext cx="3779044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分布式逐层校准</a:t>
            </a:r>
            <a:endParaRPr sz="123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63309-18"/>
          <p:cNvSpPr txBox="1"/>
          <p:nvPr/>
        </p:nvSpPr>
        <p:spPr>
          <a:xfrm>
            <a:off x="600075" y="2103239"/>
            <a:ext cx="3700463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探索针对残差网络的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分布式逐层校准模块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，从源头阻断误差放大；设计 CiM 专用鲁棒架构。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63317-24"/>
          <p:cNvSpPr txBox="1"/>
          <p:nvPr/>
        </p:nvSpPr>
        <p:spPr>
          <a:xfrm>
            <a:off x="4872038" y="1648941"/>
            <a:ext cx="37504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方向 · 策略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63318-25"/>
          <p:cNvSpPr txBox="1"/>
          <p:nvPr/>
        </p:nvSpPr>
        <p:spPr>
          <a:xfrm>
            <a:off x="4872038" y="1841823"/>
            <a:ext cx="3779044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自动分层 α 分配</a:t>
            </a:r>
            <a:endParaRPr sz="123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63311-19"/>
          <p:cNvSpPr txBox="1"/>
          <p:nvPr/>
        </p:nvSpPr>
        <p:spPr>
          <a:xfrm>
            <a:off x="4872038" y="2103239"/>
            <a:ext cx="3700463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研究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元学习驱动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的自动分层 α 分配，实现数据驱动的最优失真分配策略。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63319-26"/>
          <p:cNvSpPr txBox="1"/>
          <p:nvPr/>
        </p:nvSpPr>
        <p:spPr>
          <a:xfrm>
            <a:off x="600075" y="2957513"/>
            <a:ext cx="37504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方向 · 泛化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63319-27"/>
          <p:cNvSpPr txBox="1"/>
          <p:nvPr/>
        </p:nvSpPr>
        <p:spPr>
          <a:xfrm>
            <a:off x="600075" y="3150394"/>
            <a:ext cx="3779044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大规模任务验证</a:t>
            </a:r>
            <a:endParaRPr sz="123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l-1785489363313-20"/>
          <p:cNvSpPr txBox="1"/>
          <p:nvPr/>
        </p:nvSpPr>
        <p:spPr>
          <a:xfrm>
            <a:off x="600075" y="3411810"/>
            <a:ext cx="3700463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在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ImageNet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、目标检测等更复杂任务上验证结论的普适性与可迁移性。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l-1785489363320-28"/>
          <p:cNvSpPr txBox="1"/>
          <p:nvPr/>
        </p:nvSpPr>
        <p:spPr>
          <a:xfrm>
            <a:off x="4872038" y="2957513"/>
            <a:ext cx="37504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28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方向 · 硬件</a:t>
            </a:r>
            <a:endParaRPr sz="780" b="1" spc="28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l-1785489363321-29"/>
          <p:cNvSpPr txBox="1"/>
          <p:nvPr/>
        </p:nvSpPr>
        <p:spPr>
          <a:xfrm>
            <a:off x="4872038" y="3150394"/>
            <a:ext cx="3779044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算法-硬件协同闭环</a:t>
            </a:r>
            <a:endParaRPr sz="1230" b="1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l-1785489363315-21"/>
          <p:cNvSpPr txBox="1"/>
          <p:nvPr/>
        </p:nvSpPr>
        <p:spPr>
          <a:xfrm>
            <a:off x="4872038" y="3411810"/>
            <a:ext cx="3700463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结合真实 </a:t>
            </a:r>
            <a:r>
              <a:rPr sz="101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CiM 芯片</a:t>
            </a:r>
            <a:r>
              <a:rPr sz="10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测试数据校准模型，推动算法-硬件协同设计闭环验证。</a:t>
            </a:r>
            <a:endParaRPr sz="10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l-1785489363291-9"/>
          <p:cNvSpPr txBox="1"/>
          <p:nvPr/>
        </p:nvSpPr>
        <p:spPr>
          <a:xfrm>
            <a:off x="6872585" y="4929188"/>
            <a:ext cx="192137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存算一体芯片 · 非线性误差研究  |  </a:t>
            </a:r>
            <a:r>
              <a:rPr sz="780" b="1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32</a:t>
            </a:r>
            <a:r>
              <a:rPr sz="780">
                <a:solidFill>
                  <a:srgbClr val="9CA3AF"/>
                </a:solidFill>
                <a:latin typeface="微软雅黑"/>
                <a:ea typeface="微软雅黑"/>
                <a:cs typeface="微软雅黑"/>
              </a:rPr>
              <a:t> / 33</a:t>
            </a:r>
            <a:endParaRPr sz="780">
              <a:solidFill>
                <a:srgbClr val="9CA3A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0" name="el-1785489363277-1"/>
          <p:cNvCxnSpPr/>
          <p:nvPr/>
        </p:nvCxnSpPr>
        <p:spPr>
          <a:xfrm>
            <a:off x="14288" y="0"/>
            <a:ext cx="914" cy="571500"/>
          </a:xfrm>
          <a:prstGeom prst="line">
            <a:avLst/>
          </a:prstGeom>
          <a:ln w="28575" cap="flat">
            <a:solidFill>
              <a:srgbClr val="4A7C9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489363407-1"/>
          <p:cNvSpPr/>
          <p:nvPr/>
        </p:nvSpPr>
        <p:spPr>
          <a:xfrm>
            <a:off x="0" y="0"/>
            <a:ext cx="3214688" cy="4286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852" y="41667"/>
                </a:moveTo>
                <a:lnTo>
                  <a:pt x="99479" y="47384"/>
                </a:lnTo>
                <a:lnTo>
                  <a:pt x="98361" y="53047"/>
                </a:lnTo>
                <a:lnTo>
                  <a:pt x="96509" y="58600"/>
                </a:lnTo>
                <a:lnTo>
                  <a:pt x="93941" y="63989"/>
                </a:lnTo>
                <a:lnTo>
                  <a:pt x="90680" y="69164"/>
                </a:lnTo>
                <a:lnTo>
                  <a:pt x="86763" y="74076"/>
                </a:lnTo>
                <a:lnTo>
                  <a:pt x="82225" y="78673"/>
                </a:lnTo>
                <a:lnTo>
                  <a:pt x="77107" y="82916"/>
                </a:lnTo>
                <a:lnTo>
                  <a:pt x="71459" y="86760"/>
                </a:lnTo>
                <a:lnTo>
                  <a:pt x="65337" y="90169"/>
                </a:lnTo>
                <a:lnTo>
                  <a:pt x="58799" y="93111"/>
                </a:lnTo>
                <a:lnTo>
                  <a:pt x="51908" y="95560"/>
                </a:lnTo>
                <a:lnTo>
                  <a:pt x="44734" y="97489"/>
                </a:lnTo>
                <a:lnTo>
                  <a:pt x="37340" y="98880"/>
                </a:lnTo>
                <a:lnTo>
                  <a:pt x="29802" y="99720"/>
                </a:lnTo>
                <a:lnTo>
                  <a:pt x="22189" y="100000"/>
                </a:lnTo>
                <a:lnTo>
                  <a:pt x="14577" y="99720"/>
                </a:lnTo>
                <a:lnTo>
                  <a:pt x="7038" y="98880"/>
                </a:lnTo>
                <a:lnTo>
                  <a:pt x="0" y="97556"/>
                </a:lnTo>
                <a:lnTo>
                  <a:pt x="0" y="0"/>
                </a:lnTo>
                <a:lnTo>
                  <a:pt x="76494" y="0"/>
                </a:lnTo>
                <a:lnTo>
                  <a:pt x="77107" y="418"/>
                </a:lnTo>
                <a:lnTo>
                  <a:pt x="82225" y="4660"/>
                </a:lnTo>
                <a:lnTo>
                  <a:pt x="86763" y="9258"/>
                </a:lnTo>
                <a:lnTo>
                  <a:pt x="90680" y="14169"/>
                </a:lnTo>
                <a:lnTo>
                  <a:pt x="93941" y="19344"/>
                </a:lnTo>
                <a:lnTo>
                  <a:pt x="96509" y="24733"/>
                </a:lnTo>
                <a:lnTo>
                  <a:pt x="98361" y="30287"/>
                </a:lnTo>
                <a:lnTo>
                  <a:pt x="99479" y="35949"/>
                </a:lnTo>
                <a:close/>
              </a:path>
            </a:pathLst>
          </a:custGeom>
          <a:solidFill>
            <a:srgbClr val="F5E6E8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5489363411-2"/>
          <p:cNvSpPr/>
          <p:nvPr/>
        </p:nvSpPr>
        <p:spPr>
          <a:xfrm>
            <a:off x="7358063" y="2643188"/>
            <a:ext cx="1785938" cy="25003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2532" y="0"/>
                </a:moveTo>
                <a:lnTo>
                  <a:pt x="90665" y="0"/>
                </a:lnTo>
                <a:lnTo>
                  <a:pt x="99734" y="266"/>
                </a:lnTo>
                <a:lnTo>
                  <a:pt x="99734" y="99810"/>
                </a:lnTo>
                <a:lnTo>
                  <a:pt x="3309" y="99810"/>
                </a:lnTo>
                <a:lnTo>
                  <a:pt x="2340" y="96589"/>
                </a:lnTo>
                <a:lnTo>
                  <a:pt x="1048" y="90418"/>
                </a:lnTo>
                <a:lnTo>
                  <a:pt x="261" y="84125"/>
                </a:lnTo>
                <a:lnTo>
                  <a:pt x="0" y="77776"/>
                </a:lnTo>
                <a:lnTo>
                  <a:pt x="0" y="51848"/>
                </a:lnTo>
                <a:lnTo>
                  <a:pt x="351" y="46768"/>
                </a:lnTo>
                <a:lnTo>
                  <a:pt x="1394" y="41734"/>
                </a:lnTo>
                <a:lnTo>
                  <a:pt x="3122" y="36798"/>
                </a:lnTo>
                <a:lnTo>
                  <a:pt x="5521" y="32008"/>
                </a:lnTo>
                <a:lnTo>
                  <a:pt x="8564" y="27407"/>
                </a:lnTo>
                <a:lnTo>
                  <a:pt x="12223" y="23042"/>
                </a:lnTo>
                <a:lnTo>
                  <a:pt x="16463" y="18958"/>
                </a:lnTo>
                <a:lnTo>
                  <a:pt x="21245" y="15186"/>
                </a:lnTo>
                <a:lnTo>
                  <a:pt x="26521" y="11768"/>
                </a:lnTo>
                <a:lnTo>
                  <a:pt x="32234" y="8738"/>
                </a:lnTo>
                <a:lnTo>
                  <a:pt x="38340" y="6122"/>
                </a:lnTo>
                <a:lnTo>
                  <a:pt x="44777" y="3947"/>
                </a:lnTo>
                <a:lnTo>
                  <a:pt x="51479" y="2232"/>
                </a:lnTo>
                <a:lnTo>
                  <a:pt x="58383" y="996"/>
                </a:lnTo>
                <a:lnTo>
                  <a:pt x="65426" y="251"/>
                </a:lnTo>
                <a:close/>
              </a:path>
            </a:pathLst>
          </a:custGeom>
          <a:solidFill>
            <a:srgbClr val="F5E6E8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5489363412-3"/>
          <p:cNvSpPr/>
          <p:nvPr/>
        </p:nvSpPr>
        <p:spPr>
          <a:xfrm>
            <a:off x="71438" y="1000125"/>
            <a:ext cx="1785938" cy="3571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02" y="241"/>
                </a:lnTo>
                <a:lnTo>
                  <a:pt x="19509" y="961"/>
                </a:lnTo>
                <a:lnTo>
                  <a:pt x="29028" y="2153"/>
                </a:lnTo>
                <a:lnTo>
                  <a:pt x="38268" y="3806"/>
                </a:lnTo>
                <a:lnTo>
                  <a:pt x="47140" y="5904"/>
                </a:lnTo>
                <a:lnTo>
                  <a:pt x="55557" y="8427"/>
                </a:lnTo>
                <a:lnTo>
                  <a:pt x="63439" y="11349"/>
                </a:lnTo>
                <a:lnTo>
                  <a:pt x="70711" y="14645"/>
                </a:lnTo>
                <a:lnTo>
                  <a:pt x="77301" y="18280"/>
                </a:lnTo>
                <a:lnTo>
                  <a:pt x="83147" y="22221"/>
                </a:lnTo>
                <a:lnTo>
                  <a:pt x="88192" y="26430"/>
                </a:lnTo>
                <a:lnTo>
                  <a:pt x="92388" y="30866"/>
                </a:lnTo>
                <a:lnTo>
                  <a:pt x="95694" y="35486"/>
                </a:lnTo>
                <a:lnTo>
                  <a:pt x="98079" y="40245"/>
                </a:lnTo>
                <a:lnTo>
                  <a:pt x="99518" y="45099"/>
                </a:lnTo>
                <a:lnTo>
                  <a:pt x="100000" y="50000"/>
                </a:lnTo>
                <a:lnTo>
                  <a:pt x="100000" y="100000"/>
                </a:lnTo>
                <a:lnTo>
                  <a:pt x="99400" y="100000"/>
                </a:lnTo>
                <a:lnTo>
                  <a:pt x="99400" y="100000"/>
                </a:lnTo>
                <a:lnTo>
                  <a:pt x="99400" y="50000"/>
                </a:lnTo>
                <a:lnTo>
                  <a:pt x="98921" y="45099"/>
                </a:lnTo>
                <a:lnTo>
                  <a:pt x="97490" y="40245"/>
                </a:lnTo>
                <a:lnTo>
                  <a:pt x="95120" y="35486"/>
                </a:lnTo>
                <a:lnTo>
                  <a:pt x="91834" y="30866"/>
                </a:lnTo>
                <a:lnTo>
                  <a:pt x="87663" y="26430"/>
                </a:lnTo>
                <a:lnTo>
                  <a:pt x="82648" y="22221"/>
                </a:lnTo>
                <a:lnTo>
                  <a:pt x="76837" y="18280"/>
                </a:lnTo>
                <a:lnTo>
                  <a:pt x="70286" y="14645"/>
                </a:lnTo>
                <a:lnTo>
                  <a:pt x="63059" y="11349"/>
                </a:lnTo>
                <a:lnTo>
                  <a:pt x="55224" y="8427"/>
                </a:lnTo>
                <a:lnTo>
                  <a:pt x="46857" y="5904"/>
                </a:lnTo>
                <a:lnTo>
                  <a:pt x="38039" y="3806"/>
                </a:lnTo>
                <a:lnTo>
                  <a:pt x="28854" y="2153"/>
                </a:lnTo>
                <a:lnTo>
                  <a:pt x="19392" y="961"/>
                </a:lnTo>
                <a:lnTo>
                  <a:pt x="9743" y="24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5D1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489363413-4"/>
          <p:cNvSpPr/>
          <p:nvPr/>
        </p:nvSpPr>
        <p:spPr>
          <a:xfrm>
            <a:off x="7286625" y="571500"/>
            <a:ext cx="1785938" cy="3571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241"/>
                </a:lnTo>
                <a:lnTo>
                  <a:pt x="80491" y="961"/>
                </a:lnTo>
                <a:lnTo>
                  <a:pt x="70972" y="2153"/>
                </a:lnTo>
                <a:lnTo>
                  <a:pt x="61732" y="3806"/>
                </a:lnTo>
                <a:lnTo>
                  <a:pt x="52860" y="5904"/>
                </a:lnTo>
                <a:lnTo>
                  <a:pt x="44443" y="8427"/>
                </a:lnTo>
                <a:lnTo>
                  <a:pt x="36561" y="11349"/>
                </a:lnTo>
                <a:lnTo>
                  <a:pt x="29289" y="14645"/>
                </a:lnTo>
                <a:lnTo>
                  <a:pt x="22699" y="18280"/>
                </a:lnTo>
                <a:lnTo>
                  <a:pt x="16853" y="22221"/>
                </a:lnTo>
                <a:lnTo>
                  <a:pt x="11808" y="26430"/>
                </a:lnTo>
                <a:lnTo>
                  <a:pt x="7612" y="30866"/>
                </a:lnTo>
                <a:lnTo>
                  <a:pt x="4306" y="35486"/>
                </a:lnTo>
                <a:lnTo>
                  <a:pt x="1921" y="40245"/>
                </a:lnTo>
                <a:lnTo>
                  <a:pt x="482" y="45099"/>
                </a:lnTo>
                <a:lnTo>
                  <a:pt x="0" y="50000"/>
                </a:lnTo>
                <a:lnTo>
                  <a:pt x="0" y="100000"/>
                </a:lnTo>
                <a:lnTo>
                  <a:pt x="600" y="100000"/>
                </a:lnTo>
                <a:lnTo>
                  <a:pt x="600" y="100000"/>
                </a:lnTo>
                <a:lnTo>
                  <a:pt x="600" y="50000"/>
                </a:lnTo>
                <a:lnTo>
                  <a:pt x="1079" y="45099"/>
                </a:lnTo>
                <a:lnTo>
                  <a:pt x="2510" y="40245"/>
                </a:lnTo>
                <a:lnTo>
                  <a:pt x="4880" y="35486"/>
                </a:lnTo>
                <a:lnTo>
                  <a:pt x="8166" y="30866"/>
                </a:lnTo>
                <a:lnTo>
                  <a:pt x="12337" y="26430"/>
                </a:lnTo>
                <a:lnTo>
                  <a:pt x="17352" y="22221"/>
                </a:lnTo>
                <a:lnTo>
                  <a:pt x="23163" y="18280"/>
                </a:lnTo>
                <a:lnTo>
                  <a:pt x="29714" y="14645"/>
                </a:lnTo>
                <a:lnTo>
                  <a:pt x="36941" y="11349"/>
                </a:lnTo>
                <a:lnTo>
                  <a:pt x="44776" y="8427"/>
                </a:lnTo>
                <a:lnTo>
                  <a:pt x="53143" y="5904"/>
                </a:lnTo>
                <a:lnTo>
                  <a:pt x="61961" y="3806"/>
                </a:lnTo>
                <a:lnTo>
                  <a:pt x="71146" y="2153"/>
                </a:lnTo>
                <a:lnTo>
                  <a:pt x="80608" y="961"/>
                </a:lnTo>
                <a:lnTo>
                  <a:pt x="90257" y="241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B8C5D1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489363437-10"/>
          <p:cNvSpPr/>
          <p:nvPr/>
        </p:nvSpPr>
        <p:spPr>
          <a:xfrm>
            <a:off x="4393406" y="713036"/>
            <a:ext cx="57150" cy="57150"/>
          </a:xfrm>
          <a:prstGeom prst="ellipse">
            <a:avLst/>
          </a:prstGeom>
          <a:solidFill>
            <a:srgbClr val="B8C5D1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489363439-11"/>
          <p:cNvSpPr/>
          <p:nvPr/>
        </p:nvSpPr>
        <p:spPr>
          <a:xfrm>
            <a:off x="4536281" y="713036"/>
            <a:ext cx="71438" cy="71438"/>
          </a:xfrm>
          <a:prstGeom prst="ellipse">
            <a:avLst/>
          </a:prstGeom>
          <a:solidFill>
            <a:srgbClr val="4A7C9B">
              <a:alpha val="8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489363441-12"/>
          <p:cNvSpPr/>
          <p:nvPr/>
        </p:nvSpPr>
        <p:spPr>
          <a:xfrm>
            <a:off x="4693444" y="713036"/>
            <a:ext cx="57150" cy="57150"/>
          </a:xfrm>
          <a:prstGeom prst="ellipse">
            <a:avLst/>
          </a:prstGeom>
          <a:solidFill>
            <a:srgbClr val="B8C5D1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489363427-8"/>
          <p:cNvSpPr/>
          <p:nvPr/>
        </p:nvSpPr>
        <p:spPr>
          <a:xfrm>
            <a:off x="4357688" y="1667322"/>
            <a:ext cx="428625" cy="14288"/>
          </a:xfrm>
          <a:prstGeom prst="roundRect">
            <a:avLst>
              <a:gd name="adj" fmla="val 50000"/>
            </a:avLst>
          </a:prstGeom>
          <a:solidFill>
            <a:srgbClr val="B8C5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489363431-9"/>
          <p:cNvSpPr/>
          <p:nvPr/>
        </p:nvSpPr>
        <p:spPr>
          <a:xfrm>
            <a:off x="2514600" y="2381697"/>
            <a:ext cx="4114800" cy="1585913"/>
          </a:xfrm>
          <a:prstGeom prst="roundRect">
            <a:avLst>
              <a:gd name="adj" fmla="val 8408"/>
            </a:avLst>
          </a:prstGeom>
          <a:solidFill>
            <a:srgbClr val="FFFFFF">
              <a:alpha val="75000"/>
            </a:srgbClr>
          </a:solidFill>
          <a:ln w="7144" algn="in">
            <a:solidFill>
              <a:srgbClr val="B8C5D1">
                <a:alpha val="20000"/>
              </a:srgbClr>
            </a:solidFill>
            <a:prstDash val="solid"/>
          </a:ln>
          <a:effectLst>
            <a:outerShdw blurRad="100013" dist="42863" dir="5400000" algn="ctr">
              <a:srgbClr val="000000">
                <a:alpha val="4000"/>
              </a:srgbClr>
            </a:outerShdw>
          </a:effectLst>
        </p:spPr>
        <p:txBody>
          <a:bodyPr/>
          <a:lstStyle/>
          <a:p/>
        </p:txBody>
      </p:sp>
      <p:sp>
        <p:nvSpPr>
          <p:cNvPr id="11" name="el-1785489363532-19"/>
          <p:cNvSpPr/>
          <p:nvPr/>
        </p:nvSpPr>
        <p:spPr>
          <a:xfrm>
            <a:off x="4281250" y="2579563"/>
            <a:ext cx="110014" cy="1257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167" y="50769"/>
                </a:moveTo>
                <a:lnTo>
                  <a:pt x="48167" y="50769"/>
                </a:lnTo>
                <a:cubicBezTo>
                  <a:pt x="53167" y="50769"/>
                  <a:pt x="57750" y="49641"/>
                  <a:pt x="61917" y="47385"/>
                </a:cubicBezTo>
                <a:lnTo>
                  <a:pt x="61917" y="47385"/>
                </a:lnTo>
                <a:lnTo>
                  <a:pt x="61917" y="47385"/>
                </a:lnTo>
                <a:cubicBezTo>
                  <a:pt x="66028" y="45128"/>
                  <a:pt x="69389" y="42026"/>
                  <a:pt x="72000" y="38077"/>
                </a:cubicBezTo>
                <a:lnTo>
                  <a:pt x="72000" y="38077"/>
                </a:lnTo>
                <a:cubicBezTo>
                  <a:pt x="74444" y="34128"/>
                  <a:pt x="75667" y="29897"/>
                  <a:pt x="75667" y="25385"/>
                </a:cubicBezTo>
                <a:lnTo>
                  <a:pt x="75667" y="25385"/>
                </a:lnTo>
                <a:cubicBezTo>
                  <a:pt x="75667" y="20872"/>
                  <a:pt x="74444" y="16641"/>
                  <a:pt x="72000" y="12692"/>
                </a:cubicBezTo>
                <a:lnTo>
                  <a:pt x="72000" y="12692"/>
                </a:lnTo>
                <a:cubicBezTo>
                  <a:pt x="69389" y="8744"/>
                  <a:pt x="66028" y="5641"/>
                  <a:pt x="61917" y="3385"/>
                </a:cubicBezTo>
                <a:lnTo>
                  <a:pt x="61917" y="3385"/>
                </a:lnTo>
                <a:cubicBezTo>
                  <a:pt x="57750" y="1128"/>
                  <a:pt x="53167" y="0"/>
                  <a:pt x="48167" y="0"/>
                </a:cubicBezTo>
                <a:lnTo>
                  <a:pt x="48167" y="0"/>
                </a:lnTo>
                <a:cubicBezTo>
                  <a:pt x="43111" y="0"/>
                  <a:pt x="38528" y="1128"/>
                  <a:pt x="34417" y="3385"/>
                </a:cubicBezTo>
                <a:lnTo>
                  <a:pt x="34417" y="3385"/>
                </a:lnTo>
                <a:cubicBezTo>
                  <a:pt x="30250" y="5641"/>
                  <a:pt x="26861" y="8744"/>
                  <a:pt x="24250" y="12692"/>
                </a:cubicBezTo>
                <a:lnTo>
                  <a:pt x="24250" y="12692"/>
                </a:lnTo>
                <a:cubicBezTo>
                  <a:pt x="21861" y="16641"/>
                  <a:pt x="20667" y="20872"/>
                  <a:pt x="20667" y="25385"/>
                </a:cubicBezTo>
                <a:lnTo>
                  <a:pt x="20667" y="25385"/>
                </a:lnTo>
                <a:cubicBezTo>
                  <a:pt x="20667" y="29897"/>
                  <a:pt x="21861" y="34128"/>
                  <a:pt x="24250" y="38077"/>
                </a:cubicBezTo>
                <a:lnTo>
                  <a:pt x="24250" y="38077"/>
                </a:lnTo>
                <a:cubicBezTo>
                  <a:pt x="26861" y="42026"/>
                  <a:pt x="30250" y="45128"/>
                  <a:pt x="34417" y="47385"/>
                </a:cubicBezTo>
                <a:lnTo>
                  <a:pt x="34417" y="47385"/>
                </a:lnTo>
                <a:cubicBezTo>
                  <a:pt x="38528" y="49641"/>
                  <a:pt x="43111" y="50769"/>
                  <a:pt x="48167" y="50769"/>
                </a:cubicBezTo>
                <a:lnTo>
                  <a:pt x="48167" y="50769"/>
                </a:lnTo>
                <a:moveTo>
                  <a:pt x="38250" y="60308"/>
                </a:moveTo>
                <a:lnTo>
                  <a:pt x="38250" y="60308"/>
                </a:lnTo>
                <a:cubicBezTo>
                  <a:pt x="27528" y="60564"/>
                  <a:pt x="18500" y="64000"/>
                  <a:pt x="11167" y="70615"/>
                </a:cubicBezTo>
                <a:lnTo>
                  <a:pt x="11167" y="70615"/>
                </a:lnTo>
                <a:lnTo>
                  <a:pt x="11167" y="70615"/>
                </a:lnTo>
                <a:cubicBezTo>
                  <a:pt x="4000" y="77333"/>
                  <a:pt x="278" y="85667"/>
                  <a:pt x="0" y="95615"/>
                </a:cubicBezTo>
                <a:lnTo>
                  <a:pt x="0" y="95615"/>
                </a:lnTo>
                <a:cubicBezTo>
                  <a:pt x="0" y="97308"/>
                  <a:pt x="639" y="98692"/>
                  <a:pt x="1917" y="99769"/>
                </a:cubicBezTo>
                <a:lnTo>
                  <a:pt x="1917" y="99769"/>
                </a:lnTo>
                <a:cubicBezTo>
                  <a:pt x="3083" y="100949"/>
                  <a:pt x="4583" y="101538"/>
                  <a:pt x="6417" y="101538"/>
                </a:cubicBezTo>
                <a:lnTo>
                  <a:pt x="6417" y="101538"/>
                </a:lnTo>
                <a:lnTo>
                  <a:pt x="89833" y="101538"/>
                </a:lnTo>
                <a:cubicBezTo>
                  <a:pt x="91667" y="101538"/>
                  <a:pt x="93167" y="100949"/>
                  <a:pt x="94333" y="99769"/>
                </a:cubicBezTo>
                <a:lnTo>
                  <a:pt x="94333" y="99769"/>
                </a:lnTo>
                <a:cubicBezTo>
                  <a:pt x="95611" y="98692"/>
                  <a:pt x="96250" y="97308"/>
                  <a:pt x="96250" y="95615"/>
                </a:cubicBezTo>
                <a:lnTo>
                  <a:pt x="96250" y="95615"/>
                </a:lnTo>
                <a:cubicBezTo>
                  <a:pt x="95972" y="85667"/>
                  <a:pt x="92250" y="77333"/>
                  <a:pt x="85083" y="70615"/>
                </a:cubicBezTo>
                <a:lnTo>
                  <a:pt x="85083" y="70615"/>
                </a:lnTo>
                <a:cubicBezTo>
                  <a:pt x="77750" y="64000"/>
                  <a:pt x="68722" y="60564"/>
                  <a:pt x="58000" y="60308"/>
                </a:cubicBezTo>
                <a:lnTo>
                  <a:pt x="58000" y="60308"/>
                </a:lnTo>
                <a:lnTo>
                  <a:pt x="38250" y="60308"/>
                </a:lnTo>
              </a:path>
            </a:pathLst>
          </a:cu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489363534-20"/>
          <p:cNvSpPr/>
          <p:nvPr/>
        </p:nvSpPr>
        <p:spPr>
          <a:xfrm>
            <a:off x="4016294" y="2843882"/>
            <a:ext cx="125574" cy="1257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077" y="615"/>
                </a:moveTo>
                <a:lnTo>
                  <a:pt x="48077" y="615"/>
                </a:lnTo>
                <a:lnTo>
                  <a:pt x="3615" y="19615"/>
                </a:lnTo>
                <a:cubicBezTo>
                  <a:pt x="692" y="21103"/>
                  <a:pt x="-487" y="23410"/>
                  <a:pt x="77" y="26538"/>
                </a:cubicBezTo>
                <a:lnTo>
                  <a:pt x="77" y="26538"/>
                </a:lnTo>
                <a:cubicBezTo>
                  <a:pt x="846" y="29718"/>
                  <a:pt x="2897" y="31462"/>
                  <a:pt x="6231" y="31769"/>
                </a:cubicBezTo>
                <a:lnTo>
                  <a:pt x="6231" y="31769"/>
                </a:lnTo>
                <a:lnTo>
                  <a:pt x="6231" y="33308"/>
                </a:lnTo>
                <a:cubicBezTo>
                  <a:pt x="6487" y="36231"/>
                  <a:pt x="8077" y="37821"/>
                  <a:pt x="11000" y="38077"/>
                </a:cubicBezTo>
                <a:lnTo>
                  <a:pt x="11000" y="38077"/>
                </a:lnTo>
                <a:lnTo>
                  <a:pt x="90308" y="38077"/>
                </a:lnTo>
                <a:cubicBezTo>
                  <a:pt x="93179" y="37821"/>
                  <a:pt x="94769" y="36231"/>
                  <a:pt x="95077" y="33308"/>
                </a:cubicBezTo>
                <a:lnTo>
                  <a:pt x="95077" y="33308"/>
                </a:lnTo>
                <a:lnTo>
                  <a:pt x="95077" y="31769"/>
                </a:lnTo>
                <a:cubicBezTo>
                  <a:pt x="98359" y="31462"/>
                  <a:pt x="100410" y="29718"/>
                  <a:pt x="101231" y="26538"/>
                </a:cubicBezTo>
                <a:lnTo>
                  <a:pt x="101231" y="26538"/>
                </a:lnTo>
                <a:cubicBezTo>
                  <a:pt x="101744" y="23410"/>
                  <a:pt x="100538" y="21103"/>
                  <a:pt x="97615" y="19615"/>
                </a:cubicBezTo>
                <a:lnTo>
                  <a:pt x="97615" y="19615"/>
                </a:lnTo>
                <a:lnTo>
                  <a:pt x="53231" y="615"/>
                </a:lnTo>
                <a:cubicBezTo>
                  <a:pt x="51487" y="-205"/>
                  <a:pt x="49769" y="-205"/>
                  <a:pt x="48077" y="615"/>
                </a:cubicBezTo>
                <a:lnTo>
                  <a:pt x="48077" y="615"/>
                </a:lnTo>
                <a:moveTo>
                  <a:pt x="25231" y="44462"/>
                </a:moveTo>
                <a:lnTo>
                  <a:pt x="25231" y="44462"/>
                </a:lnTo>
                <a:lnTo>
                  <a:pt x="12538" y="44462"/>
                </a:lnTo>
                <a:lnTo>
                  <a:pt x="12538" y="83308"/>
                </a:lnTo>
                <a:cubicBezTo>
                  <a:pt x="12436" y="83410"/>
                  <a:pt x="12308" y="83462"/>
                  <a:pt x="12154" y="83462"/>
                </a:cubicBezTo>
                <a:lnTo>
                  <a:pt x="12154" y="83462"/>
                </a:lnTo>
                <a:lnTo>
                  <a:pt x="2615" y="89846"/>
                </a:lnTo>
                <a:cubicBezTo>
                  <a:pt x="256" y="91692"/>
                  <a:pt x="-590" y="94077"/>
                  <a:pt x="77" y="97000"/>
                </a:cubicBezTo>
                <a:lnTo>
                  <a:pt x="77" y="97000"/>
                </a:lnTo>
                <a:cubicBezTo>
                  <a:pt x="1103" y="99872"/>
                  <a:pt x="3154" y="101385"/>
                  <a:pt x="6231" y="101538"/>
                </a:cubicBezTo>
                <a:lnTo>
                  <a:pt x="6231" y="101538"/>
                </a:lnTo>
                <a:lnTo>
                  <a:pt x="95077" y="101538"/>
                </a:lnTo>
                <a:cubicBezTo>
                  <a:pt x="98103" y="101385"/>
                  <a:pt x="100154" y="99872"/>
                  <a:pt x="101231" y="97000"/>
                </a:cubicBezTo>
                <a:lnTo>
                  <a:pt x="101231" y="97000"/>
                </a:lnTo>
                <a:cubicBezTo>
                  <a:pt x="101846" y="94077"/>
                  <a:pt x="100974" y="91692"/>
                  <a:pt x="98615" y="89846"/>
                </a:cubicBezTo>
                <a:lnTo>
                  <a:pt x="98615" y="89846"/>
                </a:lnTo>
                <a:lnTo>
                  <a:pt x="89077" y="83462"/>
                </a:lnTo>
                <a:cubicBezTo>
                  <a:pt x="88974" y="83462"/>
                  <a:pt x="88923" y="83462"/>
                  <a:pt x="88923" y="83462"/>
                </a:cubicBezTo>
                <a:lnTo>
                  <a:pt x="88923" y="83462"/>
                </a:lnTo>
                <a:cubicBezTo>
                  <a:pt x="88769" y="83462"/>
                  <a:pt x="88692" y="83410"/>
                  <a:pt x="88692" y="83308"/>
                </a:cubicBezTo>
                <a:lnTo>
                  <a:pt x="88692" y="83308"/>
                </a:lnTo>
                <a:lnTo>
                  <a:pt x="88692" y="44462"/>
                </a:lnTo>
                <a:lnTo>
                  <a:pt x="76000" y="44462"/>
                </a:lnTo>
                <a:lnTo>
                  <a:pt x="76000" y="82538"/>
                </a:lnTo>
                <a:lnTo>
                  <a:pt x="68077" y="82538"/>
                </a:lnTo>
                <a:lnTo>
                  <a:pt x="68077" y="44462"/>
                </a:lnTo>
                <a:lnTo>
                  <a:pt x="55385" y="44462"/>
                </a:lnTo>
                <a:lnTo>
                  <a:pt x="55385" y="82538"/>
                </a:lnTo>
                <a:lnTo>
                  <a:pt x="45846" y="82538"/>
                </a:lnTo>
                <a:lnTo>
                  <a:pt x="45846" y="44462"/>
                </a:lnTo>
                <a:lnTo>
                  <a:pt x="33154" y="44462"/>
                </a:lnTo>
                <a:lnTo>
                  <a:pt x="33154" y="82538"/>
                </a:lnTo>
                <a:lnTo>
                  <a:pt x="25231" y="82538"/>
                </a:lnTo>
                <a:lnTo>
                  <a:pt x="25231" y="44462"/>
                </a:lnTo>
                <a:moveTo>
                  <a:pt x="50615" y="12692"/>
                </a:moveTo>
                <a:lnTo>
                  <a:pt x="50615" y="12692"/>
                </a:lnTo>
                <a:cubicBezTo>
                  <a:pt x="52462" y="12692"/>
                  <a:pt x="53974" y="13282"/>
                  <a:pt x="55154" y="14462"/>
                </a:cubicBezTo>
                <a:lnTo>
                  <a:pt x="55154" y="14462"/>
                </a:lnTo>
                <a:lnTo>
                  <a:pt x="55154" y="14462"/>
                </a:lnTo>
                <a:cubicBezTo>
                  <a:pt x="56385" y="15641"/>
                  <a:pt x="57000" y="17154"/>
                  <a:pt x="57000" y="19000"/>
                </a:cubicBezTo>
                <a:lnTo>
                  <a:pt x="57000" y="19000"/>
                </a:lnTo>
                <a:cubicBezTo>
                  <a:pt x="57000" y="20897"/>
                  <a:pt x="56385" y="22436"/>
                  <a:pt x="55154" y="23615"/>
                </a:cubicBezTo>
                <a:lnTo>
                  <a:pt x="55154" y="23615"/>
                </a:lnTo>
                <a:cubicBezTo>
                  <a:pt x="53974" y="24795"/>
                  <a:pt x="52462" y="25385"/>
                  <a:pt x="50615" y="25385"/>
                </a:cubicBezTo>
                <a:lnTo>
                  <a:pt x="50615" y="25385"/>
                </a:lnTo>
                <a:cubicBezTo>
                  <a:pt x="48769" y="25385"/>
                  <a:pt x="47256" y="24795"/>
                  <a:pt x="46077" y="23615"/>
                </a:cubicBezTo>
                <a:lnTo>
                  <a:pt x="46077" y="23615"/>
                </a:lnTo>
                <a:cubicBezTo>
                  <a:pt x="44897" y="22436"/>
                  <a:pt x="44308" y="20897"/>
                  <a:pt x="44308" y="19000"/>
                </a:cubicBezTo>
                <a:lnTo>
                  <a:pt x="44308" y="19000"/>
                </a:lnTo>
                <a:cubicBezTo>
                  <a:pt x="44308" y="17154"/>
                  <a:pt x="44897" y="15641"/>
                  <a:pt x="46077" y="14462"/>
                </a:cubicBezTo>
                <a:lnTo>
                  <a:pt x="46077" y="14462"/>
                </a:lnTo>
                <a:cubicBezTo>
                  <a:pt x="47256" y="13282"/>
                  <a:pt x="48769" y="12692"/>
                  <a:pt x="50615" y="12692"/>
                </a:cubicBezTo>
                <a:lnTo>
                  <a:pt x="50615" y="12692"/>
                </a:lnTo>
              </a:path>
            </a:pathLst>
          </a:cu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489363536-21"/>
          <p:cNvSpPr/>
          <p:nvPr/>
        </p:nvSpPr>
        <p:spPr>
          <a:xfrm>
            <a:off x="4051489" y="3108201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8846" y="4923"/>
                </a:moveTo>
                <a:lnTo>
                  <a:pt x="68846" y="4923"/>
                </a:lnTo>
                <a:cubicBezTo>
                  <a:pt x="69615" y="2974"/>
                  <a:pt x="70872" y="1590"/>
                  <a:pt x="72615" y="769"/>
                </a:cubicBezTo>
                <a:lnTo>
                  <a:pt x="72615" y="769"/>
                </a:lnTo>
                <a:lnTo>
                  <a:pt x="72615" y="769"/>
                </a:lnTo>
                <a:cubicBezTo>
                  <a:pt x="74462" y="0"/>
                  <a:pt x="76359" y="-179"/>
                  <a:pt x="78308" y="231"/>
                </a:cubicBezTo>
                <a:lnTo>
                  <a:pt x="78308" y="231"/>
                </a:lnTo>
                <a:lnTo>
                  <a:pt x="95769" y="4923"/>
                </a:lnTo>
                <a:cubicBezTo>
                  <a:pt x="99359" y="6256"/>
                  <a:pt x="101282" y="8846"/>
                  <a:pt x="101538" y="12692"/>
                </a:cubicBezTo>
                <a:lnTo>
                  <a:pt x="101538" y="12692"/>
                </a:lnTo>
                <a:cubicBezTo>
                  <a:pt x="101385" y="29205"/>
                  <a:pt x="97359" y="44154"/>
                  <a:pt x="89462" y="57538"/>
                </a:cubicBezTo>
                <a:lnTo>
                  <a:pt x="89462" y="57538"/>
                </a:lnTo>
                <a:cubicBezTo>
                  <a:pt x="81513" y="70872"/>
                  <a:pt x="70872" y="81513"/>
                  <a:pt x="57538" y="89462"/>
                </a:cubicBezTo>
                <a:lnTo>
                  <a:pt x="57538" y="89462"/>
                </a:lnTo>
                <a:cubicBezTo>
                  <a:pt x="44154" y="97359"/>
                  <a:pt x="29205" y="101385"/>
                  <a:pt x="12692" y="101538"/>
                </a:cubicBezTo>
                <a:lnTo>
                  <a:pt x="12692" y="101538"/>
                </a:lnTo>
                <a:cubicBezTo>
                  <a:pt x="8846" y="101282"/>
                  <a:pt x="6256" y="99359"/>
                  <a:pt x="4923" y="95769"/>
                </a:cubicBezTo>
                <a:lnTo>
                  <a:pt x="4923" y="95769"/>
                </a:lnTo>
                <a:lnTo>
                  <a:pt x="231" y="78308"/>
                </a:lnTo>
                <a:cubicBezTo>
                  <a:pt x="-179" y="76359"/>
                  <a:pt x="0" y="74462"/>
                  <a:pt x="769" y="72615"/>
                </a:cubicBezTo>
                <a:lnTo>
                  <a:pt x="769" y="72615"/>
                </a:lnTo>
                <a:cubicBezTo>
                  <a:pt x="1590" y="70872"/>
                  <a:pt x="2974" y="69615"/>
                  <a:pt x="4923" y="68846"/>
                </a:cubicBezTo>
                <a:lnTo>
                  <a:pt x="4923" y="68846"/>
                </a:lnTo>
                <a:lnTo>
                  <a:pt x="24000" y="60846"/>
                </a:lnTo>
                <a:cubicBezTo>
                  <a:pt x="27590" y="59667"/>
                  <a:pt x="30641" y="60462"/>
                  <a:pt x="33154" y="63231"/>
                </a:cubicBezTo>
                <a:lnTo>
                  <a:pt x="33154" y="63231"/>
                </a:lnTo>
                <a:lnTo>
                  <a:pt x="41077" y="73000"/>
                </a:lnTo>
                <a:cubicBezTo>
                  <a:pt x="48051" y="69667"/>
                  <a:pt x="54333" y="65308"/>
                  <a:pt x="59923" y="59923"/>
                </a:cubicBezTo>
                <a:lnTo>
                  <a:pt x="59923" y="59923"/>
                </a:lnTo>
                <a:cubicBezTo>
                  <a:pt x="65308" y="54333"/>
                  <a:pt x="69667" y="48051"/>
                  <a:pt x="73000" y="41077"/>
                </a:cubicBezTo>
                <a:lnTo>
                  <a:pt x="73000" y="41077"/>
                </a:lnTo>
                <a:lnTo>
                  <a:pt x="63231" y="33154"/>
                </a:lnTo>
                <a:cubicBezTo>
                  <a:pt x="60462" y="30641"/>
                  <a:pt x="59667" y="27590"/>
                  <a:pt x="60846" y="24000"/>
                </a:cubicBezTo>
                <a:lnTo>
                  <a:pt x="60846" y="24000"/>
                </a:lnTo>
                <a:lnTo>
                  <a:pt x="68846" y="4923"/>
                </a:lnTo>
              </a:path>
            </a:pathLst>
          </a:cu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489363538-22"/>
          <p:cNvSpPr/>
          <p:nvPr/>
        </p:nvSpPr>
        <p:spPr>
          <a:xfrm>
            <a:off x="3478947" y="3388236"/>
            <a:ext cx="125730" cy="9429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538" y="0"/>
                </a:moveTo>
                <a:lnTo>
                  <a:pt x="9538" y="0"/>
                </a:lnTo>
                <a:cubicBezTo>
                  <a:pt x="6872" y="200"/>
                  <a:pt x="4615" y="1400"/>
                  <a:pt x="2769" y="3600"/>
                </a:cubicBezTo>
                <a:lnTo>
                  <a:pt x="2769" y="3600"/>
                </a:lnTo>
                <a:lnTo>
                  <a:pt x="2769" y="3600"/>
                </a:lnTo>
                <a:cubicBezTo>
                  <a:pt x="1077" y="6000"/>
                  <a:pt x="154" y="8933"/>
                  <a:pt x="0" y="12400"/>
                </a:cubicBezTo>
                <a:lnTo>
                  <a:pt x="0" y="12400"/>
                </a:lnTo>
                <a:cubicBezTo>
                  <a:pt x="154" y="16533"/>
                  <a:pt x="1410" y="19800"/>
                  <a:pt x="3769" y="22200"/>
                </a:cubicBezTo>
                <a:lnTo>
                  <a:pt x="3769" y="22200"/>
                </a:lnTo>
                <a:lnTo>
                  <a:pt x="47000" y="64500"/>
                </a:lnTo>
                <a:cubicBezTo>
                  <a:pt x="49513" y="66500"/>
                  <a:pt x="52026" y="66500"/>
                  <a:pt x="54538" y="64500"/>
                </a:cubicBezTo>
                <a:lnTo>
                  <a:pt x="54538" y="64500"/>
                </a:lnTo>
                <a:lnTo>
                  <a:pt x="97769" y="22200"/>
                </a:lnTo>
                <a:cubicBezTo>
                  <a:pt x="100128" y="19800"/>
                  <a:pt x="101385" y="16533"/>
                  <a:pt x="101538" y="12400"/>
                </a:cubicBezTo>
                <a:lnTo>
                  <a:pt x="101538" y="12400"/>
                </a:lnTo>
                <a:cubicBezTo>
                  <a:pt x="101385" y="8933"/>
                  <a:pt x="100462" y="6000"/>
                  <a:pt x="98769" y="3600"/>
                </a:cubicBezTo>
                <a:lnTo>
                  <a:pt x="98769" y="3600"/>
                </a:lnTo>
                <a:cubicBezTo>
                  <a:pt x="96923" y="1400"/>
                  <a:pt x="94667" y="200"/>
                  <a:pt x="92000" y="0"/>
                </a:cubicBezTo>
                <a:lnTo>
                  <a:pt x="92000" y="0"/>
                </a:lnTo>
                <a:lnTo>
                  <a:pt x="9538" y="0"/>
                </a:lnTo>
                <a:moveTo>
                  <a:pt x="0" y="28900"/>
                </a:moveTo>
                <a:lnTo>
                  <a:pt x="0" y="28900"/>
                </a:lnTo>
                <a:lnTo>
                  <a:pt x="0" y="82500"/>
                </a:lnTo>
                <a:cubicBezTo>
                  <a:pt x="154" y="87167"/>
                  <a:pt x="1410" y="91033"/>
                  <a:pt x="3769" y="94100"/>
                </a:cubicBezTo>
                <a:lnTo>
                  <a:pt x="3769" y="94100"/>
                </a:lnTo>
                <a:cubicBezTo>
                  <a:pt x="6128" y="97167"/>
                  <a:pt x="9103" y="98800"/>
                  <a:pt x="12692" y="99000"/>
                </a:cubicBezTo>
                <a:lnTo>
                  <a:pt x="12692" y="99000"/>
                </a:lnTo>
                <a:lnTo>
                  <a:pt x="88846" y="99000"/>
                </a:lnTo>
                <a:cubicBezTo>
                  <a:pt x="92436" y="98800"/>
                  <a:pt x="95410" y="97167"/>
                  <a:pt x="97769" y="94100"/>
                </a:cubicBezTo>
                <a:lnTo>
                  <a:pt x="97769" y="94100"/>
                </a:lnTo>
                <a:cubicBezTo>
                  <a:pt x="100128" y="91033"/>
                  <a:pt x="101385" y="87167"/>
                  <a:pt x="101538" y="82500"/>
                </a:cubicBezTo>
                <a:lnTo>
                  <a:pt x="101538" y="82500"/>
                </a:lnTo>
                <a:lnTo>
                  <a:pt x="101538" y="28900"/>
                </a:lnTo>
                <a:lnTo>
                  <a:pt x="58308" y="70900"/>
                </a:lnTo>
                <a:cubicBezTo>
                  <a:pt x="56051" y="73167"/>
                  <a:pt x="53538" y="74300"/>
                  <a:pt x="50769" y="74300"/>
                </a:cubicBezTo>
                <a:lnTo>
                  <a:pt x="50769" y="74300"/>
                </a:lnTo>
                <a:cubicBezTo>
                  <a:pt x="48000" y="74300"/>
                  <a:pt x="45487" y="73167"/>
                  <a:pt x="43231" y="70900"/>
                </a:cubicBezTo>
                <a:lnTo>
                  <a:pt x="43231" y="70900"/>
                </a:lnTo>
                <a:lnTo>
                  <a:pt x="0" y="28900"/>
                </a:lnTo>
              </a:path>
            </a:pathLst>
          </a:cu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489363541-23"/>
          <p:cNvSpPr/>
          <p:nvPr/>
        </p:nvSpPr>
        <p:spPr>
          <a:xfrm>
            <a:off x="4211062" y="3643962"/>
            <a:ext cx="121801" cy="1186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2923" y="83583"/>
                </a:moveTo>
                <a:lnTo>
                  <a:pt x="32923" y="83583"/>
                </a:lnTo>
                <a:cubicBezTo>
                  <a:pt x="32769" y="84139"/>
                  <a:pt x="32436" y="84417"/>
                  <a:pt x="31923" y="84417"/>
                </a:cubicBezTo>
                <a:lnTo>
                  <a:pt x="31923" y="84417"/>
                </a:lnTo>
                <a:cubicBezTo>
                  <a:pt x="31154" y="84417"/>
                  <a:pt x="30769" y="84139"/>
                  <a:pt x="30769" y="83583"/>
                </a:cubicBezTo>
                <a:lnTo>
                  <a:pt x="30769" y="83583"/>
                </a:lnTo>
                <a:cubicBezTo>
                  <a:pt x="30872" y="83139"/>
                  <a:pt x="31205" y="82917"/>
                  <a:pt x="31769" y="82917"/>
                </a:cubicBezTo>
                <a:lnTo>
                  <a:pt x="31769" y="82917"/>
                </a:lnTo>
                <a:cubicBezTo>
                  <a:pt x="32385" y="82917"/>
                  <a:pt x="32769" y="83139"/>
                  <a:pt x="32923" y="83583"/>
                </a:cubicBezTo>
                <a:lnTo>
                  <a:pt x="32923" y="83583"/>
                </a:lnTo>
                <a:moveTo>
                  <a:pt x="26769" y="82750"/>
                </a:moveTo>
                <a:lnTo>
                  <a:pt x="26769" y="82750"/>
                </a:lnTo>
                <a:cubicBezTo>
                  <a:pt x="26615" y="83139"/>
                  <a:pt x="26872" y="83472"/>
                  <a:pt x="27538" y="83750"/>
                </a:cubicBezTo>
                <a:lnTo>
                  <a:pt x="27538" y="83750"/>
                </a:lnTo>
                <a:cubicBezTo>
                  <a:pt x="28205" y="83917"/>
                  <a:pt x="28615" y="83778"/>
                  <a:pt x="28769" y="83333"/>
                </a:cubicBezTo>
                <a:lnTo>
                  <a:pt x="28769" y="83333"/>
                </a:lnTo>
                <a:cubicBezTo>
                  <a:pt x="28872" y="82778"/>
                  <a:pt x="28615" y="82417"/>
                  <a:pt x="28000" y="82250"/>
                </a:cubicBezTo>
                <a:lnTo>
                  <a:pt x="28000" y="82250"/>
                </a:lnTo>
                <a:cubicBezTo>
                  <a:pt x="27333" y="82139"/>
                  <a:pt x="26923" y="82306"/>
                  <a:pt x="26769" y="82750"/>
                </a:cubicBezTo>
                <a:lnTo>
                  <a:pt x="26769" y="82750"/>
                </a:lnTo>
                <a:moveTo>
                  <a:pt x="35462" y="82250"/>
                </a:moveTo>
                <a:lnTo>
                  <a:pt x="35462" y="82250"/>
                </a:lnTo>
                <a:cubicBezTo>
                  <a:pt x="34846" y="82417"/>
                  <a:pt x="34538" y="82778"/>
                  <a:pt x="34538" y="83333"/>
                </a:cubicBezTo>
                <a:lnTo>
                  <a:pt x="34538" y="83333"/>
                </a:lnTo>
                <a:cubicBezTo>
                  <a:pt x="34641" y="83778"/>
                  <a:pt x="35026" y="84000"/>
                  <a:pt x="35692" y="84000"/>
                </a:cubicBezTo>
                <a:lnTo>
                  <a:pt x="35692" y="84000"/>
                </a:lnTo>
                <a:cubicBezTo>
                  <a:pt x="36359" y="83722"/>
                  <a:pt x="36692" y="83361"/>
                  <a:pt x="36692" y="82917"/>
                </a:cubicBezTo>
                <a:lnTo>
                  <a:pt x="36692" y="82917"/>
                </a:lnTo>
                <a:cubicBezTo>
                  <a:pt x="36538" y="82472"/>
                  <a:pt x="36128" y="82250"/>
                  <a:pt x="35462" y="82250"/>
                </a:cubicBezTo>
                <a:lnTo>
                  <a:pt x="35462" y="82250"/>
                </a:lnTo>
                <a:moveTo>
                  <a:pt x="48615" y="0"/>
                </a:moveTo>
                <a:lnTo>
                  <a:pt x="48615" y="0"/>
                </a:lnTo>
                <a:cubicBezTo>
                  <a:pt x="34462" y="278"/>
                  <a:pt x="22872" y="5278"/>
                  <a:pt x="13846" y="15000"/>
                </a:cubicBezTo>
                <a:lnTo>
                  <a:pt x="13846" y="15000"/>
                </a:lnTo>
                <a:lnTo>
                  <a:pt x="13846" y="15000"/>
                </a:lnTo>
                <a:cubicBezTo>
                  <a:pt x="4872" y="24778"/>
                  <a:pt x="256" y="37250"/>
                  <a:pt x="0" y="52417"/>
                </a:cubicBezTo>
                <a:lnTo>
                  <a:pt x="0" y="52417"/>
                </a:lnTo>
                <a:cubicBezTo>
                  <a:pt x="154" y="64583"/>
                  <a:pt x="3256" y="75250"/>
                  <a:pt x="9308" y="84417"/>
                </a:cubicBezTo>
                <a:lnTo>
                  <a:pt x="9308" y="84417"/>
                </a:lnTo>
                <a:cubicBezTo>
                  <a:pt x="15410" y="93583"/>
                  <a:pt x="23538" y="100028"/>
                  <a:pt x="33692" y="103750"/>
                </a:cubicBezTo>
                <a:lnTo>
                  <a:pt x="33692" y="103750"/>
                </a:lnTo>
                <a:cubicBezTo>
                  <a:pt x="36103" y="103917"/>
                  <a:pt x="37231" y="103056"/>
                  <a:pt x="37077" y="101167"/>
                </a:cubicBezTo>
                <a:lnTo>
                  <a:pt x="37077" y="101167"/>
                </a:lnTo>
                <a:cubicBezTo>
                  <a:pt x="37077" y="100611"/>
                  <a:pt x="37077" y="99556"/>
                  <a:pt x="37077" y="98000"/>
                </a:cubicBezTo>
                <a:lnTo>
                  <a:pt x="37077" y="98000"/>
                </a:lnTo>
                <a:cubicBezTo>
                  <a:pt x="37077" y="94667"/>
                  <a:pt x="37077" y="91361"/>
                  <a:pt x="37077" y="88083"/>
                </a:cubicBezTo>
                <a:lnTo>
                  <a:pt x="37077" y="88083"/>
                </a:lnTo>
                <a:cubicBezTo>
                  <a:pt x="36821" y="88083"/>
                  <a:pt x="35564" y="88222"/>
                  <a:pt x="33308" y="88500"/>
                </a:cubicBezTo>
                <a:lnTo>
                  <a:pt x="33308" y="88500"/>
                </a:lnTo>
                <a:cubicBezTo>
                  <a:pt x="30949" y="88667"/>
                  <a:pt x="28436" y="88389"/>
                  <a:pt x="25769" y="87667"/>
                </a:cubicBezTo>
                <a:lnTo>
                  <a:pt x="25769" y="87667"/>
                </a:lnTo>
                <a:cubicBezTo>
                  <a:pt x="23154" y="86778"/>
                  <a:pt x="21308" y="84778"/>
                  <a:pt x="20231" y="81667"/>
                </a:cubicBezTo>
                <a:lnTo>
                  <a:pt x="20231" y="81667"/>
                </a:lnTo>
                <a:cubicBezTo>
                  <a:pt x="20231" y="81389"/>
                  <a:pt x="19692" y="80222"/>
                  <a:pt x="18615" y="78167"/>
                </a:cubicBezTo>
                <a:lnTo>
                  <a:pt x="18615" y="78167"/>
                </a:lnTo>
                <a:cubicBezTo>
                  <a:pt x="17590" y="76333"/>
                  <a:pt x="16282" y="74833"/>
                  <a:pt x="14692" y="73667"/>
                </a:cubicBezTo>
                <a:lnTo>
                  <a:pt x="14692" y="73667"/>
                </a:lnTo>
                <a:cubicBezTo>
                  <a:pt x="14436" y="73556"/>
                  <a:pt x="13897" y="73000"/>
                  <a:pt x="13077" y="72000"/>
                </a:cubicBezTo>
                <a:lnTo>
                  <a:pt x="13077" y="72000"/>
                </a:lnTo>
                <a:cubicBezTo>
                  <a:pt x="12154" y="71111"/>
                  <a:pt x="12821" y="70611"/>
                  <a:pt x="15077" y="70500"/>
                </a:cubicBezTo>
                <a:lnTo>
                  <a:pt x="15077" y="70500"/>
                </a:lnTo>
                <a:cubicBezTo>
                  <a:pt x="15231" y="70333"/>
                  <a:pt x="16154" y="70611"/>
                  <a:pt x="17846" y="71333"/>
                </a:cubicBezTo>
                <a:lnTo>
                  <a:pt x="17846" y="71333"/>
                </a:lnTo>
                <a:cubicBezTo>
                  <a:pt x="19590" y="71889"/>
                  <a:pt x="21179" y="73472"/>
                  <a:pt x="22615" y="76083"/>
                </a:cubicBezTo>
                <a:lnTo>
                  <a:pt x="22615" y="76083"/>
                </a:lnTo>
                <a:cubicBezTo>
                  <a:pt x="24974" y="79917"/>
                  <a:pt x="27538" y="81833"/>
                  <a:pt x="30308" y="81833"/>
                </a:cubicBezTo>
                <a:lnTo>
                  <a:pt x="30308" y="81833"/>
                </a:lnTo>
                <a:cubicBezTo>
                  <a:pt x="33231" y="81833"/>
                  <a:pt x="35487" y="81417"/>
                  <a:pt x="37077" y="80583"/>
                </a:cubicBezTo>
                <a:lnTo>
                  <a:pt x="37077" y="80583"/>
                </a:lnTo>
                <a:cubicBezTo>
                  <a:pt x="37590" y="77139"/>
                  <a:pt x="38641" y="74694"/>
                  <a:pt x="40231" y="73250"/>
                </a:cubicBezTo>
                <a:lnTo>
                  <a:pt x="40231" y="73250"/>
                </a:lnTo>
                <a:cubicBezTo>
                  <a:pt x="34436" y="72972"/>
                  <a:pt x="29359" y="71389"/>
                  <a:pt x="25000" y="68500"/>
                </a:cubicBezTo>
                <a:lnTo>
                  <a:pt x="25000" y="68500"/>
                </a:lnTo>
                <a:cubicBezTo>
                  <a:pt x="20641" y="65778"/>
                  <a:pt x="18333" y="59417"/>
                  <a:pt x="18077" y="49417"/>
                </a:cubicBezTo>
                <a:lnTo>
                  <a:pt x="18077" y="49417"/>
                </a:lnTo>
                <a:cubicBezTo>
                  <a:pt x="18077" y="46528"/>
                  <a:pt x="18462" y="44167"/>
                  <a:pt x="19231" y="42333"/>
                </a:cubicBezTo>
                <a:lnTo>
                  <a:pt x="19231" y="42333"/>
                </a:lnTo>
                <a:cubicBezTo>
                  <a:pt x="19897" y="40444"/>
                  <a:pt x="21026" y="38639"/>
                  <a:pt x="22615" y="36917"/>
                </a:cubicBezTo>
                <a:lnTo>
                  <a:pt x="22615" y="36917"/>
                </a:lnTo>
                <a:cubicBezTo>
                  <a:pt x="22359" y="36083"/>
                  <a:pt x="22103" y="34389"/>
                  <a:pt x="21846" y="31833"/>
                </a:cubicBezTo>
                <a:lnTo>
                  <a:pt x="21846" y="31833"/>
                </a:lnTo>
                <a:cubicBezTo>
                  <a:pt x="21538" y="29222"/>
                  <a:pt x="22000" y="26056"/>
                  <a:pt x="23231" y="22333"/>
                </a:cubicBezTo>
                <a:lnTo>
                  <a:pt x="23231" y="22333"/>
                </a:lnTo>
                <a:cubicBezTo>
                  <a:pt x="25590" y="21889"/>
                  <a:pt x="28359" y="22667"/>
                  <a:pt x="31538" y="24667"/>
                </a:cubicBezTo>
                <a:lnTo>
                  <a:pt x="31538" y="24667"/>
                </a:lnTo>
                <a:cubicBezTo>
                  <a:pt x="34821" y="26556"/>
                  <a:pt x="36615" y="27722"/>
                  <a:pt x="36923" y="28167"/>
                </a:cubicBezTo>
                <a:lnTo>
                  <a:pt x="36923" y="28167"/>
                </a:lnTo>
                <a:cubicBezTo>
                  <a:pt x="36923" y="28167"/>
                  <a:pt x="36923" y="28167"/>
                  <a:pt x="36923" y="28167"/>
                </a:cubicBezTo>
                <a:lnTo>
                  <a:pt x="36923" y="28167"/>
                </a:lnTo>
                <a:cubicBezTo>
                  <a:pt x="40872" y="26889"/>
                  <a:pt x="45026" y="26250"/>
                  <a:pt x="49385" y="26250"/>
                </a:cubicBezTo>
                <a:lnTo>
                  <a:pt x="49385" y="26250"/>
                </a:lnTo>
                <a:cubicBezTo>
                  <a:pt x="53590" y="26250"/>
                  <a:pt x="57744" y="26889"/>
                  <a:pt x="61846" y="28167"/>
                </a:cubicBezTo>
                <a:lnTo>
                  <a:pt x="61846" y="28167"/>
                </a:lnTo>
                <a:cubicBezTo>
                  <a:pt x="61846" y="28000"/>
                  <a:pt x="62718" y="27361"/>
                  <a:pt x="64462" y="26250"/>
                </a:cubicBezTo>
                <a:lnTo>
                  <a:pt x="64462" y="26250"/>
                </a:lnTo>
                <a:cubicBezTo>
                  <a:pt x="66051" y="25083"/>
                  <a:pt x="67897" y="24056"/>
                  <a:pt x="70000" y="23167"/>
                </a:cubicBezTo>
                <a:lnTo>
                  <a:pt x="70000" y="23167"/>
                </a:lnTo>
                <a:cubicBezTo>
                  <a:pt x="72103" y="22167"/>
                  <a:pt x="73949" y="21889"/>
                  <a:pt x="75538" y="22333"/>
                </a:cubicBezTo>
                <a:lnTo>
                  <a:pt x="75538" y="22333"/>
                </a:lnTo>
                <a:cubicBezTo>
                  <a:pt x="76718" y="26056"/>
                  <a:pt x="77179" y="29222"/>
                  <a:pt x="76923" y="31833"/>
                </a:cubicBezTo>
                <a:lnTo>
                  <a:pt x="76923" y="31833"/>
                </a:lnTo>
                <a:cubicBezTo>
                  <a:pt x="76667" y="34389"/>
                  <a:pt x="76333" y="36083"/>
                  <a:pt x="75923" y="36917"/>
                </a:cubicBezTo>
                <a:lnTo>
                  <a:pt x="75923" y="36917"/>
                </a:lnTo>
                <a:cubicBezTo>
                  <a:pt x="77513" y="38639"/>
                  <a:pt x="78769" y="40444"/>
                  <a:pt x="79692" y="42333"/>
                </a:cubicBezTo>
                <a:lnTo>
                  <a:pt x="79692" y="42333"/>
                </a:lnTo>
                <a:cubicBezTo>
                  <a:pt x="80615" y="44167"/>
                  <a:pt x="81077" y="46528"/>
                  <a:pt x="81077" y="49417"/>
                </a:cubicBezTo>
                <a:lnTo>
                  <a:pt x="81077" y="49417"/>
                </a:lnTo>
                <a:cubicBezTo>
                  <a:pt x="80974" y="56306"/>
                  <a:pt x="79872" y="61389"/>
                  <a:pt x="77769" y="64667"/>
                </a:cubicBezTo>
                <a:lnTo>
                  <a:pt x="77769" y="64667"/>
                </a:lnTo>
                <a:cubicBezTo>
                  <a:pt x="75513" y="67833"/>
                  <a:pt x="72667" y="69972"/>
                  <a:pt x="69231" y="71083"/>
                </a:cubicBezTo>
                <a:lnTo>
                  <a:pt x="69231" y="71083"/>
                </a:lnTo>
                <a:cubicBezTo>
                  <a:pt x="65795" y="72250"/>
                  <a:pt x="62154" y="72972"/>
                  <a:pt x="58308" y="73250"/>
                </a:cubicBezTo>
                <a:lnTo>
                  <a:pt x="58308" y="73250"/>
                </a:lnTo>
                <a:cubicBezTo>
                  <a:pt x="60410" y="74861"/>
                  <a:pt x="61538" y="78167"/>
                  <a:pt x="61692" y="83167"/>
                </a:cubicBezTo>
                <a:lnTo>
                  <a:pt x="61692" y="83167"/>
                </a:lnTo>
                <a:cubicBezTo>
                  <a:pt x="61692" y="88444"/>
                  <a:pt x="61692" y="93167"/>
                  <a:pt x="61692" y="97333"/>
                </a:cubicBezTo>
                <a:lnTo>
                  <a:pt x="61692" y="97333"/>
                </a:lnTo>
                <a:cubicBezTo>
                  <a:pt x="61692" y="99167"/>
                  <a:pt x="61692" y="100444"/>
                  <a:pt x="61692" y="101167"/>
                </a:cubicBezTo>
                <a:lnTo>
                  <a:pt x="61692" y="101167"/>
                </a:lnTo>
                <a:cubicBezTo>
                  <a:pt x="61538" y="103056"/>
                  <a:pt x="62667" y="103917"/>
                  <a:pt x="65077" y="103750"/>
                </a:cubicBezTo>
                <a:lnTo>
                  <a:pt x="65077" y="103750"/>
                </a:lnTo>
                <a:cubicBezTo>
                  <a:pt x="75128" y="100028"/>
                  <a:pt x="83179" y="93583"/>
                  <a:pt x="89231" y="84417"/>
                </a:cubicBezTo>
                <a:lnTo>
                  <a:pt x="89231" y="84417"/>
                </a:lnTo>
                <a:cubicBezTo>
                  <a:pt x="95179" y="75250"/>
                  <a:pt x="98231" y="64583"/>
                  <a:pt x="98385" y="52417"/>
                </a:cubicBezTo>
                <a:lnTo>
                  <a:pt x="98385" y="52417"/>
                </a:lnTo>
                <a:cubicBezTo>
                  <a:pt x="98231" y="42417"/>
                  <a:pt x="95974" y="33472"/>
                  <a:pt x="91615" y="25583"/>
                </a:cubicBezTo>
                <a:lnTo>
                  <a:pt x="91615" y="25583"/>
                </a:lnTo>
                <a:cubicBezTo>
                  <a:pt x="87103" y="17694"/>
                  <a:pt x="81154" y="11472"/>
                  <a:pt x="73769" y="6917"/>
                </a:cubicBezTo>
                <a:lnTo>
                  <a:pt x="73769" y="6917"/>
                </a:lnTo>
                <a:cubicBezTo>
                  <a:pt x="66231" y="2472"/>
                  <a:pt x="57846" y="167"/>
                  <a:pt x="48615" y="0"/>
                </a:cubicBezTo>
                <a:lnTo>
                  <a:pt x="48615" y="0"/>
                </a:lnTo>
                <a:moveTo>
                  <a:pt x="19231" y="74083"/>
                </a:moveTo>
                <a:lnTo>
                  <a:pt x="19231" y="74083"/>
                </a:lnTo>
                <a:cubicBezTo>
                  <a:pt x="18974" y="74417"/>
                  <a:pt x="19051" y="74778"/>
                  <a:pt x="19462" y="75167"/>
                </a:cubicBezTo>
                <a:lnTo>
                  <a:pt x="19462" y="75167"/>
                </a:lnTo>
                <a:cubicBezTo>
                  <a:pt x="19821" y="75611"/>
                  <a:pt x="20154" y="75694"/>
                  <a:pt x="20462" y="75417"/>
                </a:cubicBezTo>
                <a:lnTo>
                  <a:pt x="20462" y="75417"/>
                </a:lnTo>
                <a:cubicBezTo>
                  <a:pt x="20718" y="75139"/>
                  <a:pt x="20641" y="74778"/>
                  <a:pt x="20231" y="74333"/>
                </a:cubicBezTo>
                <a:lnTo>
                  <a:pt x="20231" y="74333"/>
                </a:lnTo>
                <a:cubicBezTo>
                  <a:pt x="19974" y="73889"/>
                  <a:pt x="19641" y="73806"/>
                  <a:pt x="19231" y="74083"/>
                </a:cubicBezTo>
                <a:lnTo>
                  <a:pt x="19231" y="74083"/>
                </a:lnTo>
                <a:moveTo>
                  <a:pt x="17077" y="72417"/>
                </a:moveTo>
                <a:lnTo>
                  <a:pt x="17077" y="72417"/>
                </a:lnTo>
                <a:cubicBezTo>
                  <a:pt x="17077" y="72694"/>
                  <a:pt x="17256" y="72972"/>
                  <a:pt x="17615" y="73250"/>
                </a:cubicBezTo>
                <a:lnTo>
                  <a:pt x="17615" y="73250"/>
                </a:lnTo>
                <a:cubicBezTo>
                  <a:pt x="18026" y="73417"/>
                  <a:pt x="18308" y="73361"/>
                  <a:pt x="18462" y="73083"/>
                </a:cubicBezTo>
                <a:lnTo>
                  <a:pt x="18462" y="73083"/>
                </a:lnTo>
                <a:cubicBezTo>
                  <a:pt x="18564" y="72750"/>
                  <a:pt x="18436" y="72444"/>
                  <a:pt x="18077" y="72167"/>
                </a:cubicBezTo>
                <a:lnTo>
                  <a:pt x="18077" y="72167"/>
                </a:lnTo>
                <a:cubicBezTo>
                  <a:pt x="17667" y="72056"/>
                  <a:pt x="17333" y="72139"/>
                  <a:pt x="17077" y="72417"/>
                </a:cubicBezTo>
                <a:lnTo>
                  <a:pt x="17077" y="72417"/>
                </a:lnTo>
                <a:moveTo>
                  <a:pt x="23615" y="79917"/>
                </a:moveTo>
                <a:lnTo>
                  <a:pt x="23615" y="79917"/>
                </a:lnTo>
                <a:cubicBezTo>
                  <a:pt x="23359" y="80361"/>
                  <a:pt x="23410" y="80861"/>
                  <a:pt x="23769" y="81417"/>
                </a:cubicBezTo>
                <a:lnTo>
                  <a:pt x="23769" y="81417"/>
                </a:lnTo>
                <a:cubicBezTo>
                  <a:pt x="24333" y="81861"/>
                  <a:pt x="24795" y="81944"/>
                  <a:pt x="25154" y="81667"/>
                </a:cubicBezTo>
                <a:lnTo>
                  <a:pt x="25154" y="81667"/>
                </a:lnTo>
                <a:cubicBezTo>
                  <a:pt x="25308" y="81222"/>
                  <a:pt x="25179" y="80722"/>
                  <a:pt x="24769" y="80167"/>
                </a:cubicBezTo>
                <a:lnTo>
                  <a:pt x="24769" y="80167"/>
                </a:lnTo>
                <a:cubicBezTo>
                  <a:pt x="24256" y="79722"/>
                  <a:pt x="23872" y="79639"/>
                  <a:pt x="23615" y="79917"/>
                </a:cubicBezTo>
                <a:lnTo>
                  <a:pt x="23615" y="79917"/>
                </a:lnTo>
                <a:moveTo>
                  <a:pt x="21231" y="76917"/>
                </a:moveTo>
                <a:lnTo>
                  <a:pt x="21231" y="76917"/>
                </a:lnTo>
                <a:cubicBezTo>
                  <a:pt x="20974" y="77194"/>
                  <a:pt x="20974" y="77611"/>
                  <a:pt x="21231" y="78167"/>
                </a:cubicBezTo>
                <a:lnTo>
                  <a:pt x="21231" y="78167"/>
                </a:lnTo>
                <a:cubicBezTo>
                  <a:pt x="21641" y="78611"/>
                  <a:pt x="22026" y="78778"/>
                  <a:pt x="22385" y="78667"/>
                </a:cubicBezTo>
                <a:lnTo>
                  <a:pt x="22385" y="78667"/>
                </a:lnTo>
                <a:cubicBezTo>
                  <a:pt x="22641" y="78333"/>
                  <a:pt x="22641" y="77889"/>
                  <a:pt x="22385" y="77333"/>
                </a:cubicBezTo>
                <a:lnTo>
                  <a:pt x="22385" y="77333"/>
                </a:lnTo>
                <a:cubicBezTo>
                  <a:pt x="22026" y="76778"/>
                  <a:pt x="21641" y="76639"/>
                  <a:pt x="21231" y="76917"/>
                </a:cubicBezTo>
                <a:lnTo>
                  <a:pt x="21231" y="76917"/>
                </a:lnTo>
              </a:path>
            </a:pathLst>
          </a:cu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489363495-18"/>
          <p:cNvSpPr/>
          <p:nvPr/>
        </p:nvSpPr>
        <p:spPr>
          <a:xfrm>
            <a:off x="4054078" y="422091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1783" y="68778"/>
                </a:moveTo>
                <a:lnTo>
                  <a:pt x="31783" y="68778"/>
                </a:lnTo>
                <a:cubicBezTo>
                  <a:pt x="40768" y="68481"/>
                  <a:pt x="48261" y="65093"/>
                  <a:pt x="54261" y="58611"/>
                </a:cubicBezTo>
                <a:lnTo>
                  <a:pt x="54261" y="58611"/>
                </a:lnTo>
                <a:lnTo>
                  <a:pt x="54261" y="58611"/>
                </a:lnTo>
                <a:cubicBezTo>
                  <a:pt x="60261" y="52204"/>
                  <a:pt x="63377" y="44130"/>
                  <a:pt x="63609" y="34389"/>
                </a:cubicBezTo>
                <a:lnTo>
                  <a:pt x="63609" y="34389"/>
                </a:lnTo>
                <a:cubicBezTo>
                  <a:pt x="63377" y="24611"/>
                  <a:pt x="60261" y="16537"/>
                  <a:pt x="54261" y="10167"/>
                </a:cubicBezTo>
                <a:lnTo>
                  <a:pt x="54261" y="10167"/>
                </a:lnTo>
                <a:cubicBezTo>
                  <a:pt x="48261" y="3648"/>
                  <a:pt x="40768" y="259"/>
                  <a:pt x="31783" y="0"/>
                </a:cubicBezTo>
                <a:lnTo>
                  <a:pt x="31783" y="0"/>
                </a:lnTo>
                <a:cubicBezTo>
                  <a:pt x="22826" y="259"/>
                  <a:pt x="15333" y="3648"/>
                  <a:pt x="9304" y="10167"/>
                </a:cubicBezTo>
                <a:lnTo>
                  <a:pt x="9304" y="10167"/>
                </a:lnTo>
                <a:cubicBezTo>
                  <a:pt x="3304" y="16537"/>
                  <a:pt x="203" y="24611"/>
                  <a:pt x="0" y="34389"/>
                </a:cubicBezTo>
                <a:lnTo>
                  <a:pt x="0" y="34389"/>
                </a:lnTo>
                <a:cubicBezTo>
                  <a:pt x="116" y="42056"/>
                  <a:pt x="2159" y="48759"/>
                  <a:pt x="6130" y="54500"/>
                </a:cubicBezTo>
                <a:lnTo>
                  <a:pt x="6130" y="54500"/>
                </a:lnTo>
                <a:cubicBezTo>
                  <a:pt x="5522" y="56463"/>
                  <a:pt x="4754" y="58093"/>
                  <a:pt x="3826" y="59389"/>
                </a:cubicBezTo>
                <a:lnTo>
                  <a:pt x="3826" y="59389"/>
                </a:lnTo>
                <a:cubicBezTo>
                  <a:pt x="3101" y="60537"/>
                  <a:pt x="2435" y="61444"/>
                  <a:pt x="1826" y="62111"/>
                </a:cubicBezTo>
                <a:lnTo>
                  <a:pt x="1826" y="62111"/>
                </a:lnTo>
                <a:cubicBezTo>
                  <a:pt x="1536" y="62519"/>
                  <a:pt x="1333" y="62778"/>
                  <a:pt x="1217" y="62889"/>
                </a:cubicBezTo>
                <a:lnTo>
                  <a:pt x="1217" y="62889"/>
                </a:lnTo>
                <a:cubicBezTo>
                  <a:pt x="1130" y="63037"/>
                  <a:pt x="1087" y="63111"/>
                  <a:pt x="1087" y="63111"/>
                </a:cubicBezTo>
                <a:lnTo>
                  <a:pt x="1087" y="63111"/>
                </a:lnTo>
                <a:lnTo>
                  <a:pt x="913" y="63111"/>
                </a:lnTo>
                <a:lnTo>
                  <a:pt x="913" y="63111"/>
                </a:lnTo>
                <a:lnTo>
                  <a:pt x="913" y="63111"/>
                </a:lnTo>
                <a:cubicBezTo>
                  <a:pt x="101" y="64000"/>
                  <a:pt x="-145" y="65167"/>
                  <a:pt x="174" y="66611"/>
                </a:cubicBezTo>
                <a:lnTo>
                  <a:pt x="174" y="66611"/>
                </a:lnTo>
                <a:cubicBezTo>
                  <a:pt x="580" y="67907"/>
                  <a:pt x="1333" y="68630"/>
                  <a:pt x="2435" y="68778"/>
                </a:cubicBezTo>
                <a:lnTo>
                  <a:pt x="2435" y="68778"/>
                </a:lnTo>
                <a:cubicBezTo>
                  <a:pt x="5913" y="68630"/>
                  <a:pt x="9072" y="67833"/>
                  <a:pt x="11913" y="66389"/>
                </a:cubicBezTo>
                <a:lnTo>
                  <a:pt x="11913" y="66389"/>
                </a:lnTo>
                <a:cubicBezTo>
                  <a:pt x="13333" y="65611"/>
                  <a:pt x="14609" y="64833"/>
                  <a:pt x="15739" y="64056"/>
                </a:cubicBezTo>
                <a:lnTo>
                  <a:pt x="15739" y="64056"/>
                </a:lnTo>
                <a:cubicBezTo>
                  <a:pt x="20522" y="67056"/>
                  <a:pt x="25870" y="68630"/>
                  <a:pt x="31783" y="68778"/>
                </a:cubicBezTo>
                <a:lnTo>
                  <a:pt x="31783" y="68778"/>
                </a:lnTo>
                <a:moveTo>
                  <a:pt x="68478" y="34389"/>
                </a:moveTo>
                <a:lnTo>
                  <a:pt x="68478" y="34389"/>
                </a:lnTo>
                <a:cubicBezTo>
                  <a:pt x="68159" y="45574"/>
                  <a:pt x="64899" y="54815"/>
                  <a:pt x="58696" y="62111"/>
                </a:cubicBezTo>
                <a:lnTo>
                  <a:pt x="58696" y="62111"/>
                </a:lnTo>
                <a:lnTo>
                  <a:pt x="58696" y="62111"/>
                </a:lnTo>
                <a:cubicBezTo>
                  <a:pt x="52377" y="69407"/>
                  <a:pt x="44638" y="73630"/>
                  <a:pt x="35478" y="74778"/>
                </a:cubicBezTo>
                <a:lnTo>
                  <a:pt x="35478" y="74778"/>
                </a:lnTo>
                <a:cubicBezTo>
                  <a:pt x="37391" y="82222"/>
                  <a:pt x="41101" y="88222"/>
                  <a:pt x="46609" y="92778"/>
                </a:cubicBezTo>
                <a:lnTo>
                  <a:pt x="46609" y="92778"/>
                </a:lnTo>
                <a:cubicBezTo>
                  <a:pt x="52116" y="97444"/>
                  <a:pt x="58594" y="99852"/>
                  <a:pt x="66043" y="100000"/>
                </a:cubicBezTo>
                <a:lnTo>
                  <a:pt x="66043" y="100000"/>
                </a:lnTo>
                <a:cubicBezTo>
                  <a:pt x="71957" y="99852"/>
                  <a:pt x="77304" y="98296"/>
                  <a:pt x="82087" y="95333"/>
                </a:cubicBezTo>
                <a:lnTo>
                  <a:pt x="82087" y="95333"/>
                </a:lnTo>
                <a:cubicBezTo>
                  <a:pt x="83217" y="96111"/>
                  <a:pt x="84493" y="96889"/>
                  <a:pt x="85913" y="97667"/>
                </a:cubicBezTo>
                <a:lnTo>
                  <a:pt x="85913" y="97667"/>
                </a:lnTo>
                <a:cubicBezTo>
                  <a:pt x="88754" y="99074"/>
                  <a:pt x="91913" y="99852"/>
                  <a:pt x="95391" y="100000"/>
                </a:cubicBezTo>
                <a:lnTo>
                  <a:pt x="95391" y="100000"/>
                </a:lnTo>
                <a:cubicBezTo>
                  <a:pt x="96493" y="99852"/>
                  <a:pt x="97246" y="99130"/>
                  <a:pt x="97652" y="97833"/>
                </a:cubicBezTo>
                <a:lnTo>
                  <a:pt x="97652" y="97833"/>
                </a:lnTo>
                <a:cubicBezTo>
                  <a:pt x="97971" y="96426"/>
                  <a:pt x="97667" y="95259"/>
                  <a:pt x="96739" y="94333"/>
                </a:cubicBezTo>
                <a:lnTo>
                  <a:pt x="96739" y="94333"/>
                </a:lnTo>
                <a:lnTo>
                  <a:pt x="96739" y="94333"/>
                </a:lnTo>
                <a:lnTo>
                  <a:pt x="96739" y="94333"/>
                </a:lnTo>
                <a:lnTo>
                  <a:pt x="96739" y="94333"/>
                </a:lnTo>
                <a:cubicBezTo>
                  <a:pt x="96739" y="94333"/>
                  <a:pt x="96739" y="94278"/>
                  <a:pt x="96739" y="94167"/>
                </a:cubicBezTo>
                <a:lnTo>
                  <a:pt x="96739" y="94167"/>
                </a:lnTo>
                <a:cubicBezTo>
                  <a:pt x="96652" y="94167"/>
                  <a:pt x="96609" y="94167"/>
                  <a:pt x="96609" y="94167"/>
                </a:cubicBezTo>
                <a:lnTo>
                  <a:pt x="96609" y="94167"/>
                </a:lnTo>
                <a:cubicBezTo>
                  <a:pt x="96493" y="94019"/>
                  <a:pt x="96290" y="93741"/>
                  <a:pt x="96000" y="93333"/>
                </a:cubicBezTo>
                <a:lnTo>
                  <a:pt x="96000" y="93333"/>
                </a:lnTo>
                <a:cubicBezTo>
                  <a:pt x="95391" y="92704"/>
                  <a:pt x="94725" y="91796"/>
                  <a:pt x="94000" y="90611"/>
                </a:cubicBezTo>
                <a:lnTo>
                  <a:pt x="94000" y="90611"/>
                </a:lnTo>
                <a:cubicBezTo>
                  <a:pt x="93072" y="89204"/>
                  <a:pt x="92304" y="87574"/>
                  <a:pt x="91696" y="85722"/>
                </a:cubicBezTo>
                <a:lnTo>
                  <a:pt x="91696" y="85722"/>
                </a:lnTo>
                <a:cubicBezTo>
                  <a:pt x="95667" y="80019"/>
                  <a:pt x="97710" y="73315"/>
                  <a:pt x="97826" y="65611"/>
                </a:cubicBezTo>
                <a:lnTo>
                  <a:pt x="97826" y="65611"/>
                </a:lnTo>
                <a:cubicBezTo>
                  <a:pt x="97623" y="56389"/>
                  <a:pt x="94768" y="48574"/>
                  <a:pt x="89261" y="42167"/>
                </a:cubicBezTo>
                <a:lnTo>
                  <a:pt x="89261" y="42167"/>
                </a:lnTo>
                <a:cubicBezTo>
                  <a:pt x="83754" y="35796"/>
                  <a:pt x="76768" y="32167"/>
                  <a:pt x="68304" y="31278"/>
                </a:cubicBezTo>
                <a:lnTo>
                  <a:pt x="68304" y="31278"/>
                </a:lnTo>
                <a:cubicBezTo>
                  <a:pt x="68420" y="32315"/>
                  <a:pt x="68478" y="33352"/>
                  <a:pt x="68478" y="34389"/>
                </a:cubicBezTo>
                <a:lnTo>
                  <a:pt x="68478" y="34389"/>
                </a:lnTo>
              </a:path>
            </a:pathLst>
          </a:custGeom>
          <a:solidFill>
            <a:srgbClr val="4A7C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489363420-6"/>
          <p:cNvSpPr txBox="1"/>
          <p:nvPr/>
        </p:nvSpPr>
        <p:spPr>
          <a:xfrm>
            <a:off x="3914775" y="875854"/>
            <a:ext cx="1314450" cy="6429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3370" b="1" spc="113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致谢</a:t>
            </a:r>
            <a:endParaRPr sz="3370" b="1" spc="113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l-1785489363420-7"/>
          <p:cNvSpPr txBox="1"/>
          <p:nvPr/>
        </p:nvSpPr>
        <p:spPr>
          <a:xfrm>
            <a:off x="3337560" y="1841599"/>
            <a:ext cx="2468880" cy="2315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1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感谢各位评审专家与老师的指导！</a:t>
            </a:r>
            <a:endParaRPr sz="1210">
              <a:solidFill>
                <a:srgbClr val="3741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l-1785489363463-13"/>
          <p:cNvSpPr txBox="1"/>
          <p:nvPr/>
        </p:nvSpPr>
        <p:spPr>
          <a:xfrm>
            <a:off x="4437683" y="2546003"/>
            <a:ext cx="51435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黄奕皓</a:t>
            </a:r>
            <a:endParaRPr sz="101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l-1785489363463-14"/>
          <p:cNvSpPr txBox="1"/>
          <p:nvPr/>
        </p:nvSpPr>
        <p:spPr>
          <a:xfrm>
            <a:off x="4180508" y="2810322"/>
            <a:ext cx="102870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中国科学院大学</a:t>
            </a:r>
            <a:endParaRPr sz="101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l-1785489363464-15"/>
          <p:cNvSpPr txBox="1"/>
          <p:nvPr/>
        </p:nvSpPr>
        <p:spPr>
          <a:xfrm>
            <a:off x="4215780" y="3074640"/>
            <a:ext cx="95808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18384548243</a:t>
            </a:r>
            <a:endParaRPr sz="101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l-1785489363464-16"/>
          <p:cNvSpPr txBox="1"/>
          <p:nvPr/>
        </p:nvSpPr>
        <p:spPr>
          <a:xfrm>
            <a:off x="3643238" y="3338959"/>
            <a:ext cx="210323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huangyihao24@mails.ucas.ac.cn</a:t>
            </a:r>
            <a:endParaRPr sz="1010">
              <a:solidFill>
                <a:srgbClr val="2C2C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l-1785489363465-17"/>
          <p:cNvSpPr txBox="1"/>
          <p:nvPr/>
        </p:nvSpPr>
        <p:spPr>
          <a:xfrm>
            <a:off x="4373389" y="3603278"/>
            <a:ext cx="64293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>
                <a:solidFill>
                  <a:srgbClr val="4A7C9B"/>
                </a:solidFill>
                <a:latin typeface="微软雅黑"/>
                <a:ea typeface="微软雅黑"/>
                <a:cs typeface="微软雅黑"/>
                <a:hlinkClick r:id="rId1"/>
              </a:rPr>
              <a:t>项目开源</a:t>
            </a:r>
            <a:endParaRPr sz="1010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l-1785489363419-5"/>
          <p:cNvSpPr txBox="1"/>
          <p:nvPr/>
        </p:nvSpPr>
        <p:spPr>
          <a:xfrm>
            <a:off x="3954066" y="4173289"/>
            <a:ext cx="1235869" cy="2571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314325" algn="ctr">
              <a:lnSpc>
                <a:spcPct val="100000"/>
              </a:lnSpc>
            </a:pPr>
            <a:r>
              <a:rPr sz="1350" b="1" spc="225">
                <a:solidFill>
                  <a:srgbClr val="4A7C9B"/>
                </a:solidFill>
                <a:latin typeface="微软雅黑"/>
                <a:ea typeface="微软雅黑"/>
                <a:cs typeface="微软雅黑"/>
              </a:rPr>
              <a:t>Q &amp; A</a:t>
            </a:r>
            <a:endParaRPr sz="1350" b="1" spc="225">
              <a:solidFill>
                <a:srgbClr val="4A7C9B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8005</Words>
  <Application>WPS Office WWO_wpscloud_20260722184703-0e67e39500</Application>
  <PresentationFormat/>
  <Paragraphs>1045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汉仪旗黑KW 55S</vt:lpstr>
      <vt:lpstr>微软雅黑</vt:lpstr>
      <vt:lpstr>Courier New</vt:lpstr>
      <vt:lpstr>Times New Roman</vt:lpstr>
      <vt:lpstr>Consolas</vt:lpstr>
      <vt:lpstr>汉仪书宋二KW</vt:lpstr>
      <vt:lpstr>Kingsoft Confetti</vt:lpstr>
      <vt:lpstr>MS PGothic</vt:lpstr>
      <vt:lpstr>Noto Sans Mono CJK JP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html-to-pptx-demo</cp:lastModifiedBy>
  <dcterms:created xsi:type="dcterms:W3CDTF">2026-07-31T10:04:17Z</dcterms:created>
  <dcterms:modified xsi:type="dcterms:W3CDTF">2026-07-31T10:04:17Z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5F90A343AABAAEADBD6B6C6A5A1B0BF5_42</vt:lpwstr>
  </property>
  <property fmtid="{D5CDD505-2E9C-101B-9397-08002B2CF9AE}" pid="3" name="KSOProductBuildVer">
    <vt:lpwstr>2052-12.9.0.28068</vt:lpwstr>
  </property>
</Properties>
</file>